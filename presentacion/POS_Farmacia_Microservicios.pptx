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5" d="100"/>
          <a:sy n="95" d="100"/>
        </p:scale>
        <p:origin x="1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pPr>
              <a:defRPr sz="1400" b="0" i="0" u="none" strike="noStrike">
                <a:solidFill>
                  <a:srgbClr val="1F2933"/>
                </a:solidFill>
                <a:latin typeface="Calibri"/>
              </a:defRPr>
            </a:pPr>
            <a:r>
              <a:rPr sz="1400" b="0" i="0" u="none" strike="noStrike">
                <a:solidFill>
                  <a:srgbClr val="1F2933"/>
                </a:solidFill>
                <a:latin typeface="Calibri"/>
              </a:rPr>
              <a:t>Horas caído al mes, si cada servicio está al 99.9 %</a:t>
            </a:r>
          </a:p>
        </c:rich>
      </c:tx>
      <c:overlay val="0"/>
    </c:title>
    <c:autoTitleDeleted val="0"/>
    <c:plotArea>
      <c:layout/>
      <c:barChart>
        <c:barDir val="col"/>
        <c:grouping val="clustered"/>
        <c:varyColors val="0"/>
        <c:ser>
          <c:idx val="0"/>
          <c:order val="0"/>
          <c:tx>
            <c:strRef>
              <c:f>Sheet1!$B$1</c:f>
              <c:strCache>
                <c:ptCount val="1"/>
                <c:pt idx="0">
                  <c:v>Horas caído al mes</c:v>
                </c:pt>
              </c:strCache>
            </c:strRef>
          </c:tx>
          <c:spPr>
            <a:solidFill>
              <a:srgbClr val="B83A0E"/>
            </a:solidFill>
            <a:effectLst/>
          </c:spPr>
          <c:invertIfNegative val="0"/>
          <c:dLbls>
            <c:numFmt formatCode="0.0&quot; h&quot;" sourceLinked="0"/>
            <c:spPr>
              <a:noFill/>
              <a:ln>
                <a:noFill/>
              </a:ln>
              <a:effectLst/>
            </c:spPr>
            <c:txPr>
              <a:bodyPr/>
              <a:lstStyle/>
              <a:p>
                <a:pPr>
                  <a:defRPr sz="1300" b="0" i="0" u="none" strike="noStrike">
                    <a:solidFill>
                      <a:srgbClr val="1F2933"/>
                    </a:solidFill>
                    <a:latin typeface="Arial"/>
                  </a:defRPr>
                </a:pPr>
                <a:endParaRPr lang="es-MX"/>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1 servicio</c:v>
                </c:pt>
                <c:pt idx="1">
                  <c:v>3 en cadena</c:v>
                </c:pt>
                <c:pt idx="2">
                  <c:v>9 en cadena</c:v>
                </c:pt>
              </c:strCache>
            </c:strRef>
          </c:cat>
          <c:val>
            <c:numRef>
              <c:f>Sheet1!$B$2:$B$4</c:f>
              <c:numCache>
                <c:formatCode>General</c:formatCode>
                <c:ptCount val="3"/>
                <c:pt idx="0">
                  <c:v>0.72</c:v>
                </c:pt>
                <c:pt idx="1">
                  <c:v>2.2000000000000002</c:v>
                </c:pt>
                <c:pt idx="2">
                  <c:v>6.5</c:v>
                </c:pt>
              </c:numCache>
            </c:numRef>
          </c:val>
          <c:extLst>
            <c:ext xmlns:c16="http://schemas.microsoft.com/office/drawing/2014/chart" uri="{C3380CC4-5D6E-409C-BE32-E72D297353CC}">
              <c16:uniqueId val="{00000000-AB91-4FFA-91F6-755D6E6CF2C1}"/>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5B6670"/>
                </a:solidFill>
                <a:latin typeface="Arial"/>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910623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Juan abre. Preséntense en una frase cada uno y digan cómo se reparten: Juan cuenta por qué el sistema quedó así, Javier cuenta cómo funciona por dentro y cómo lo probamos. Di los tres números y pasa: las reglas de negocio no cambiaron, cambió dónde vive cada cosa.
PARA EXPLAYARTE (DATOS TÉCNICOS)
- Stack: Java 17, Spring Boot 4.1.0, Spring Cloud 2025.1.2, PostgreSQL, Kafka, Redis, Resilience4j, Flyway, ArchUnit, Docker Compose y manifiestos de Kubernetes.
- Nueve microservicios (identidad, catálogo, inventario, ventas, clientes, promociones, crédito, facturación, reportes) más un api-gateway.
- Viene de arquitecttura_2_t5: el mismo sistema como monolito Clean Architecture con siete módulos Maven.
SI PREGUNTAN
- ¿Por qué nueve y no cuatro o quince? Lo responde la lámina 4.</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Muestra el diagrama de nuestro trabajo anterior. Señala la columna del centro, un solo backend, y la caja de PostgreSQL a la derecha, una sola base. El proyecto funcionaba y estaba bien hecho: ya tenía Clean Architecture y Kafka. El problema no era el código, era que todo compartía la misma base.
PARA EXPLAYARTE (DATOS TÉCNICOS)
- El síntoma concreto: un reporte gerencial que escanea tres meses de ventas consume disco (IO) en la misma base donde las cajas escriben cada venta.
- Escalar el monolito significa copiar todo junto: no se puede dar más recursos solo al catálogo, que es lo más leído.
- Un error en cualquier módulo (por ejemplo, el cliente de SUNAT colgado) comparte pool de conexiones e hilos con el cobro.
SI PREGUNTAN
- ¿El monolito estaba mal? No. Para 20 locales es la respuesta correcta. Para 500 locales se queda corto.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Estos números son el contrato de toda la exposición. Si alguien dice que esto es sobreingeniería, la respuesta es: para 20 locales sí, para 500 no.
PARA EXPLAYARTE (DATOS TÉCNICOS)
- p99 significa que 99 de cada 100 peticiones responden por debajo de ese tiempo. Se usa p99 y no el promedio porque el promedio esconde a los clientes que esperaron mucho.
- 200 ventas por segundo sale de 1500 cajas por 2 ventas por minuto, dividido entre 60, más margen para la hora punta.
- 99.9 % de disponibilidad son 43 minutos de caída al mes como máximo. Por eso la lámina 6 importa: cada servicio en cadena resta.
- Estos objetivos están escritos en CLAUDE.md y docs/DECISIONES.md; las decisiones técnicas se justifican contra ellos.
SI PREGUNTAN
- ¿Lo midieron con una prueba de carga? No todavía: es el primer pendiente. Lo que sí se probó es que nada se pierde cuando algo se cae (lámina 15).</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La lámina más importante del bloque. Primero propusimos cuatro servicios y no nos arrepentimos: cambió la pregunta. Da los tres ejemplos y cierra con la fila de abajo: más servicios no es mejor, hay un punto donde se vuelve peor.
PARA EXPLAYARTE (DATOS TÉCNICOS)
- Cohesión transaccional: lo que tiene que cambiar en la misma transacción va en el mismo servicio. Por eso venta, detalle y pago están juntos en ms-ventas.
- Un salto es una llamada de red síncrona en el camino de la venta. Vender hoy pasa por gateway, ventas y la dependencia que toque: 3 saltos.
- Con 15 servicios cada venta tocaría 6 a 8 servicios en cadena, y la lámina 6 muestra lo que eso cuesta en disponibilidad.
- El corte más discutible es promociones: es poca lógica para un servicio propio. Admítelo antes de que lo pregunten.
SI PREGUNTAN
- ¿Por qué no separar clientes y crédito en uno? Crédito mueve dinero y tiene su propio libro de movimientos; clientes es un padrón. Cambian por razones distintas.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Antes de mostrar el mapa, presenta a los actores. Arriba a la izquierda, los nueve servicios de negocio: cada uno es dueño de una parte del negocio y de su propia base. A la derecha, la infraestructura: piezas indispensables que no tienen reglas de negocio. El gateway es un servicio, corre como proceso propio, pero es de infraestructura, no de negocio. Por eso la cuenta de procesos da diez.
PARA EXPLAYARTE (DATOS TÉCNICOS)
- Qué hace que algo sea un servicio de negocio aquí: es dueño de un contexto del negocio, tiene su propia base (pg_ventas, pg_inventario, etc.) y lleva el prefijo ms-.
- El gateway es Spring Cloud Gateway (services/api-gateway). No tiene base: solo usa Redis para el límite de peticiones. Es el único puerto expuesto a las cajas, el 8095 en local.
- Tablas reales por servicio, de las migraciones de Flyway: identidad (usuarios, roles, locales, cajas, sesiones_caja), catálogo (productos, categorías, laboratorios, presentaciones), inventario (stock_local, lotes, reservas, asignaciones_lote), ventas (ventas, detalles_venta, pagos, saga_venta), clientes (clientes, convenios_seguro, recetas), promociones (promociones, promocion_condiciones), crédito (lineas_credito, movimientos_credito, reservas_credito), facturación (comprobantes, envios_sunat, notas_credito), reportes (rm_ventas, rm_ventas_diarias).
- Además, cada servicio que publica tiene su tabla outbox y cada servicio que consume tiene evento_procesado.
- plataforma y contracts no son servicios: son librerías Maven que comparten los nueve. plataforma solo lleva infraestructura (outbox, idempotencia, clientes HTTP); contracts solo lleva contratos (eventos, tópicos, DTO). Ninguna tiene reglas de negocio.
- Kafka UI y el stack de observabilidad (OTel Collector, Prometheus, Grafana, Tempo, Loki) van en perfiles aparte de Docker Compose para no gastar RAM cuando no se usan.
SI PREGUNTAN
- ¿El gateway es un microservicio? Es un servicio de infraestructura. Microservicio de negocio no, porque no es dueño de ningún dato ni regla del negocio.
- ¿Por qué inventario, catálogo y ventas tienen borde rojo? Si cualquiera de los tres se cae, la caja no puede vender: sin ventas no hay quién cobre, sin stock no se aparta, sin precio no se cotiza.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Recorre el mapa siguiendo una venta, no servicio por servicio. La caja entra por el gateway y llega a ventas. Ventas pregunta a cinco servicios mientras el cliente espera. Lo demás se entera por Kafka cuando ya se cobró. Señala los tres bordes rojos: ventas, inventario y catálogo pueden impedir una venta.
PARA EXPLAYARTE (DATOS TÉCNICOS)
- La tarjeta de abajo a la izquierda lista los nueve servicios de negocio. El gateway es un servicio de infraestructura y Kafka es el correo entre servicios: no cuentan entre los nueve.
- Cada llamada síncrona tiene timeout y circuit breaker propios, escritos en ClientesDeServicios.java.
- Catálogo es rojo porque sin precio no se cotiza. El caché de precios (Caffeine, 60 s) vive dentro de ms-catalogo: protege su base, pero no protege a la caja si el servicio entero se cae.
- Identidad firma el JWT con RS256 y publica la llave pública (JWKS). El gateway valida sin llamar a identidad en cada venta. Si identidad cae, no entra nadie nuevo, pero las sesiones abiertas siguen.
- El token de acceso dura 15 minutos y el de renovación 8 horas: un token robado sirve poco tiempo.
- Inventario también lee Kafka para asignar lotes. Crédito escucha, pero hoy no descuenta nada: ninguna venta lleva línea de crédito.
SI PREGUNTAN
- ¿Por qué RS256 y no HS256? Con clave compartida, cualquiera de los diez servicios podría emitir tokens. Con RSA solo identidad firma; los demás solo validan.
- ¿Por qué promociones es servicio aparte? Es el corte más discutible; se justificó por la frecuencia con que cambian las reglas comerciales.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La cuenta que casi nadie hace. Cada llamada en cadena se paga dos veces: en tiempo y en disponibilidad, porque las disponibilidades se multiplican, no se promedian. Con cinco saltos, lo que era tu p99 pasa a ser tu p95.
PARA EXPLAYARTE (DATOS TÉCNICOS)
- Cálculo: disponibilidad de la cadena = producto de cada una. 0.999 elevado a 3 = 0.997; elevado a 9 = 0.991. Un mes tiene unas 720 horas; 0.9 % de 720 son 6.5 horas.
- Lentitud: probabilidad de que al menos una de n llamadas sea lenta = 1 menos 0.99 elevado a n. Con n = 5 da 4.9 %.
- La pregunta de fondo: ¿más servicios aguantan más consultas? Solo si cada uno se lleva sus datos. Lo que más mueve la aguja es el caché de catálogo en memoria y la base aparte para reportes.
- Para no pagar saltos innecesarios: los datos que casi no cambian (nombre del local, del vendedor, categoría) se cachean 10 minutos en ms-ventas, y el nombre del vendedor sale del propio JWT.
SI PREGUNTAN
- ¿Los microservicios escalan solos? No. Escalan los datos repartidos y la caché. Repartir el código sin repartir los datos solo agrega saltos.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Las 35 tablas se repartieron en nueve bases. Lo que impresiona es que la regla la impone Postgres, no la buena voluntad del equipo: el usuario de inventario ni siquiera puede conectarse a la base de ventas. Cierra pasándole la palabra a Javier.
PARA EXPLAYARTE (DATOS TÉCNICOS)
- Sin GRANT cruzado: cada servicio tiene su usuario dueño de su base, y REVOKE CONNECT FROM PUBLIC impide que otro usuario entre.
- En desarrollo es un solo contenedor Postgres con nueve bases. En producción serían nueve instancias o nueve bases en un clúster administrado.
- El esquema lo manda Flyway, nunca Hibernate (ddl-auto: validate). Las migraciones son expand y contract: durante un despliegue conviven dos versiones del código.
- Ejemplo de copia por evento: ms-reportes nunca consulta pg_ventas; arma sus tablas (rm_ventas, rm_ventas_diarias) con los eventos de Kafka.
SI PREGUNTAN
- ¿Y la consistencia? Es eventual entre servicios: pasan unos segundos entre que se cobra y el reporte lo muestra. Dentro de cada servicio es transaccional.
- ¿Por qué no una base con esquemas separados? Porque un GRANT mal puesto rompe el aislamiento sin que nadie lo note. Con bases separadas, el motor lo impide.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Javier toma la palabra. Empieza por el dibujo: cuatro anillos, y las dependencias apuntan hacia el dominio. Luego el punto fuerte: esa regla no la vigila la revisión de código, la vigila una prueba. Si mañana alguien importa un cliente HTTP desde un caso de uso, el build falla antes de llegar a producción.
PARA EXPLAYARTE (DATOS TÉCNICOS)
- El archivo es ArquitecturaTest.java y existe en los nueve servicios. Tiene tres reglas: capas, dominio sin Spring ni JPA, y casos de uso sin adaptadores. 27 pruebas en total.
- Cómo ejecutarlo: ./mvnw test -Dtest=ArquitecturaTest -Dsurefire.failIfNoSpecifiedTests=false (los nueve servicios, unos 27 segundos). Solo ventas: agregar -pl services/ms-ventas -am (unos 8 segundos).
- Demo en vivo: crear en usecases/usecase una clase DemoViolacion con un campo de tipo ClientesDeServicios. La prueba falla con "Architecture Violation" y dice qué clase y qué campo rompen la regla. Al borrar el archivo, vuelve a verde.
- Fallan 2 de las 3 pruebas con un solo error, porque rompe dos reglas: la de capas y la de casos de uso sin adaptadores.
- Cinco servicios no tienen paquete domain (catálogo, clientes, crédito, facturación, reportes): son consulta y altas, sin reglas que modelar. El test usa withOptionalLayers para no obligarlos a inventar un dominio vacío.
SI PREGUNTAN
- ¿Por qué no módulos Maven como en el monolito? Serían 9 servicios por 7 módulos: 63 pom.xml para garantizar lo que una prueba de 20 líneas garantiza mejor.
- ¿Por qué no lo detecta el compilador? Para Java ese import es válido. La regla es de arquitectura, no del lenguaje.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Cuéntalo como lo vive el cajero. Mientras arma la venta todo es HTTP y Kafka no se entera de nada. Confirmar es una transacción local: guarda la venta y deja el aviso en una tabla, la outbox, sin llamar a nadie. Por eso responde en menos de 500 ms y por eso facturación caída no para la caja.
PARA EXPLAYARTE (DATOS TÉCNICOS)
- Paso 3 en detalle: venta CONFIRMADA, ficha de saga abierta y evento en la outbox, todo en una misma transacción de pg_ventas.
- Una venta deja tres mensajes en Kafka, en este orden: pos.ventas.confirmadas, pos.stock.lotes-asignados y pos.comprobantes.emitidos. El último tarda más porque espera a SUNAT.
- Los tópicos de ventas tienen 12 particiones y la clave es el local: las ventas de un local se procesan en orden y 12 locales avanzan en paralelo.
- Al revisar encontramos que dos tópicos se publican y nadie los lee: el cambio de precio y los movimientos de stock. Facturación tampoco escucha la anulación.
SI PREGUNTAN
- ¿Qué es la outbox? La bandeja de salida de ms-ventas: una tabla en pg_ventas donde se anota el aviso antes de mandarlo a Kafka. Lámina 11.
- ¿Por qué no mandar a Kafka directo al confirmar? Porque son dos sistemas: si Kafka falla después de guardar la venta, queda una venta sin aviso.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Cuenta los tres pasos: qué pasaría, por qué pasa y cómo lo evitamos. El truco es que la pregunta "¿alcanza?" y la resta van en la misma sentencia, así nadie se mete en medio.
PARA EXPLAYARTE (DATOS TÉCNICOS)
- El stock se aparta al escanear, con el cliente presente: es una reserva con 15 minutos de vida. Un proceso libera cada 30 s las reservas vencidas.
- Al confirmar no se vuelve a tocar el stock. Después, inventario convierte la reserva en salida y elige los lotes por FEFO (primero vence, primero sale).
- Es un solo viaje a la base: un UPDATE condicional y un INSERT de la reserva. Por eso cabe en los 500 ms.
- La reserva es idempotente: si la caja reintenta, se devuelve la misma reserva en vez de apartar el doble.
SI PREGUNTAN
- ¿Por qué no bloqueo optimista de JPA? A 200 ventas por segundo, los choques generan reintentos, y los reintentos generan más choques.
- ¿Y si el cliente se fue y no había stock? En el caso normal no pasa: el "no hay" se decide al escanear. Dos casos borde: lotes vencidos que el contador todavía suma, o una reserva que venció porque el cajero tardó más de 15 minutos. Hoy la venta queda cobrada, el evento va a la cola muerta y la saga queda EN_CURSO. Se corrige con un ajuste de inventario; falta una alerta.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Cuéntalo así: escribir en la base y publicar en Kafka son dos sistemas distintos, y no hay forma de que los dos confirmen juntos. La outbox convierte el problema en uno solo: todo queda en la base.
PARA EXPLAYARTE (DATOS TÉCNICOS)
- El publicador (PublicadorOutbox, en plataforma) corre cada 200 ms y toma hasta 200 avisos pendientes.
- Usa SELECT ... FOR UPDATE SKIP LOCKED: si hay varias copias de ms-ventas, cada una toma filas distintas sin esperarse.
- Solo marca como publicado lo que Kafka confirmó (espera la confirmación hasta 5 s). Si falla, la fila queda pendiente y sale en la siguiente vuelta.
- Mide la antigüedad del aviso más viejo (métrica outbox.antiguedad.segundos). Si crece, el siguiente escalón es Debezium, que lee el log de Postgres.
- Regla del proyecto: nunca kafkaTemplate.send() desde un caso de uso; solo por outbox.
SI PREGUNTAN
- ¿Y si Kafka está caído? La venta se confirma igual y el aviso espera en la tabla. Lo probamos apagando Kafka (lámina 15).
- ¿El aviso puede salir dos veces? Sí, si el publicador cae después de enviar y antes de marcar. Por eso cada consumidor es idempotente (problema 3).</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Kafka garantiza que el mensaje llega, pero no que llegue una sola vez. Eso se llama entrega al menos una vez. La solución es que procesarlo dos veces dé el mismo resultado: idempotencia.
PARA EXPLAYARTE (DATOS TÉCNICOS)
- La anotación en evento_procesado y el efecto van en la misma transacción: si el efecto falla, la marca se revierte y Kafka lo vuelve a entregar.
- El acknowledge es manual y va después del efecto. Con commit automático, un servicio que muere en el momento equivocado pierde la venta.
- Si un aviso sigue fallando: 6 reintentos con espera creciente (1, 2, 4, 8, 16 y 30 s, cerca de un minuto) y luego va a la cola muerta &lt;tópico&gt;.dlq. Antes de configurarlo, Spring Kafka reintentaba 10 veces sin espera y descartaba el evento.
- Lo mismo en las APIs: toda operación que cambia datos acepta Idempotency-Key. La respuesta se guarda 24 h en Redis; un reintento de la caja recibe la misma respuesta.
SI PREGUNTAN
- ¿Por qué no "exactly once" de Kafka? Solo cubre Kafka a Kafka. Aquí el efecto es una escritura en Postgres y una llamada a SUNAT; la idempotencia la tiene que poner el consumidor.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Esta lámina responde cómo sabe ventas que todo terminó bien, si ya no hay una sola base. Muestra la ficha en tres momentos: nace con las casillas vacías, inventario marca la suya, facturación marca la suya, y con las dos la venta queda COMPLETADA.
PARA EXPLAYARTE (DATOS TÉCNICOS)
- Tabla saga_venta en pg_ventas, con banderas stock_confirmado, credito_confirmado y comprobante_emitido, y estados EN_CURSO, COMPLETADA, COMPENSANDO y COMPENSADA.
- Para cerrar se exigen stock_confirmado y comprobante_emitido. La de crédito existe pero no se usa, porque crédito no está conectado.
- Es una saga coreografiada: no hay un orquestador central que llame a cada servicio. Cada uno reacciona a eventos. Menos acoplamiento, pero el flujo completo no está escrito en un solo lugar.
- Anular publica pos.ventas.anuladas: inventario devuelve el stock y crédito libera la reserva si la hubiera. La nota de crédito automática todavía falta.
- Si un paso falla del todo, el evento termina en la cola muerta y la ficha queda EN_CURSO. Hoy nadie alerta de fichas estancadas: es un pendiente.
SI PREGUNTAN
- ¿Por qué coreografía y no orquestación? Con dos pasos después del cobro, un orquestador sería una pieza más que operar y que puede caerse. Si el flujo creciera, se reconsidera.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Lee la regla en voz alta. Cada barra es cuánto espera ventas a ese servicio antes de pasar al plan B. Rojo: si falla, esa línea no entra. Ámbar: la venta sigue con menos. Gris: pasa después de cobrar. Termina con el circuit breaker. Sé honesto con catálogo y con crédito.
PARA EXPLAYARTE (DATOS TÉCNICOS)
- Los tiempos no son mediciones: son el tope que se espera antes del plan B. Están en ClientesDeServicios.java, uno por destino. Medirlos de verdad es la prueba de carga pendiente.
- Las esperas caen al escanear y al pagar. Confirmar no llama a nadie: por eso cumple sus 500 ms aunque todo lo demás esté caído.
- Circuit breaker: Resilience4j vía Spring Cloud CircuitBreaker, en ClientesHttpConfig.java. Ventana de 20 llamadas, se abre con 50 % de fallas (mínimo 10 llamadas), queda abierto 10 s y en medio abierto prueba 3. Además, un límite de 2 s como red de seguridad.
- No reintentamos entre servicios: el que reintenta es la caja, con su Idempotency-Key, para no cobrar dos veces.
- Redis: guarda 24 h las respuestas de Idempotency-Key y lleva el límite de 50 peticiones por segundo por usuario (picos de 100) en el gateway. Si cae, se pierden esas protecciones, no la venta.
- SUNAT está simulada: 800 ms de demora y 15 % de rechazos, para probar los reintentos. Envía pendientes cada 5 s en lotes de 50.
SI PREGUNTAN
- ¿Por qué catálogo impide vender? Sin precio no se puede cotizar. El caché vive en ms-catalogo; guardar en ventas el último precio conocido es lo siguiente por mejorar.
- Crédito: el plan B está escrito, pero ningún caso de uso lo llama. Hoy pagar con crédito no mira el límite ni descuenta el saldo.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No es el diseño prometiéndolo: es una prueba que apaga piezas mientras se vende. Recorre los cuatro escenarios y termina en el cuadre. Después cuenta con honestidad lo que la prueba encontró la primera vez. Esa honestidad suma.
PARA EXPLAYARTE (DATOS TÉCNICOS)
- El 6 no es una muestra: son todas las ventas que hizo la prueba. 3 en el primer escenario y 1 en cada uno de los otros tres.
- Herramientas: bash, docker compose stop y start, curl contra el gateway en el puerto 8095, psql para contar filas en pg_ventas, pg_facturacion y pg_reportes, kafka-console-producer para meter el mensaje basura y docker compose logs para contar los reintentos.
- El fallo de la base se simula renombrando la tabla comprobantes durante 8 segundos.
- Hay tres scripts: verificar.sh (venta completa), verificar-reglas.sh y verificar-resiliencia.sh. Más ./mvnw test: 49 pruebas de dominio y casos de uso, sin Docker.
- Se levanta con docker compose up -d --build. Tres perfiles según la RAM: camino de venta (unos 3.8 GB), completo (6.3 GB) y con observabilidad (7.5 GB: Prometheus, Grafana, Tempo, Loki).
- Probar en el navegador encontró doce contratos rotos entre frontend y servicios que ninguna prueba veía.
SI PREGUNTAN
- ¿Hicieron prueba de carga? Todavía no. Esta prueba demuestra que nada se pierde, no que aguante 200 ventas por segundo.</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DECIR
Lámina de respaldo. Úsala si el jurado pregunta por un término o si sientes que alguien se perdió. Cada término tiene una analogía y una línea técnica.
PARA EXPLAYARTE (DATOS TÉCNICOS)
- Entrega al menos una vez: Kafka garantiza que el mensaje llega, pero puede llegar repetido. Por eso todo consumidor es idempotente.
- Cola muerta (DLQ): tópico &lt;nombre&gt;.dlq donde va un evento que falló seis veces, con el error en los headers. No se pierde: se puede reprocesar.
- JWKS: la lista de llaves públicas que publica ms-identidad para que otros validen los tokens sin pedirle nada.
- p99: el tiempo por debajo del cual responden 99 de cada 100 peticiones.
- Consistencia eventual: entre servicios, los datos coinciden unos segundos después, no al instante.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D33"/>
        </a:solidFill>
        <a:effectLst/>
      </p:bgPr>
    </p:bg>
    <p:spTree>
      <p:nvGrpSpPr>
        <p:cNvPr id="1" name=""/>
        <p:cNvGrpSpPr/>
        <p:nvPr/>
      </p:nvGrpSpPr>
      <p:grpSpPr>
        <a:xfrm>
          <a:off x="0" y="0"/>
          <a:ext cx="0" cy="0"/>
          <a:chOff x="0" y="0"/>
          <a:chExt cx="0" cy="0"/>
        </a:xfrm>
      </p:grpSpPr>
      <p:sp>
        <p:nvSpPr>
          <p:cNvPr id="2" name="Text 0"/>
          <p:cNvSpPr txBox="1"/>
          <p:nvPr/>
        </p:nvSpPr>
        <p:spPr>
          <a:xfrm>
            <a:off x="731520" y="822960"/>
            <a:ext cx="10058400" cy="274320"/>
          </a:xfrm>
          <a:prstGeom prst="rect">
            <a:avLst/>
          </a:prstGeom>
          <a:noFill/>
          <a:ln/>
        </p:spPr>
        <p:txBody>
          <a:bodyPr wrap="square" lIns="0" tIns="0" rIns="0" bIns="0" rtlCol="0" anchor="t"/>
          <a:lstStyle/>
          <a:p>
            <a:pPr marL="0" indent="0">
              <a:buNone/>
            </a:pPr>
            <a:r>
              <a:rPr lang="en-US" sz="1200" b="1" kern="0" spc="200" dirty="0">
                <a:solidFill>
                  <a:srgbClr val="C9E6DB"/>
                </a:solidFill>
                <a:latin typeface="Calibri" pitchFamily="34" charset="0"/>
                <a:ea typeface="Calibri" pitchFamily="34" charset="-122"/>
                <a:cs typeface="Calibri" pitchFamily="34" charset="-120"/>
              </a:rPr>
              <a:t>ARQUITECTURA DE SOFTWARE, TRABAJO 1</a:t>
            </a:r>
            <a:endParaRPr lang="en-US" sz="1200" dirty="0"/>
          </a:p>
        </p:txBody>
      </p:sp>
      <p:sp>
        <p:nvSpPr>
          <p:cNvPr id="3" name="Text 1"/>
          <p:cNvSpPr txBox="1"/>
          <p:nvPr/>
        </p:nvSpPr>
        <p:spPr>
          <a:xfrm>
            <a:off x="731520" y="1188720"/>
            <a:ext cx="10515600" cy="91440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POS Farmacia en microservicios</a:t>
            </a:r>
            <a:endParaRPr lang="en-US" sz="4400" dirty="0"/>
          </a:p>
        </p:txBody>
      </p:sp>
      <p:sp>
        <p:nvSpPr>
          <p:cNvPr id="4" name="Text 2"/>
          <p:cNvSpPr txBox="1"/>
          <p:nvPr/>
        </p:nvSpPr>
        <p:spPr>
          <a:xfrm>
            <a:off x="731520" y="2194560"/>
            <a:ext cx="9601200" cy="731520"/>
          </a:xfrm>
          <a:prstGeom prst="rect">
            <a:avLst/>
          </a:prstGeom>
          <a:noFill/>
          <a:ln/>
        </p:spPr>
        <p:txBody>
          <a:bodyPr wrap="square" lIns="0" tIns="0" rIns="0" bIns="0" rtlCol="0" anchor="t"/>
          <a:lstStyle/>
          <a:p>
            <a:pPr marL="0" indent="0">
              <a:buNone/>
            </a:pPr>
            <a:r>
              <a:rPr lang="en-US" sz="1800" dirty="0">
                <a:solidFill>
                  <a:srgbClr val="C9E6DB"/>
                </a:solidFill>
                <a:latin typeface="Calibri" pitchFamily="34" charset="0"/>
                <a:ea typeface="Calibri" pitchFamily="34" charset="-122"/>
                <a:cs typeface="Calibri" pitchFamily="34" charset="-120"/>
              </a:rPr>
              <a:t>El mismo punto de venta para una cadena de boticas, partido en nueve servicios para que ninguna caja se quede parada.</a:t>
            </a:r>
            <a:endParaRPr lang="en-US" sz="1800" dirty="0"/>
          </a:p>
        </p:txBody>
      </p:sp>
      <p:sp>
        <p:nvSpPr>
          <p:cNvPr id="5" name="Shape 3"/>
          <p:cNvSpPr/>
          <p:nvPr/>
        </p:nvSpPr>
        <p:spPr>
          <a:xfrm>
            <a:off x="731520" y="3429000"/>
            <a:ext cx="3200400" cy="1737360"/>
          </a:xfrm>
          <a:prstGeom prst="roundRect">
            <a:avLst>
              <a:gd name="adj" fmla="val 4211"/>
            </a:avLst>
          </a:prstGeom>
          <a:solidFill>
            <a:srgbClr val="124A3F"/>
          </a:solidFill>
          <a:ln/>
        </p:spPr>
      </p:sp>
      <p:sp>
        <p:nvSpPr>
          <p:cNvPr id="6" name="Text 4"/>
          <p:cNvSpPr txBox="1"/>
          <p:nvPr/>
        </p:nvSpPr>
        <p:spPr>
          <a:xfrm>
            <a:off x="1005840" y="3611880"/>
            <a:ext cx="2743200" cy="822960"/>
          </a:xfrm>
          <a:prstGeom prst="rect">
            <a:avLst/>
          </a:prstGeom>
          <a:noFill/>
          <a:ln/>
        </p:spPr>
        <p:txBody>
          <a:bodyPr wrap="square" lIns="0" tIns="0" rIns="0" bIns="0" rtlCol="0" anchor="t"/>
          <a:lstStyle/>
          <a:p>
            <a:pPr marL="0" indent="0">
              <a:buNone/>
            </a:pPr>
            <a:r>
              <a:rPr lang="en-US" sz="4800" b="1" dirty="0">
                <a:solidFill>
                  <a:srgbClr val="FFFFFF"/>
                </a:solidFill>
                <a:latin typeface="Cambria" pitchFamily="34" charset="0"/>
                <a:ea typeface="Cambria" pitchFamily="34" charset="-122"/>
                <a:cs typeface="Cambria" pitchFamily="34" charset="-120"/>
              </a:rPr>
              <a:t>200</a:t>
            </a:r>
            <a:endParaRPr lang="en-US" sz="4800" dirty="0"/>
          </a:p>
        </p:txBody>
      </p:sp>
      <p:sp>
        <p:nvSpPr>
          <p:cNvPr id="7" name="Text 5"/>
          <p:cNvSpPr txBox="1"/>
          <p:nvPr/>
        </p:nvSpPr>
        <p:spPr>
          <a:xfrm>
            <a:off x="1005840" y="4434840"/>
            <a:ext cx="2743200" cy="640080"/>
          </a:xfrm>
          <a:prstGeom prst="rect">
            <a:avLst/>
          </a:prstGeom>
          <a:noFill/>
          <a:ln/>
        </p:spPr>
        <p:txBody>
          <a:bodyPr wrap="square" lIns="0" tIns="0" rIns="0" bIns="0" rtlCol="0" anchor="t"/>
          <a:lstStyle/>
          <a:p>
            <a:pPr marL="0" indent="0">
              <a:buNone/>
            </a:pPr>
            <a:r>
              <a:rPr lang="en-US" sz="1400" dirty="0">
                <a:solidFill>
                  <a:srgbClr val="C9E6DB"/>
                </a:solidFill>
                <a:latin typeface="Calibri" pitchFamily="34" charset="0"/>
                <a:ea typeface="Calibri" pitchFamily="34" charset="-122"/>
                <a:cs typeface="Calibri" pitchFamily="34" charset="-120"/>
              </a:rPr>
              <a:t>ventas por segundo</a:t>
            </a:r>
            <a:endParaRPr lang="en-US" sz="1400" dirty="0"/>
          </a:p>
          <a:p>
            <a:pPr marL="0" indent="0">
              <a:buNone/>
            </a:pPr>
            <a:r>
              <a:rPr lang="en-US" sz="1400" dirty="0">
                <a:solidFill>
                  <a:srgbClr val="C9E6DB"/>
                </a:solidFill>
                <a:latin typeface="Calibri" pitchFamily="34" charset="0"/>
                <a:ea typeface="Calibri" pitchFamily="34" charset="-122"/>
                <a:cs typeface="Calibri" pitchFamily="34" charset="-120"/>
              </a:rPr>
              <a:t>en hora punta</a:t>
            </a:r>
            <a:endParaRPr lang="en-US" sz="1400" dirty="0"/>
          </a:p>
        </p:txBody>
      </p:sp>
      <p:sp>
        <p:nvSpPr>
          <p:cNvPr id="8" name="Shape 6"/>
          <p:cNvSpPr/>
          <p:nvPr/>
        </p:nvSpPr>
        <p:spPr>
          <a:xfrm>
            <a:off x="4297680" y="3429000"/>
            <a:ext cx="3200400" cy="1737360"/>
          </a:xfrm>
          <a:prstGeom prst="roundRect">
            <a:avLst>
              <a:gd name="adj" fmla="val 4211"/>
            </a:avLst>
          </a:prstGeom>
          <a:solidFill>
            <a:srgbClr val="124A3F"/>
          </a:solidFill>
          <a:ln/>
        </p:spPr>
      </p:sp>
      <p:sp>
        <p:nvSpPr>
          <p:cNvPr id="9" name="Text 7"/>
          <p:cNvSpPr txBox="1"/>
          <p:nvPr/>
        </p:nvSpPr>
        <p:spPr>
          <a:xfrm>
            <a:off x="4572000" y="3611880"/>
            <a:ext cx="2743200" cy="822960"/>
          </a:xfrm>
          <a:prstGeom prst="rect">
            <a:avLst/>
          </a:prstGeom>
          <a:noFill/>
          <a:ln/>
        </p:spPr>
        <p:txBody>
          <a:bodyPr wrap="square" lIns="0" tIns="0" rIns="0" bIns="0" rtlCol="0" anchor="t"/>
          <a:lstStyle/>
          <a:p>
            <a:pPr marL="0" indent="0">
              <a:buNone/>
            </a:pPr>
            <a:r>
              <a:rPr lang="en-US" sz="4800" b="1" dirty="0">
                <a:solidFill>
                  <a:srgbClr val="FFFFFF"/>
                </a:solidFill>
                <a:latin typeface="Cambria" pitchFamily="34" charset="0"/>
                <a:ea typeface="Cambria" pitchFamily="34" charset="-122"/>
                <a:cs typeface="Cambria" pitchFamily="34" charset="-120"/>
              </a:rPr>
              <a:t>500</a:t>
            </a:r>
            <a:endParaRPr lang="en-US" sz="4800" dirty="0"/>
          </a:p>
        </p:txBody>
      </p:sp>
      <p:sp>
        <p:nvSpPr>
          <p:cNvPr id="10" name="Text 8"/>
          <p:cNvSpPr txBox="1"/>
          <p:nvPr/>
        </p:nvSpPr>
        <p:spPr>
          <a:xfrm>
            <a:off x="4572000" y="4434840"/>
            <a:ext cx="2743200" cy="640080"/>
          </a:xfrm>
          <a:prstGeom prst="rect">
            <a:avLst/>
          </a:prstGeom>
          <a:noFill/>
          <a:ln/>
        </p:spPr>
        <p:txBody>
          <a:bodyPr wrap="square" lIns="0" tIns="0" rIns="0" bIns="0" rtlCol="0" anchor="t"/>
          <a:lstStyle/>
          <a:p>
            <a:pPr marL="0" indent="0">
              <a:buNone/>
            </a:pPr>
            <a:r>
              <a:rPr lang="en-US" sz="1400" dirty="0">
                <a:solidFill>
                  <a:srgbClr val="C9E6DB"/>
                </a:solidFill>
                <a:latin typeface="Calibri" pitchFamily="34" charset="0"/>
                <a:ea typeface="Calibri" pitchFamily="34" charset="-122"/>
                <a:cs typeface="Calibri" pitchFamily="34" charset="-120"/>
              </a:rPr>
              <a:t>locales</a:t>
            </a:r>
            <a:endParaRPr lang="en-US" sz="1400" dirty="0"/>
          </a:p>
          <a:p>
            <a:pPr marL="0" indent="0">
              <a:buNone/>
            </a:pPr>
            <a:r>
              <a:rPr lang="en-US" sz="1400" dirty="0">
                <a:solidFill>
                  <a:srgbClr val="C9E6DB"/>
                </a:solidFill>
                <a:latin typeface="Calibri" pitchFamily="34" charset="0"/>
                <a:ea typeface="Calibri" pitchFamily="34" charset="-122"/>
                <a:cs typeface="Calibri" pitchFamily="34" charset="-120"/>
              </a:rPr>
              <a:t>y 1500 cajas</a:t>
            </a:r>
            <a:endParaRPr lang="en-US" sz="1400" dirty="0"/>
          </a:p>
        </p:txBody>
      </p:sp>
      <p:sp>
        <p:nvSpPr>
          <p:cNvPr id="11" name="Shape 9"/>
          <p:cNvSpPr/>
          <p:nvPr/>
        </p:nvSpPr>
        <p:spPr>
          <a:xfrm>
            <a:off x="7863840" y="3429000"/>
            <a:ext cx="3200400" cy="1737360"/>
          </a:xfrm>
          <a:prstGeom prst="roundRect">
            <a:avLst>
              <a:gd name="adj" fmla="val 4211"/>
            </a:avLst>
          </a:prstGeom>
          <a:solidFill>
            <a:srgbClr val="124A3F"/>
          </a:solidFill>
          <a:ln/>
        </p:spPr>
      </p:sp>
      <p:sp>
        <p:nvSpPr>
          <p:cNvPr id="12" name="Text 10"/>
          <p:cNvSpPr txBox="1"/>
          <p:nvPr/>
        </p:nvSpPr>
        <p:spPr>
          <a:xfrm>
            <a:off x="8138160" y="3611880"/>
            <a:ext cx="2743200" cy="822960"/>
          </a:xfrm>
          <a:prstGeom prst="rect">
            <a:avLst/>
          </a:prstGeom>
          <a:noFill/>
          <a:ln/>
        </p:spPr>
        <p:txBody>
          <a:bodyPr wrap="square" lIns="0" tIns="0" rIns="0" bIns="0" rtlCol="0" anchor="t"/>
          <a:lstStyle/>
          <a:p>
            <a:pPr marL="0" indent="0">
              <a:buNone/>
            </a:pPr>
            <a:r>
              <a:rPr lang="en-US" sz="4800" b="1" dirty="0">
                <a:solidFill>
                  <a:srgbClr val="FFFFFF"/>
                </a:solidFill>
                <a:latin typeface="Cambria" pitchFamily="34" charset="0"/>
                <a:ea typeface="Cambria" pitchFamily="34" charset="-122"/>
                <a:cs typeface="Cambria" pitchFamily="34" charset="-120"/>
              </a:rPr>
              <a:t>9</a:t>
            </a:r>
            <a:endParaRPr lang="en-US" sz="4800" dirty="0"/>
          </a:p>
        </p:txBody>
      </p:sp>
      <p:sp>
        <p:nvSpPr>
          <p:cNvPr id="13" name="Text 11"/>
          <p:cNvSpPr txBox="1"/>
          <p:nvPr/>
        </p:nvSpPr>
        <p:spPr>
          <a:xfrm>
            <a:off x="8138160" y="4434840"/>
            <a:ext cx="2743200" cy="640080"/>
          </a:xfrm>
          <a:prstGeom prst="rect">
            <a:avLst/>
          </a:prstGeom>
          <a:noFill/>
          <a:ln/>
        </p:spPr>
        <p:txBody>
          <a:bodyPr wrap="square" lIns="0" tIns="0" rIns="0" bIns="0" rtlCol="0" anchor="t"/>
          <a:lstStyle/>
          <a:p>
            <a:pPr marL="0" indent="0">
              <a:buNone/>
            </a:pPr>
            <a:r>
              <a:rPr lang="en-US" sz="1400" dirty="0">
                <a:solidFill>
                  <a:srgbClr val="C9E6DB"/>
                </a:solidFill>
                <a:latin typeface="Calibri" pitchFamily="34" charset="0"/>
                <a:ea typeface="Calibri" pitchFamily="34" charset="-122"/>
                <a:cs typeface="Calibri" pitchFamily="34" charset="-120"/>
              </a:rPr>
              <a:t>servicios,</a:t>
            </a:r>
            <a:endParaRPr lang="en-US" sz="1400" dirty="0"/>
          </a:p>
          <a:p>
            <a:pPr marL="0" indent="0">
              <a:buNone/>
            </a:pPr>
            <a:r>
              <a:rPr lang="en-US" sz="1400" dirty="0">
                <a:solidFill>
                  <a:srgbClr val="C9E6DB"/>
                </a:solidFill>
                <a:latin typeface="Calibri" pitchFamily="34" charset="0"/>
                <a:ea typeface="Calibri" pitchFamily="34" charset="-122"/>
                <a:cs typeface="Calibri" pitchFamily="34" charset="-120"/>
              </a:rPr>
              <a:t>cada uno con su base</a:t>
            </a:r>
            <a:endParaRPr lang="en-US" sz="1400" dirty="0"/>
          </a:p>
        </p:txBody>
      </p:sp>
      <p:sp>
        <p:nvSpPr>
          <p:cNvPr id="14" name="Text 12"/>
          <p:cNvSpPr txBox="1"/>
          <p:nvPr/>
        </p:nvSpPr>
        <p:spPr>
          <a:xfrm>
            <a:off x="731520" y="5806440"/>
            <a:ext cx="10515600" cy="365760"/>
          </a:xfrm>
          <a:prstGeom prst="rect">
            <a:avLst/>
          </a:prstGeom>
          <a:noFill/>
          <a:ln/>
        </p:spPr>
        <p:txBody>
          <a:bodyPr wrap="square" lIns="0" tIns="0" rIns="0" bIns="0" rtlCol="0" anchor="t"/>
          <a:lstStyle/>
          <a:p>
            <a:pPr marL="0" indent="0">
              <a:buNone/>
            </a:pPr>
            <a:r>
              <a:rPr lang="en-US" sz="1400" dirty="0">
                <a:solidFill>
                  <a:srgbClr val="C9E6DB"/>
                </a:solidFill>
                <a:latin typeface="Calibri" pitchFamily="34" charset="0"/>
                <a:ea typeface="Calibri" pitchFamily="34" charset="-122"/>
                <a:cs typeface="Calibri" pitchFamily="34" charset="-120"/>
              </a:rPr>
              <a:t>Bloque 1, Juan: por qué quedó así.    Bloque 2, Javier: cómo funciona y cómo lo probamos.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972800" cy="274320"/>
          </a:xfrm>
          <a:prstGeom prst="rect">
            <a:avLst/>
          </a:prstGeom>
          <a:noFill/>
          <a:ln/>
        </p:spPr>
        <p:txBody>
          <a:bodyPr wrap="square" lIns="0" tIns="0" rIns="0" bIns="0" rtlCol="0" anchor="t"/>
          <a:lstStyle/>
          <a:p>
            <a:pPr marL="0" indent="0">
              <a:buNone/>
            </a:pPr>
            <a:r>
              <a:rPr lang="en-US" sz="1100" b="1" kern="0" spc="200" dirty="0">
                <a:solidFill>
                  <a:srgbClr val="0F6E57"/>
                </a:solidFill>
                <a:latin typeface="Calibri" pitchFamily="34" charset="0"/>
                <a:ea typeface="Calibri" pitchFamily="34" charset="-122"/>
                <a:cs typeface="Calibri" pitchFamily="34" charset="-120"/>
              </a:rPr>
              <a:t>BLOQUE 1, JUAN</a:t>
            </a:r>
            <a:endParaRPr lang="en-US" sz="1100" dirty="0"/>
          </a:p>
        </p:txBody>
      </p:sp>
      <p:sp>
        <p:nvSpPr>
          <p:cNvPr id="3" name="Text 1"/>
          <p:cNvSpPr txBox="1"/>
          <p:nvPr/>
        </p:nvSpPr>
        <p:spPr>
          <a:xfrm>
            <a:off x="548640" y="594360"/>
            <a:ext cx="11064240" cy="685800"/>
          </a:xfrm>
          <a:prstGeom prst="rect">
            <a:avLst/>
          </a:prstGeom>
          <a:noFill/>
          <a:ln/>
        </p:spPr>
        <p:txBody>
          <a:bodyPr wrap="square" lIns="0" tIns="0" rIns="0" bIns="0" rtlCol="0" anchor="t"/>
          <a:lstStyle/>
          <a:p>
            <a:pPr marL="0" indent="0">
              <a:buNone/>
            </a:pPr>
            <a:r>
              <a:rPr lang="en-US" sz="3000" b="1" dirty="0">
                <a:solidFill>
                  <a:srgbClr val="1F2933"/>
                </a:solidFill>
                <a:latin typeface="Cambria" pitchFamily="34" charset="0"/>
                <a:ea typeface="Cambria" pitchFamily="34" charset="-122"/>
                <a:cs typeface="Cambria" pitchFamily="34" charset="-120"/>
              </a:rPr>
              <a:t>De dónde venimos: un monolito bien hecho</a:t>
            </a:r>
            <a:endParaRPr lang="en-US" sz="3000" dirty="0"/>
          </a:p>
        </p:txBody>
      </p:sp>
      <p:pic>
        <p:nvPicPr>
          <p:cNvPr id="4" name="Image 0" descr="C:\Users\User\source\repos\arquitectura_3_t1\presentacion\imagenes\monolito_t5.png"/>
          <p:cNvPicPr>
            <a:picLocks noChangeAspect="1"/>
          </p:cNvPicPr>
          <p:nvPr/>
        </p:nvPicPr>
        <p:blipFill>
          <a:blip r:embed="rId3"/>
          <a:stretch>
            <a:fillRect/>
          </a:stretch>
        </p:blipFill>
        <p:spPr>
          <a:xfrm>
            <a:off x="548640" y="1417320"/>
            <a:ext cx="6400800" cy="5001768"/>
          </a:xfrm>
          <a:prstGeom prst="rect">
            <a:avLst/>
          </a:prstGeom>
        </p:spPr>
      </p:pic>
      <p:sp>
        <p:nvSpPr>
          <p:cNvPr id="5" name="Shape 2"/>
          <p:cNvSpPr/>
          <p:nvPr/>
        </p:nvSpPr>
        <p:spPr>
          <a:xfrm>
            <a:off x="7315200" y="1463040"/>
            <a:ext cx="4297680" cy="1234440"/>
          </a:xfrm>
          <a:prstGeom prst="roundRect">
            <a:avLst>
              <a:gd name="adj" fmla="val 5926"/>
            </a:avLst>
          </a:prstGeom>
          <a:solidFill>
            <a:srgbClr val="E3F1EC"/>
          </a:solidFill>
          <a:ln/>
        </p:spPr>
      </p:sp>
      <p:sp>
        <p:nvSpPr>
          <p:cNvPr id="6" name="Text 3"/>
          <p:cNvSpPr txBox="1"/>
          <p:nvPr/>
        </p:nvSpPr>
        <p:spPr>
          <a:xfrm>
            <a:off x="7543800" y="1600200"/>
            <a:ext cx="3931920" cy="1005840"/>
          </a:xfrm>
          <a:prstGeom prst="rect">
            <a:avLst/>
          </a:prstGeom>
          <a:noFill/>
          <a:ln/>
        </p:spPr>
        <p:txBody>
          <a:bodyPr wrap="square" lIns="0" tIns="0" rIns="0" bIns="0" rtlCol="0" anchor="t"/>
          <a:lstStyle/>
          <a:p>
            <a:pPr marL="0" indent="0">
              <a:buNone/>
            </a:pPr>
            <a:r>
              <a:rPr lang="en-US" sz="2400" b="1" dirty="0">
                <a:solidFill>
                  <a:srgbClr val="0F6E57"/>
                </a:solidFill>
                <a:latin typeface="Cambria" pitchFamily="34" charset="0"/>
                <a:ea typeface="Cambria" pitchFamily="34" charset="-122"/>
                <a:cs typeface="Cambria" pitchFamily="34" charset="-120"/>
              </a:rPr>
              <a:t>1 backend</a:t>
            </a:r>
            <a:endParaRPr lang="en-US" sz="1500" dirty="0"/>
          </a:p>
          <a:p>
            <a:pPr marL="0" indent="0">
              <a:buNone/>
            </a:pPr>
            <a:r>
              <a:rPr lang="en-US" sz="1300" dirty="0">
                <a:solidFill>
                  <a:srgbClr val="5B6670"/>
                </a:solidFill>
                <a:latin typeface="Calibri" pitchFamily="34" charset="0"/>
                <a:ea typeface="Calibri" pitchFamily="34" charset="-122"/>
                <a:cs typeface="Calibri" pitchFamily="34" charset="-120"/>
              </a:rPr>
              <a:t>siete módulos Maven, unos 600 archivos Java</a:t>
            </a:r>
            <a:endParaRPr lang="en-US" sz="1500" dirty="0"/>
          </a:p>
        </p:txBody>
      </p:sp>
      <p:sp>
        <p:nvSpPr>
          <p:cNvPr id="7" name="Shape 4"/>
          <p:cNvSpPr/>
          <p:nvPr/>
        </p:nvSpPr>
        <p:spPr>
          <a:xfrm>
            <a:off x="7315200" y="2880360"/>
            <a:ext cx="4297680" cy="1234440"/>
          </a:xfrm>
          <a:prstGeom prst="roundRect">
            <a:avLst>
              <a:gd name="adj" fmla="val 5926"/>
            </a:avLst>
          </a:prstGeom>
          <a:solidFill>
            <a:srgbClr val="FBE7DD"/>
          </a:solidFill>
          <a:ln/>
        </p:spPr>
      </p:sp>
      <p:sp>
        <p:nvSpPr>
          <p:cNvPr id="8" name="Text 5"/>
          <p:cNvSpPr txBox="1"/>
          <p:nvPr/>
        </p:nvSpPr>
        <p:spPr>
          <a:xfrm>
            <a:off x="7543800" y="3017520"/>
            <a:ext cx="3931920" cy="1005840"/>
          </a:xfrm>
          <a:prstGeom prst="rect">
            <a:avLst/>
          </a:prstGeom>
          <a:noFill/>
          <a:ln/>
        </p:spPr>
        <p:txBody>
          <a:bodyPr wrap="square" lIns="0" tIns="0" rIns="0" bIns="0" rtlCol="0" anchor="t"/>
          <a:lstStyle/>
          <a:p>
            <a:pPr marL="0" indent="0">
              <a:buNone/>
            </a:pPr>
            <a:r>
              <a:rPr lang="en-US" sz="2400" b="1" dirty="0">
                <a:solidFill>
                  <a:srgbClr val="B83A0E"/>
                </a:solidFill>
                <a:latin typeface="Cambria" pitchFamily="34" charset="0"/>
                <a:ea typeface="Cambria" pitchFamily="34" charset="-122"/>
                <a:cs typeface="Cambria" pitchFamily="34" charset="-120"/>
              </a:rPr>
              <a:t>35 tablas en una base</a:t>
            </a:r>
            <a:endParaRPr lang="en-US" sz="1500" dirty="0"/>
          </a:p>
          <a:p>
            <a:pPr marL="0" indent="0">
              <a:buNone/>
            </a:pPr>
            <a:r>
              <a:rPr lang="en-US" sz="1300" dirty="0">
                <a:solidFill>
                  <a:srgbClr val="5B6670"/>
                </a:solidFill>
                <a:latin typeface="Calibri" pitchFamily="34" charset="0"/>
                <a:ea typeface="Calibri" pitchFamily="34" charset="-122"/>
                <a:cs typeface="Calibri" pitchFamily="34" charset="-120"/>
              </a:rPr>
              <a:t>compartida por cajas, reportes y todo lo demás</a:t>
            </a:r>
            <a:endParaRPr lang="en-US" sz="1500" dirty="0"/>
          </a:p>
        </p:txBody>
      </p:sp>
      <p:sp>
        <p:nvSpPr>
          <p:cNvPr id="9" name="Shape 6"/>
          <p:cNvSpPr/>
          <p:nvPr/>
        </p:nvSpPr>
        <p:spPr>
          <a:xfrm>
            <a:off x="7315200" y="4343400"/>
            <a:ext cx="4297680" cy="2011680"/>
          </a:xfrm>
          <a:prstGeom prst="roundRect">
            <a:avLst>
              <a:gd name="adj" fmla="val 3636"/>
            </a:avLst>
          </a:prstGeom>
          <a:solidFill>
            <a:srgbClr val="FBF1D9"/>
          </a:solidFill>
          <a:ln/>
        </p:spPr>
      </p:sp>
      <p:sp>
        <p:nvSpPr>
          <p:cNvPr id="10" name="Text 7"/>
          <p:cNvSpPr txBox="1"/>
          <p:nvPr/>
        </p:nvSpPr>
        <p:spPr>
          <a:xfrm>
            <a:off x="7498080" y="4453128"/>
            <a:ext cx="3931920" cy="1828800"/>
          </a:xfrm>
          <a:prstGeom prst="rect">
            <a:avLst/>
          </a:prstGeom>
          <a:noFill/>
          <a:ln/>
        </p:spPr>
        <p:txBody>
          <a:bodyPr wrap="square" lIns="0" tIns="0" rIns="0" bIns="0" rtlCol="0" anchor="ctr"/>
          <a:lstStyle/>
          <a:p>
            <a:pPr marL="0" indent="0">
              <a:buNone/>
            </a:pPr>
            <a:r>
              <a:rPr lang="en-US" sz="1400" b="1" dirty="0">
                <a:solidFill>
                  <a:srgbClr val="9A6A0C"/>
                </a:solidFill>
                <a:latin typeface="Calibri" pitchFamily="34" charset="0"/>
                <a:ea typeface="Calibri" pitchFamily="34" charset="-122"/>
                <a:cs typeface="Calibri" pitchFamily="34" charset="-120"/>
              </a:rPr>
              <a:t>Para entenderlo: </a:t>
            </a:r>
            <a:r>
              <a:rPr lang="en-US" sz="1400" dirty="0">
                <a:solidFill>
                  <a:srgbClr val="1F2933"/>
                </a:solidFill>
                <a:latin typeface="Calibri" pitchFamily="34" charset="0"/>
                <a:ea typeface="Calibri" pitchFamily="34" charset="-122"/>
                <a:cs typeface="Calibri" pitchFamily="34" charset="-120"/>
              </a:rPr>
              <a:t>es una botica donde el contador y los cajeros usan la misma calculadora. A fin de mes el contador saca un reporte de tres meses y los cajeros esperan, justo en la hora de más venta.</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972800" cy="274320"/>
          </a:xfrm>
          <a:prstGeom prst="rect">
            <a:avLst/>
          </a:prstGeom>
          <a:noFill/>
          <a:ln/>
        </p:spPr>
        <p:txBody>
          <a:bodyPr wrap="square" lIns="0" tIns="0" rIns="0" bIns="0" rtlCol="0" anchor="t"/>
          <a:lstStyle/>
          <a:p>
            <a:pPr marL="0" indent="0">
              <a:buNone/>
            </a:pPr>
            <a:r>
              <a:rPr lang="en-US" sz="1100" b="1" kern="0" spc="200" dirty="0">
                <a:solidFill>
                  <a:srgbClr val="0F6E57"/>
                </a:solidFill>
                <a:latin typeface="Calibri" pitchFamily="34" charset="0"/>
                <a:ea typeface="Calibri" pitchFamily="34" charset="-122"/>
                <a:cs typeface="Calibri" pitchFamily="34" charset="-120"/>
              </a:rPr>
              <a:t>BLOQUE 1, JUAN</a:t>
            </a:r>
            <a:endParaRPr lang="en-US" sz="1100" dirty="0"/>
          </a:p>
        </p:txBody>
      </p:sp>
      <p:sp>
        <p:nvSpPr>
          <p:cNvPr id="3" name="Text 1"/>
          <p:cNvSpPr txBox="1"/>
          <p:nvPr/>
        </p:nvSpPr>
        <p:spPr>
          <a:xfrm>
            <a:off x="548640" y="594360"/>
            <a:ext cx="11064240" cy="685800"/>
          </a:xfrm>
          <a:prstGeom prst="rect">
            <a:avLst/>
          </a:prstGeom>
          <a:noFill/>
          <a:ln/>
        </p:spPr>
        <p:txBody>
          <a:bodyPr wrap="square" lIns="0" tIns="0" rIns="0" bIns="0" rtlCol="0" anchor="t"/>
          <a:lstStyle/>
          <a:p>
            <a:pPr marL="0" indent="0">
              <a:buNone/>
            </a:pPr>
            <a:r>
              <a:rPr lang="en-US" sz="3000" b="1" dirty="0">
                <a:solidFill>
                  <a:srgbClr val="1F2933"/>
                </a:solidFill>
                <a:latin typeface="Cambria" pitchFamily="34" charset="0"/>
                <a:ea typeface="Cambria" pitchFamily="34" charset="-122"/>
                <a:cs typeface="Cambria" pitchFamily="34" charset="-120"/>
              </a:rPr>
              <a:t>Lo que tiene que aguantar</a:t>
            </a:r>
            <a:endParaRPr lang="en-US" sz="3000" dirty="0"/>
          </a:p>
        </p:txBody>
      </p:sp>
      <p:sp>
        <p:nvSpPr>
          <p:cNvPr id="4" name="Shape 2"/>
          <p:cNvSpPr/>
          <p:nvPr/>
        </p:nvSpPr>
        <p:spPr>
          <a:xfrm>
            <a:off x="548640" y="1463040"/>
            <a:ext cx="3520440" cy="1600200"/>
          </a:xfrm>
          <a:prstGeom prst="roundRect">
            <a:avLst>
              <a:gd name="adj" fmla="val 4571"/>
            </a:avLst>
          </a:prstGeom>
          <a:solidFill>
            <a:srgbClr val="E3F1EC"/>
          </a:solidFill>
          <a:ln/>
        </p:spPr>
      </p:sp>
      <p:sp>
        <p:nvSpPr>
          <p:cNvPr id="5" name="Text 3"/>
          <p:cNvSpPr txBox="1"/>
          <p:nvPr/>
        </p:nvSpPr>
        <p:spPr>
          <a:xfrm>
            <a:off x="777240" y="1600200"/>
            <a:ext cx="3108960" cy="640080"/>
          </a:xfrm>
          <a:prstGeom prst="rect">
            <a:avLst/>
          </a:prstGeom>
          <a:noFill/>
          <a:ln/>
        </p:spPr>
        <p:txBody>
          <a:bodyPr wrap="square" lIns="0" tIns="0" rIns="0" bIns="0" rtlCol="0" anchor="t"/>
          <a:lstStyle/>
          <a:p>
            <a:pPr marL="0" indent="0">
              <a:buNone/>
            </a:pPr>
            <a:r>
              <a:rPr lang="en-US" sz="3400" b="1" dirty="0">
                <a:solidFill>
                  <a:srgbClr val="0F6E57"/>
                </a:solidFill>
                <a:latin typeface="Cambria" pitchFamily="34" charset="0"/>
                <a:ea typeface="Cambria" pitchFamily="34" charset="-122"/>
                <a:cs typeface="Cambria" pitchFamily="34" charset="-120"/>
              </a:rPr>
              <a:t>200 / s</a:t>
            </a:r>
            <a:endParaRPr lang="en-US" sz="3400" dirty="0"/>
          </a:p>
        </p:txBody>
      </p:sp>
      <p:sp>
        <p:nvSpPr>
          <p:cNvPr id="6" name="Text 4"/>
          <p:cNvSpPr txBox="1"/>
          <p:nvPr/>
        </p:nvSpPr>
        <p:spPr>
          <a:xfrm>
            <a:off x="777240" y="2240280"/>
            <a:ext cx="3108960" cy="320040"/>
          </a:xfrm>
          <a:prstGeom prst="rect">
            <a:avLst/>
          </a:prstGeom>
          <a:noFill/>
          <a:ln/>
        </p:spPr>
        <p:txBody>
          <a:bodyPr wrap="square" lIns="0" tIns="0" rIns="0" bIns="0" rtlCol="0" anchor="t"/>
          <a:lstStyle/>
          <a:p>
            <a:pPr marL="0" indent="0">
              <a:buNone/>
            </a:pPr>
            <a:r>
              <a:rPr lang="en-US" sz="1500" b="1" dirty="0">
                <a:solidFill>
                  <a:srgbClr val="1F2933"/>
                </a:solidFill>
                <a:latin typeface="Calibri" pitchFamily="34" charset="0"/>
                <a:ea typeface="Calibri" pitchFamily="34" charset="-122"/>
                <a:cs typeface="Calibri" pitchFamily="34" charset="-120"/>
              </a:rPr>
              <a:t>ventas en hora punta</a:t>
            </a:r>
            <a:endParaRPr lang="en-US" sz="1500" dirty="0"/>
          </a:p>
        </p:txBody>
      </p:sp>
      <p:sp>
        <p:nvSpPr>
          <p:cNvPr id="7" name="Text 5"/>
          <p:cNvSpPr txBox="1"/>
          <p:nvPr/>
        </p:nvSpPr>
        <p:spPr>
          <a:xfrm>
            <a:off x="777240" y="2560320"/>
            <a:ext cx="3108960" cy="411480"/>
          </a:xfrm>
          <a:prstGeom prst="rect">
            <a:avLst/>
          </a:prstGeom>
          <a:noFill/>
          <a:ln/>
        </p:spPr>
        <p:txBody>
          <a:bodyPr wrap="square" lIns="0" tIns="0" rIns="0" bIns="0" rtlCol="0" anchor="t"/>
          <a:lstStyle/>
          <a:p>
            <a:pPr marL="0" indent="0">
              <a:buNone/>
            </a:pPr>
            <a:r>
              <a:rPr lang="en-US" sz="1200" dirty="0">
                <a:solidFill>
                  <a:srgbClr val="5B6670"/>
                </a:solidFill>
                <a:latin typeface="Calibri" pitchFamily="34" charset="0"/>
                <a:ea typeface="Calibri" pitchFamily="34" charset="-122"/>
                <a:cs typeface="Calibri" pitchFamily="34" charset="-120"/>
              </a:rPr>
              <a:t>1500 cajas, unas 2 ventas por minuto cada una</a:t>
            </a:r>
            <a:endParaRPr lang="en-US" sz="1200" dirty="0"/>
          </a:p>
        </p:txBody>
      </p:sp>
      <p:sp>
        <p:nvSpPr>
          <p:cNvPr id="8" name="Shape 6"/>
          <p:cNvSpPr/>
          <p:nvPr/>
        </p:nvSpPr>
        <p:spPr>
          <a:xfrm>
            <a:off x="4297680" y="1463040"/>
            <a:ext cx="3520440" cy="1600200"/>
          </a:xfrm>
          <a:prstGeom prst="roundRect">
            <a:avLst>
              <a:gd name="adj" fmla="val 4571"/>
            </a:avLst>
          </a:prstGeom>
          <a:solidFill>
            <a:srgbClr val="E3F1EC"/>
          </a:solidFill>
          <a:ln/>
        </p:spPr>
      </p:sp>
      <p:sp>
        <p:nvSpPr>
          <p:cNvPr id="9" name="Text 7"/>
          <p:cNvSpPr txBox="1"/>
          <p:nvPr/>
        </p:nvSpPr>
        <p:spPr>
          <a:xfrm>
            <a:off x="4526280" y="1600200"/>
            <a:ext cx="3108960" cy="640080"/>
          </a:xfrm>
          <a:prstGeom prst="rect">
            <a:avLst/>
          </a:prstGeom>
          <a:noFill/>
          <a:ln/>
        </p:spPr>
        <p:txBody>
          <a:bodyPr wrap="square" lIns="0" tIns="0" rIns="0" bIns="0" rtlCol="0" anchor="t"/>
          <a:lstStyle/>
          <a:p>
            <a:pPr marL="0" indent="0">
              <a:buNone/>
            </a:pPr>
            <a:r>
              <a:rPr lang="en-US" sz="3400" b="1" dirty="0">
                <a:solidFill>
                  <a:srgbClr val="0F6E57"/>
                </a:solidFill>
                <a:latin typeface="Cambria" pitchFamily="34" charset="0"/>
                <a:ea typeface="Cambria" pitchFamily="34" charset="-122"/>
                <a:cs typeface="Cambria" pitchFamily="34" charset="-120"/>
              </a:rPr>
              <a:t>5000 / s</a:t>
            </a:r>
            <a:endParaRPr lang="en-US" sz="3400" dirty="0"/>
          </a:p>
        </p:txBody>
      </p:sp>
      <p:sp>
        <p:nvSpPr>
          <p:cNvPr id="10" name="Text 8"/>
          <p:cNvSpPr txBox="1"/>
          <p:nvPr/>
        </p:nvSpPr>
        <p:spPr>
          <a:xfrm>
            <a:off x="4526280" y="2240280"/>
            <a:ext cx="3108960" cy="320040"/>
          </a:xfrm>
          <a:prstGeom prst="rect">
            <a:avLst/>
          </a:prstGeom>
          <a:noFill/>
          <a:ln/>
        </p:spPr>
        <p:txBody>
          <a:bodyPr wrap="square" lIns="0" tIns="0" rIns="0" bIns="0" rtlCol="0" anchor="t"/>
          <a:lstStyle/>
          <a:p>
            <a:pPr marL="0" indent="0">
              <a:buNone/>
            </a:pPr>
            <a:r>
              <a:rPr lang="en-US" sz="1500" b="1" dirty="0">
                <a:solidFill>
                  <a:srgbClr val="1F2933"/>
                </a:solidFill>
                <a:latin typeface="Calibri" pitchFamily="34" charset="0"/>
                <a:ea typeface="Calibri" pitchFamily="34" charset="-122"/>
                <a:cs typeface="Calibri" pitchFamily="34" charset="-120"/>
              </a:rPr>
              <a:t>lecturas de catálogo</a:t>
            </a:r>
            <a:endParaRPr lang="en-US" sz="1500" dirty="0"/>
          </a:p>
        </p:txBody>
      </p:sp>
      <p:sp>
        <p:nvSpPr>
          <p:cNvPr id="11" name="Text 9"/>
          <p:cNvSpPr txBox="1"/>
          <p:nvPr/>
        </p:nvSpPr>
        <p:spPr>
          <a:xfrm>
            <a:off x="4526280" y="2560320"/>
            <a:ext cx="3108960" cy="411480"/>
          </a:xfrm>
          <a:prstGeom prst="rect">
            <a:avLst/>
          </a:prstGeom>
          <a:noFill/>
          <a:ln/>
        </p:spPr>
        <p:txBody>
          <a:bodyPr wrap="square" lIns="0" tIns="0" rIns="0" bIns="0" rtlCol="0" anchor="t"/>
          <a:lstStyle/>
          <a:p>
            <a:pPr marL="0" indent="0">
              <a:buNone/>
            </a:pPr>
            <a:r>
              <a:rPr lang="en-US" sz="1200" dirty="0">
                <a:solidFill>
                  <a:srgbClr val="5B6670"/>
                </a:solidFill>
                <a:latin typeface="Calibri" pitchFamily="34" charset="0"/>
                <a:ea typeface="Calibri" pitchFamily="34" charset="-122"/>
                <a:cs typeface="Calibri" pitchFamily="34" charset="-120"/>
              </a:rPr>
              <a:t>unas 5 líneas por venta, más búsquedas</a:t>
            </a:r>
            <a:endParaRPr lang="en-US" sz="1200" dirty="0"/>
          </a:p>
        </p:txBody>
      </p:sp>
      <p:sp>
        <p:nvSpPr>
          <p:cNvPr id="12" name="Shape 10"/>
          <p:cNvSpPr/>
          <p:nvPr/>
        </p:nvSpPr>
        <p:spPr>
          <a:xfrm>
            <a:off x="8046720" y="1463040"/>
            <a:ext cx="3520440" cy="1600200"/>
          </a:xfrm>
          <a:prstGeom prst="roundRect">
            <a:avLst>
              <a:gd name="adj" fmla="val 4571"/>
            </a:avLst>
          </a:prstGeom>
          <a:solidFill>
            <a:srgbClr val="E3F1EC"/>
          </a:solidFill>
          <a:ln/>
        </p:spPr>
      </p:sp>
      <p:sp>
        <p:nvSpPr>
          <p:cNvPr id="13" name="Text 11"/>
          <p:cNvSpPr txBox="1"/>
          <p:nvPr/>
        </p:nvSpPr>
        <p:spPr>
          <a:xfrm>
            <a:off x="8275320" y="1600200"/>
            <a:ext cx="3108960" cy="640080"/>
          </a:xfrm>
          <a:prstGeom prst="rect">
            <a:avLst/>
          </a:prstGeom>
          <a:noFill/>
          <a:ln/>
        </p:spPr>
        <p:txBody>
          <a:bodyPr wrap="square" lIns="0" tIns="0" rIns="0" bIns="0" rtlCol="0" anchor="t"/>
          <a:lstStyle/>
          <a:p>
            <a:pPr marL="0" indent="0">
              <a:buNone/>
            </a:pPr>
            <a:r>
              <a:rPr lang="en-US" sz="3400" b="1" dirty="0">
                <a:solidFill>
                  <a:srgbClr val="0F6E57"/>
                </a:solidFill>
                <a:latin typeface="Cambria" pitchFamily="34" charset="0"/>
                <a:ea typeface="Cambria" pitchFamily="34" charset="-122"/>
                <a:cs typeface="Cambria" pitchFamily="34" charset="-120"/>
              </a:rPr>
              <a:t>&lt; 200 ms</a:t>
            </a:r>
            <a:endParaRPr lang="en-US" sz="3400" dirty="0"/>
          </a:p>
        </p:txBody>
      </p:sp>
      <p:sp>
        <p:nvSpPr>
          <p:cNvPr id="14" name="Text 12"/>
          <p:cNvSpPr txBox="1"/>
          <p:nvPr/>
        </p:nvSpPr>
        <p:spPr>
          <a:xfrm>
            <a:off x="8275320" y="2240280"/>
            <a:ext cx="3108960" cy="320040"/>
          </a:xfrm>
          <a:prstGeom prst="rect">
            <a:avLst/>
          </a:prstGeom>
          <a:noFill/>
          <a:ln/>
        </p:spPr>
        <p:txBody>
          <a:bodyPr wrap="square" lIns="0" tIns="0" rIns="0" bIns="0" rtlCol="0" anchor="t"/>
          <a:lstStyle/>
          <a:p>
            <a:pPr marL="0" indent="0">
              <a:buNone/>
            </a:pPr>
            <a:r>
              <a:rPr lang="en-US" sz="1500" b="1" dirty="0">
                <a:solidFill>
                  <a:srgbClr val="1F2933"/>
                </a:solidFill>
                <a:latin typeface="Calibri" pitchFamily="34" charset="0"/>
                <a:ea typeface="Calibri" pitchFamily="34" charset="-122"/>
                <a:cs typeface="Calibri" pitchFamily="34" charset="-120"/>
              </a:rPr>
              <a:t>agregar un producto</a:t>
            </a:r>
            <a:endParaRPr lang="en-US" sz="1500" dirty="0"/>
          </a:p>
        </p:txBody>
      </p:sp>
      <p:sp>
        <p:nvSpPr>
          <p:cNvPr id="15" name="Text 13"/>
          <p:cNvSpPr txBox="1"/>
          <p:nvPr/>
        </p:nvSpPr>
        <p:spPr>
          <a:xfrm>
            <a:off x="8275320" y="2560320"/>
            <a:ext cx="3108960" cy="411480"/>
          </a:xfrm>
          <a:prstGeom prst="rect">
            <a:avLst/>
          </a:prstGeom>
          <a:noFill/>
          <a:ln/>
        </p:spPr>
        <p:txBody>
          <a:bodyPr wrap="square" lIns="0" tIns="0" rIns="0" bIns="0" rtlCol="0" anchor="t"/>
          <a:lstStyle/>
          <a:p>
            <a:pPr marL="0" indent="0">
              <a:buNone/>
            </a:pPr>
            <a:r>
              <a:rPr lang="en-US" sz="1200" dirty="0">
                <a:solidFill>
                  <a:srgbClr val="5B6670"/>
                </a:solidFill>
                <a:latin typeface="Calibri" pitchFamily="34" charset="0"/>
                <a:ea typeface="Calibri" pitchFamily="34" charset="-122"/>
                <a:cs typeface="Calibri" pitchFamily="34" charset="-120"/>
              </a:rPr>
              <a:t>el cajero escanea sin esperar</a:t>
            </a:r>
            <a:endParaRPr lang="en-US" sz="1200" dirty="0"/>
          </a:p>
        </p:txBody>
      </p:sp>
      <p:sp>
        <p:nvSpPr>
          <p:cNvPr id="16" name="Shape 14"/>
          <p:cNvSpPr/>
          <p:nvPr/>
        </p:nvSpPr>
        <p:spPr>
          <a:xfrm>
            <a:off x="548640" y="3291840"/>
            <a:ext cx="3520440" cy="1600200"/>
          </a:xfrm>
          <a:prstGeom prst="roundRect">
            <a:avLst>
              <a:gd name="adj" fmla="val 4571"/>
            </a:avLst>
          </a:prstGeom>
          <a:solidFill>
            <a:srgbClr val="E3F1EC"/>
          </a:solidFill>
          <a:ln/>
        </p:spPr>
      </p:sp>
      <p:sp>
        <p:nvSpPr>
          <p:cNvPr id="17" name="Text 15"/>
          <p:cNvSpPr txBox="1"/>
          <p:nvPr/>
        </p:nvSpPr>
        <p:spPr>
          <a:xfrm>
            <a:off x="777240" y="3429000"/>
            <a:ext cx="3108960" cy="640080"/>
          </a:xfrm>
          <a:prstGeom prst="rect">
            <a:avLst/>
          </a:prstGeom>
          <a:noFill/>
          <a:ln/>
        </p:spPr>
        <p:txBody>
          <a:bodyPr wrap="square" lIns="0" tIns="0" rIns="0" bIns="0" rtlCol="0" anchor="t"/>
          <a:lstStyle/>
          <a:p>
            <a:pPr marL="0" indent="0">
              <a:buNone/>
            </a:pPr>
            <a:r>
              <a:rPr lang="en-US" sz="3400" b="1" dirty="0">
                <a:solidFill>
                  <a:srgbClr val="0F6E57"/>
                </a:solidFill>
                <a:latin typeface="Cambria" pitchFamily="34" charset="0"/>
                <a:ea typeface="Cambria" pitchFamily="34" charset="-122"/>
                <a:cs typeface="Cambria" pitchFamily="34" charset="-120"/>
              </a:rPr>
              <a:t>&lt; 500 ms</a:t>
            </a:r>
            <a:endParaRPr lang="en-US" sz="3400" dirty="0"/>
          </a:p>
        </p:txBody>
      </p:sp>
      <p:sp>
        <p:nvSpPr>
          <p:cNvPr id="18" name="Text 16"/>
          <p:cNvSpPr txBox="1"/>
          <p:nvPr/>
        </p:nvSpPr>
        <p:spPr>
          <a:xfrm>
            <a:off x="777240" y="4069080"/>
            <a:ext cx="3108960" cy="320040"/>
          </a:xfrm>
          <a:prstGeom prst="rect">
            <a:avLst/>
          </a:prstGeom>
          <a:noFill/>
          <a:ln/>
        </p:spPr>
        <p:txBody>
          <a:bodyPr wrap="square" lIns="0" tIns="0" rIns="0" bIns="0" rtlCol="0" anchor="t"/>
          <a:lstStyle/>
          <a:p>
            <a:pPr marL="0" indent="0">
              <a:buNone/>
            </a:pPr>
            <a:r>
              <a:rPr lang="en-US" sz="1500" b="1" dirty="0">
                <a:solidFill>
                  <a:srgbClr val="1F2933"/>
                </a:solidFill>
                <a:latin typeface="Calibri" pitchFamily="34" charset="0"/>
                <a:ea typeface="Calibri" pitchFamily="34" charset="-122"/>
                <a:cs typeface="Calibri" pitchFamily="34" charset="-120"/>
              </a:rPr>
              <a:t>confirmar la venta</a:t>
            </a:r>
            <a:endParaRPr lang="en-US" sz="1500" dirty="0"/>
          </a:p>
        </p:txBody>
      </p:sp>
      <p:sp>
        <p:nvSpPr>
          <p:cNvPr id="19" name="Text 17"/>
          <p:cNvSpPr txBox="1"/>
          <p:nvPr/>
        </p:nvSpPr>
        <p:spPr>
          <a:xfrm>
            <a:off x="777240" y="4389120"/>
            <a:ext cx="3108960" cy="411480"/>
          </a:xfrm>
          <a:prstGeom prst="rect">
            <a:avLst/>
          </a:prstGeom>
          <a:noFill/>
          <a:ln/>
        </p:spPr>
        <p:txBody>
          <a:bodyPr wrap="square" lIns="0" tIns="0" rIns="0" bIns="0" rtlCol="0" anchor="t"/>
          <a:lstStyle/>
          <a:p>
            <a:pPr marL="0" indent="0">
              <a:buNone/>
            </a:pPr>
            <a:r>
              <a:rPr lang="en-US" sz="1200" dirty="0">
                <a:solidFill>
                  <a:srgbClr val="5B6670"/>
                </a:solidFill>
                <a:latin typeface="Calibri" pitchFamily="34" charset="0"/>
                <a:ea typeface="Calibri" pitchFamily="34" charset="-122"/>
                <a:cs typeface="Calibri" pitchFamily="34" charset="-120"/>
              </a:rPr>
              <a:t>el cliente está en el mostrador</a:t>
            </a:r>
            <a:endParaRPr lang="en-US" sz="1200" dirty="0"/>
          </a:p>
        </p:txBody>
      </p:sp>
      <p:sp>
        <p:nvSpPr>
          <p:cNvPr id="20" name="Shape 18"/>
          <p:cNvSpPr/>
          <p:nvPr/>
        </p:nvSpPr>
        <p:spPr>
          <a:xfrm>
            <a:off x="4297680" y="3291840"/>
            <a:ext cx="3520440" cy="1600200"/>
          </a:xfrm>
          <a:prstGeom prst="roundRect">
            <a:avLst>
              <a:gd name="adj" fmla="val 4571"/>
            </a:avLst>
          </a:prstGeom>
          <a:solidFill>
            <a:srgbClr val="E3F1EC"/>
          </a:solidFill>
          <a:ln/>
        </p:spPr>
      </p:sp>
      <p:sp>
        <p:nvSpPr>
          <p:cNvPr id="21" name="Text 19"/>
          <p:cNvSpPr txBox="1"/>
          <p:nvPr/>
        </p:nvSpPr>
        <p:spPr>
          <a:xfrm>
            <a:off x="4526280" y="3429000"/>
            <a:ext cx="3108960" cy="640080"/>
          </a:xfrm>
          <a:prstGeom prst="rect">
            <a:avLst/>
          </a:prstGeom>
          <a:noFill/>
          <a:ln/>
        </p:spPr>
        <p:txBody>
          <a:bodyPr wrap="square" lIns="0" tIns="0" rIns="0" bIns="0" rtlCol="0" anchor="t"/>
          <a:lstStyle/>
          <a:p>
            <a:pPr marL="0" indent="0">
              <a:buNone/>
            </a:pPr>
            <a:r>
              <a:rPr lang="en-US" sz="3400" b="1" dirty="0">
                <a:solidFill>
                  <a:srgbClr val="0F6E57"/>
                </a:solidFill>
                <a:latin typeface="Cambria" pitchFamily="34" charset="0"/>
                <a:ea typeface="Cambria" pitchFamily="34" charset="-122"/>
                <a:cs typeface="Cambria" pitchFamily="34" charset="-120"/>
              </a:rPr>
              <a:t>99.9 %</a:t>
            </a:r>
            <a:endParaRPr lang="en-US" sz="3400" dirty="0"/>
          </a:p>
        </p:txBody>
      </p:sp>
      <p:sp>
        <p:nvSpPr>
          <p:cNvPr id="22" name="Text 20"/>
          <p:cNvSpPr txBox="1"/>
          <p:nvPr/>
        </p:nvSpPr>
        <p:spPr>
          <a:xfrm>
            <a:off x="4526280" y="4069080"/>
            <a:ext cx="3108960" cy="320040"/>
          </a:xfrm>
          <a:prstGeom prst="rect">
            <a:avLst/>
          </a:prstGeom>
          <a:noFill/>
          <a:ln/>
        </p:spPr>
        <p:txBody>
          <a:bodyPr wrap="square" lIns="0" tIns="0" rIns="0" bIns="0" rtlCol="0" anchor="t"/>
          <a:lstStyle/>
          <a:p>
            <a:pPr marL="0" indent="0">
              <a:buNone/>
            </a:pPr>
            <a:r>
              <a:rPr lang="en-US" sz="1500" b="1" dirty="0">
                <a:solidFill>
                  <a:srgbClr val="1F2933"/>
                </a:solidFill>
                <a:latin typeface="Calibri" pitchFamily="34" charset="0"/>
                <a:ea typeface="Calibri" pitchFamily="34" charset="-122"/>
                <a:cs typeface="Calibri" pitchFamily="34" charset="-120"/>
              </a:rPr>
              <a:t>disponibilidad del cobro</a:t>
            </a:r>
            <a:endParaRPr lang="en-US" sz="1500" dirty="0"/>
          </a:p>
        </p:txBody>
      </p:sp>
      <p:sp>
        <p:nvSpPr>
          <p:cNvPr id="23" name="Text 21"/>
          <p:cNvSpPr txBox="1"/>
          <p:nvPr/>
        </p:nvSpPr>
        <p:spPr>
          <a:xfrm>
            <a:off x="4526280" y="4389120"/>
            <a:ext cx="3108960" cy="411480"/>
          </a:xfrm>
          <a:prstGeom prst="rect">
            <a:avLst/>
          </a:prstGeom>
          <a:noFill/>
          <a:ln/>
        </p:spPr>
        <p:txBody>
          <a:bodyPr wrap="square" lIns="0" tIns="0" rIns="0" bIns="0" rtlCol="0" anchor="t"/>
          <a:lstStyle/>
          <a:p>
            <a:pPr marL="0" indent="0">
              <a:buNone/>
            </a:pPr>
            <a:r>
              <a:rPr lang="en-US" sz="1200" dirty="0">
                <a:solidFill>
                  <a:srgbClr val="5B6670"/>
                </a:solidFill>
                <a:latin typeface="Calibri" pitchFamily="34" charset="0"/>
                <a:ea typeface="Calibri" pitchFamily="34" charset="-122"/>
                <a:cs typeface="Calibri" pitchFamily="34" charset="-120"/>
              </a:rPr>
              <a:t>unos 43 minutos caído al mes, como máximo</a:t>
            </a:r>
            <a:endParaRPr lang="en-US" sz="1200" dirty="0"/>
          </a:p>
        </p:txBody>
      </p:sp>
      <p:sp>
        <p:nvSpPr>
          <p:cNvPr id="24" name="Shape 22"/>
          <p:cNvSpPr/>
          <p:nvPr/>
        </p:nvSpPr>
        <p:spPr>
          <a:xfrm>
            <a:off x="8046720" y="3291840"/>
            <a:ext cx="3520440" cy="1600200"/>
          </a:xfrm>
          <a:prstGeom prst="roundRect">
            <a:avLst>
              <a:gd name="adj" fmla="val 4571"/>
            </a:avLst>
          </a:prstGeom>
          <a:solidFill>
            <a:srgbClr val="FBE7DD"/>
          </a:solidFill>
          <a:ln/>
        </p:spPr>
      </p:sp>
      <p:sp>
        <p:nvSpPr>
          <p:cNvPr id="25" name="Text 23"/>
          <p:cNvSpPr txBox="1"/>
          <p:nvPr/>
        </p:nvSpPr>
        <p:spPr>
          <a:xfrm>
            <a:off x="8275320" y="3520440"/>
            <a:ext cx="3108960" cy="1188720"/>
          </a:xfrm>
          <a:prstGeom prst="rect">
            <a:avLst/>
          </a:prstGeom>
          <a:noFill/>
          <a:ln/>
        </p:spPr>
        <p:txBody>
          <a:bodyPr wrap="square" lIns="0" tIns="0" rIns="0" bIns="0" rtlCol="0" anchor="t"/>
          <a:lstStyle/>
          <a:p>
            <a:pPr marL="0" indent="0">
              <a:buNone/>
            </a:pPr>
            <a:r>
              <a:rPr lang="en-US" sz="1800" b="1" dirty="0">
                <a:solidFill>
                  <a:srgbClr val="B83A0E"/>
                </a:solidFill>
                <a:latin typeface="Calibri" pitchFamily="34" charset="0"/>
                <a:ea typeface="Calibri" pitchFamily="34" charset="-122"/>
                <a:cs typeface="Calibri" pitchFamily="34" charset="-120"/>
              </a:rPr>
              <a:t>SUNAT se cae, y seguido.</a:t>
            </a:r>
            <a:endParaRPr lang="en-US" sz="1500" dirty="0"/>
          </a:p>
          <a:p>
            <a:pPr marL="0" indent="0">
              <a:buNone/>
            </a:pPr>
            <a:r>
              <a:rPr lang="en-US" sz="1400" dirty="0">
                <a:solidFill>
                  <a:srgbClr val="1F2933"/>
                </a:solidFill>
                <a:latin typeface="Calibri" pitchFamily="34" charset="0"/>
                <a:ea typeface="Calibri" pitchFamily="34" charset="-122"/>
                <a:cs typeface="Calibri" pitchFamily="34" charset="-120"/>
              </a:rPr>
              <a:t>Eso nunca puede impedir una venta.</a:t>
            </a:r>
            <a:endParaRPr lang="en-US" sz="1500" dirty="0"/>
          </a:p>
        </p:txBody>
      </p:sp>
      <p:sp>
        <p:nvSpPr>
          <p:cNvPr id="26" name="Text 24"/>
          <p:cNvSpPr txBox="1"/>
          <p:nvPr/>
        </p:nvSpPr>
        <p:spPr>
          <a:xfrm>
            <a:off x="548640" y="5349240"/>
            <a:ext cx="10972800" cy="457200"/>
          </a:xfrm>
          <a:prstGeom prst="rect">
            <a:avLst/>
          </a:prstGeom>
          <a:noFill/>
          <a:ln/>
        </p:spPr>
        <p:txBody>
          <a:bodyPr wrap="square" lIns="0" tIns="0" rIns="0" bIns="0" rtlCol="0" anchor="t"/>
          <a:lstStyle/>
          <a:p>
            <a:pPr marL="0" indent="0">
              <a:buNone/>
            </a:pPr>
            <a:r>
              <a:rPr lang="en-US" sz="1800" i="1" dirty="0">
                <a:solidFill>
                  <a:srgbClr val="5B6670"/>
                </a:solidFill>
                <a:latin typeface="Calibri" pitchFamily="34" charset="0"/>
                <a:ea typeface="Calibri" pitchFamily="34" charset="-122"/>
                <a:cs typeface="Calibri" pitchFamily="34" charset="-120"/>
              </a:rPr>
              <a:t>Todo lo que sigue se justifica contra estos números.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972800" cy="274320"/>
          </a:xfrm>
          <a:prstGeom prst="rect">
            <a:avLst/>
          </a:prstGeom>
          <a:noFill/>
          <a:ln/>
        </p:spPr>
        <p:txBody>
          <a:bodyPr wrap="square" lIns="0" tIns="0" rIns="0" bIns="0" rtlCol="0" anchor="t"/>
          <a:lstStyle/>
          <a:p>
            <a:pPr marL="0" indent="0">
              <a:buNone/>
            </a:pPr>
            <a:r>
              <a:rPr lang="en-US" sz="1100" b="1" kern="0" spc="200" dirty="0">
                <a:solidFill>
                  <a:srgbClr val="0F6E57"/>
                </a:solidFill>
                <a:latin typeface="Calibri" pitchFamily="34" charset="0"/>
                <a:ea typeface="Calibri" pitchFamily="34" charset="-122"/>
                <a:cs typeface="Calibri" pitchFamily="34" charset="-120"/>
              </a:rPr>
              <a:t>BLOQUE 1, JUAN</a:t>
            </a:r>
            <a:endParaRPr lang="en-US" sz="1100" dirty="0"/>
          </a:p>
        </p:txBody>
      </p:sp>
      <p:sp>
        <p:nvSpPr>
          <p:cNvPr id="3" name="Text 1"/>
          <p:cNvSpPr txBox="1"/>
          <p:nvPr/>
        </p:nvSpPr>
        <p:spPr>
          <a:xfrm>
            <a:off x="548640" y="594360"/>
            <a:ext cx="11064240" cy="685800"/>
          </a:xfrm>
          <a:prstGeom prst="rect">
            <a:avLst/>
          </a:prstGeom>
          <a:noFill/>
          <a:ln/>
        </p:spPr>
        <p:txBody>
          <a:bodyPr wrap="square" lIns="0" tIns="0" rIns="0" bIns="0" rtlCol="0" anchor="t"/>
          <a:lstStyle/>
          <a:p>
            <a:pPr marL="0" indent="0">
              <a:buNone/>
            </a:pPr>
            <a:r>
              <a:rPr lang="en-US" sz="3000" b="1" dirty="0">
                <a:solidFill>
                  <a:srgbClr val="1F2933"/>
                </a:solidFill>
                <a:latin typeface="Cambria" pitchFamily="34" charset="0"/>
                <a:ea typeface="Cambria" pitchFamily="34" charset="-122"/>
                <a:cs typeface="Cambria" pitchFamily="34" charset="-120"/>
              </a:rPr>
              <a:t>De cuatro servicios a nueve: cambió la pregunta</a:t>
            </a:r>
            <a:endParaRPr lang="en-US" sz="3000" dirty="0"/>
          </a:p>
        </p:txBody>
      </p:sp>
      <p:sp>
        <p:nvSpPr>
          <p:cNvPr id="4" name="Text 2"/>
          <p:cNvSpPr txBox="1"/>
          <p:nvPr/>
        </p:nvSpPr>
        <p:spPr>
          <a:xfrm>
            <a:off x="548640" y="1371600"/>
            <a:ext cx="11064240" cy="640080"/>
          </a:xfrm>
          <a:prstGeom prst="rect">
            <a:avLst/>
          </a:prstGeom>
          <a:noFill/>
          <a:ln/>
        </p:spPr>
        <p:txBody>
          <a:bodyPr wrap="square" lIns="0" tIns="0" rIns="0" bIns="0" rtlCol="0" anchor="t"/>
          <a:lstStyle/>
          <a:p>
            <a:pPr marL="0" indent="0">
              <a:buNone/>
            </a:pPr>
            <a:r>
              <a:rPr lang="en-US" sz="1600" dirty="0">
                <a:solidFill>
                  <a:srgbClr val="5B6670"/>
                </a:solidFill>
                <a:latin typeface="Calibri" pitchFamily="34" charset="0"/>
                <a:ea typeface="Calibri" pitchFamily="34" charset="-122"/>
                <a:cs typeface="Calibri" pitchFamily="34" charset="-120"/>
              </a:rPr>
              <a:t>Con cuatro servicios cortamos por lo que cambia junto. Con 500 locales también hay que cortar por lo que carga distinto y por lo que falla junto.</a:t>
            </a:r>
            <a:endParaRPr lang="en-US" sz="1600" dirty="0"/>
          </a:p>
        </p:txBody>
      </p:sp>
      <p:sp>
        <p:nvSpPr>
          <p:cNvPr id="5" name="Shape 3"/>
          <p:cNvSpPr/>
          <p:nvPr/>
        </p:nvSpPr>
        <p:spPr>
          <a:xfrm>
            <a:off x="548640" y="2148840"/>
            <a:ext cx="3520440" cy="2331720"/>
          </a:xfrm>
          <a:prstGeom prst="roundRect">
            <a:avLst>
              <a:gd name="adj" fmla="val 3137"/>
            </a:avLst>
          </a:prstGeom>
          <a:solidFill>
            <a:srgbClr val="E3F1EC"/>
          </a:solidFill>
          <a:ln/>
        </p:spPr>
      </p:sp>
      <p:sp>
        <p:nvSpPr>
          <p:cNvPr id="6" name="Shape 4"/>
          <p:cNvSpPr/>
          <p:nvPr/>
        </p:nvSpPr>
        <p:spPr>
          <a:xfrm>
            <a:off x="777240" y="2331720"/>
            <a:ext cx="457200" cy="457200"/>
          </a:xfrm>
          <a:prstGeom prst="ellipse">
            <a:avLst/>
          </a:prstGeom>
          <a:solidFill>
            <a:srgbClr val="0F6E57"/>
          </a:solidFill>
          <a:ln/>
        </p:spPr>
      </p:sp>
      <p:sp>
        <p:nvSpPr>
          <p:cNvPr id="7" name="Text 5"/>
          <p:cNvSpPr txBox="1"/>
          <p:nvPr/>
        </p:nvSpPr>
        <p:spPr>
          <a:xfrm>
            <a:off x="777240" y="233172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371600" y="2423160"/>
            <a:ext cx="2560320" cy="274320"/>
          </a:xfrm>
          <a:prstGeom prst="rect">
            <a:avLst/>
          </a:prstGeom>
          <a:noFill/>
          <a:ln/>
        </p:spPr>
        <p:txBody>
          <a:bodyPr wrap="square" lIns="0" tIns="0" rIns="0" bIns="0" rtlCol="0" anchor="t"/>
          <a:lstStyle/>
          <a:p>
            <a:pPr marL="0" indent="0">
              <a:buNone/>
            </a:pPr>
            <a:r>
              <a:rPr lang="en-US" sz="1100" b="1" kern="0" spc="100" dirty="0">
                <a:solidFill>
                  <a:srgbClr val="0F6E57"/>
                </a:solidFill>
                <a:latin typeface="Calibri" pitchFamily="34" charset="0"/>
                <a:ea typeface="Calibri" pitchFamily="34" charset="-122"/>
                <a:cs typeface="Calibri" pitchFamily="34" charset="-120"/>
              </a:rPr>
              <a:t>CARGA DISTINTO</a:t>
            </a:r>
            <a:endParaRPr lang="en-US" sz="1100" dirty="0"/>
          </a:p>
        </p:txBody>
      </p:sp>
      <p:sp>
        <p:nvSpPr>
          <p:cNvPr id="9" name="Text 7"/>
          <p:cNvSpPr txBox="1"/>
          <p:nvPr/>
        </p:nvSpPr>
        <p:spPr>
          <a:xfrm>
            <a:off x="777240" y="2926080"/>
            <a:ext cx="3108960" cy="365760"/>
          </a:xfrm>
          <a:prstGeom prst="rect">
            <a:avLst/>
          </a:prstGeom>
          <a:noFill/>
          <a:ln/>
        </p:spPr>
        <p:txBody>
          <a:bodyPr wrap="square" lIns="0" tIns="0" rIns="0" bIns="0" rtlCol="0" anchor="t"/>
          <a:lstStyle/>
          <a:p>
            <a:pPr marL="0" indent="0">
              <a:buNone/>
            </a:pPr>
            <a:r>
              <a:rPr lang="en-US" sz="1600" b="1" dirty="0">
                <a:solidFill>
                  <a:srgbClr val="1F2933"/>
                </a:solidFill>
                <a:latin typeface="Calibri" pitchFamily="34" charset="0"/>
                <a:ea typeface="Calibri" pitchFamily="34" charset="-122"/>
                <a:cs typeface="Calibri" pitchFamily="34" charset="-120"/>
              </a:rPr>
              <a:t>Catálogo se separa de inventario</a:t>
            </a:r>
            <a:endParaRPr lang="en-US" sz="1600" dirty="0"/>
          </a:p>
        </p:txBody>
      </p:sp>
      <p:sp>
        <p:nvSpPr>
          <p:cNvPr id="10" name="Text 8"/>
          <p:cNvSpPr txBox="1"/>
          <p:nvPr/>
        </p:nvSpPr>
        <p:spPr>
          <a:xfrm>
            <a:off x="777240" y="3337560"/>
            <a:ext cx="3108960" cy="1097280"/>
          </a:xfrm>
          <a:prstGeom prst="rect">
            <a:avLst/>
          </a:prstGeom>
          <a:noFill/>
          <a:ln/>
        </p:spPr>
        <p:txBody>
          <a:bodyPr wrap="square" lIns="0" tIns="0" rIns="0" bIns="0" rtlCol="0" anchor="t"/>
          <a:lstStyle/>
          <a:p>
            <a:pPr marL="0" indent="0">
              <a:buNone/>
            </a:pPr>
            <a:r>
              <a:rPr lang="en-US" sz="1250" dirty="0">
                <a:solidFill>
                  <a:srgbClr val="5B6670"/>
                </a:solidFill>
                <a:latin typeface="Calibri" pitchFamily="34" charset="0"/>
                <a:ea typeface="Calibri" pitchFamily="34" charset="-122"/>
                <a:cs typeface="Calibri" pitchFamily="34" charset="-120"/>
              </a:rPr>
              <a:t>Catálogo es casi pura lectura y se cachea. Inventario escribe sobre la misma fila todo el día. Juntos, los bloqueos del stock frenan las lecturas.</a:t>
            </a:r>
            <a:endParaRPr lang="en-US" sz="1250" dirty="0"/>
          </a:p>
        </p:txBody>
      </p:sp>
      <p:sp>
        <p:nvSpPr>
          <p:cNvPr id="11" name="Shape 9"/>
          <p:cNvSpPr/>
          <p:nvPr/>
        </p:nvSpPr>
        <p:spPr>
          <a:xfrm>
            <a:off x="4297680" y="2148840"/>
            <a:ext cx="3520440" cy="2331720"/>
          </a:xfrm>
          <a:prstGeom prst="roundRect">
            <a:avLst>
              <a:gd name="adj" fmla="val 3137"/>
            </a:avLst>
          </a:prstGeom>
          <a:solidFill>
            <a:srgbClr val="E3F1EC"/>
          </a:solidFill>
          <a:ln/>
        </p:spPr>
      </p:sp>
      <p:sp>
        <p:nvSpPr>
          <p:cNvPr id="12" name="Shape 10"/>
          <p:cNvSpPr/>
          <p:nvPr/>
        </p:nvSpPr>
        <p:spPr>
          <a:xfrm>
            <a:off x="4526280" y="2331720"/>
            <a:ext cx="457200" cy="457200"/>
          </a:xfrm>
          <a:prstGeom prst="ellipse">
            <a:avLst/>
          </a:prstGeom>
          <a:solidFill>
            <a:srgbClr val="0F6E57"/>
          </a:solidFill>
          <a:ln/>
        </p:spPr>
      </p:sp>
      <p:sp>
        <p:nvSpPr>
          <p:cNvPr id="13" name="Text 11"/>
          <p:cNvSpPr txBox="1"/>
          <p:nvPr/>
        </p:nvSpPr>
        <p:spPr>
          <a:xfrm>
            <a:off x="4526280" y="233172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5120640" y="2423160"/>
            <a:ext cx="2560320" cy="274320"/>
          </a:xfrm>
          <a:prstGeom prst="rect">
            <a:avLst/>
          </a:prstGeom>
          <a:noFill/>
          <a:ln/>
        </p:spPr>
        <p:txBody>
          <a:bodyPr wrap="square" lIns="0" tIns="0" rIns="0" bIns="0" rtlCol="0" anchor="t"/>
          <a:lstStyle/>
          <a:p>
            <a:pPr marL="0" indent="0">
              <a:buNone/>
            </a:pPr>
            <a:r>
              <a:rPr lang="en-US" sz="1100" b="1" kern="0" spc="100" dirty="0">
                <a:solidFill>
                  <a:srgbClr val="0F6E57"/>
                </a:solidFill>
                <a:latin typeface="Calibri" pitchFamily="34" charset="0"/>
                <a:ea typeface="Calibri" pitchFamily="34" charset="-122"/>
                <a:cs typeface="Calibri" pitchFamily="34" charset="-120"/>
              </a:rPr>
              <a:t>FALLA JUNTO</a:t>
            </a:r>
            <a:endParaRPr lang="en-US" sz="1100" dirty="0"/>
          </a:p>
        </p:txBody>
      </p:sp>
      <p:sp>
        <p:nvSpPr>
          <p:cNvPr id="15" name="Text 13"/>
          <p:cNvSpPr txBox="1"/>
          <p:nvPr/>
        </p:nvSpPr>
        <p:spPr>
          <a:xfrm>
            <a:off x="4526280" y="2926080"/>
            <a:ext cx="3108960" cy="365760"/>
          </a:xfrm>
          <a:prstGeom prst="rect">
            <a:avLst/>
          </a:prstGeom>
          <a:noFill/>
          <a:ln/>
        </p:spPr>
        <p:txBody>
          <a:bodyPr wrap="square" lIns="0" tIns="0" rIns="0" bIns="0" rtlCol="0" anchor="t"/>
          <a:lstStyle/>
          <a:p>
            <a:pPr marL="0" indent="0">
              <a:buNone/>
            </a:pPr>
            <a:r>
              <a:rPr lang="en-US" sz="1600" b="1" dirty="0">
                <a:solidFill>
                  <a:srgbClr val="1F2933"/>
                </a:solidFill>
                <a:latin typeface="Calibri" pitchFamily="34" charset="0"/>
                <a:ea typeface="Calibri" pitchFamily="34" charset="-122"/>
                <a:cs typeface="Calibri" pitchFamily="34" charset="-120"/>
              </a:rPr>
              <a:t>Facturación se separa de ventas</a:t>
            </a:r>
            <a:endParaRPr lang="en-US" sz="1600" dirty="0"/>
          </a:p>
        </p:txBody>
      </p:sp>
      <p:sp>
        <p:nvSpPr>
          <p:cNvPr id="16" name="Text 14"/>
          <p:cNvSpPr txBox="1"/>
          <p:nvPr/>
        </p:nvSpPr>
        <p:spPr>
          <a:xfrm>
            <a:off x="4526280" y="3337560"/>
            <a:ext cx="3108960" cy="1097280"/>
          </a:xfrm>
          <a:prstGeom prst="rect">
            <a:avLst/>
          </a:prstGeom>
          <a:noFill/>
          <a:ln/>
        </p:spPr>
        <p:txBody>
          <a:bodyPr wrap="square" lIns="0" tIns="0" rIns="0" bIns="0" rtlCol="0" anchor="t"/>
          <a:lstStyle/>
          <a:p>
            <a:pPr marL="0" indent="0">
              <a:buNone/>
            </a:pPr>
            <a:r>
              <a:rPr lang="en-US" sz="1250" dirty="0">
                <a:solidFill>
                  <a:srgbClr val="5B6670"/>
                </a:solidFill>
                <a:latin typeface="Calibri" pitchFamily="34" charset="0"/>
                <a:ea typeface="Calibri" pitchFamily="34" charset="-122"/>
                <a:cs typeface="Calibri" pitchFamily="34" charset="-120"/>
              </a:rPr>
              <a:t>Es lo único que habla con un tercero lento que se cae: SUNAT. Si SUNAT cae, quedan comprobantes pendientes, no cajas paradas.</a:t>
            </a:r>
            <a:endParaRPr lang="en-US" sz="1250" dirty="0"/>
          </a:p>
        </p:txBody>
      </p:sp>
      <p:sp>
        <p:nvSpPr>
          <p:cNvPr id="17" name="Shape 15"/>
          <p:cNvSpPr/>
          <p:nvPr/>
        </p:nvSpPr>
        <p:spPr>
          <a:xfrm>
            <a:off x="8046720" y="2148840"/>
            <a:ext cx="3520440" cy="2331720"/>
          </a:xfrm>
          <a:prstGeom prst="roundRect">
            <a:avLst>
              <a:gd name="adj" fmla="val 3137"/>
            </a:avLst>
          </a:prstGeom>
          <a:solidFill>
            <a:srgbClr val="E3F1EC"/>
          </a:solidFill>
          <a:ln/>
        </p:spPr>
      </p:sp>
      <p:sp>
        <p:nvSpPr>
          <p:cNvPr id="18" name="Shape 16"/>
          <p:cNvSpPr/>
          <p:nvPr/>
        </p:nvSpPr>
        <p:spPr>
          <a:xfrm>
            <a:off x="8275320" y="2331720"/>
            <a:ext cx="457200" cy="457200"/>
          </a:xfrm>
          <a:prstGeom prst="ellipse">
            <a:avLst/>
          </a:prstGeom>
          <a:solidFill>
            <a:srgbClr val="0F6E57"/>
          </a:solidFill>
          <a:ln/>
        </p:spPr>
      </p:sp>
      <p:sp>
        <p:nvSpPr>
          <p:cNvPr id="19" name="Text 17"/>
          <p:cNvSpPr txBox="1"/>
          <p:nvPr/>
        </p:nvSpPr>
        <p:spPr>
          <a:xfrm>
            <a:off x="8275320" y="2331720"/>
            <a:ext cx="45720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txBox="1"/>
          <p:nvPr/>
        </p:nvSpPr>
        <p:spPr>
          <a:xfrm>
            <a:off x="8869680" y="2423160"/>
            <a:ext cx="2560320" cy="274320"/>
          </a:xfrm>
          <a:prstGeom prst="rect">
            <a:avLst/>
          </a:prstGeom>
          <a:noFill/>
          <a:ln/>
        </p:spPr>
        <p:txBody>
          <a:bodyPr wrap="square" lIns="0" tIns="0" rIns="0" bIns="0" rtlCol="0" anchor="t"/>
          <a:lstStyle/>
          <a:p>
            <a:pPr marL="0" indent="0">
              <a:buNone/>
            </a:pPr>
            <a:r>
              <a:rPr lang="en-US" sz="1100" b="1" kern="0" spc="100" dirty="0">
                <a:solidFill>
                  <a:srgbClr val="0F6E57"/>
                </a:solidFill>
                <a:latin typeface="Calibri" pitchFamily="34" charset="0"/>
                <a:ea typeface="Calibri" pitchFamily="34" charset="-122"/>
                <a:cs typeface="Calibri" pitchFamily="34" charset="-120"/>
              </a:rPr>
              <a:t>MOLESTA A OTROS</a:t>
            </a:r>
            <a:endParaRPr lang="en-US" sz="1100" dirty="0"/>
          </a:p>
        </p:txBody>
      </p:sp>
      <p:sp>
        <p:nvSpPr>
          <p:cNvPr id="21" name="Text 19"/>
          <p:cNvSpPr txBox="1"/>
          <p:nvPr/>
        </p:nvSpPr>
        <p:spPr>
          <a:xfrm>
            <a:off x="8275320" y="2926080"/>
            <a:ext cx="3108960" cy="365760"/>
          </a:xfrm>
          <a:prstGeom prst="rect">
            <a:avLst/>
          </a:prstGeom>
          <a:noFill/>
          <a:ln/>
        </p:spPr>
        <p:txBody>
          <a:bodyPr wrap="square" lIns="0" tIns="0" rIns="0" bIns="0" rtlCol="0" anchor="t"/>
          <a:lstStyle/>
          <a:p>
            <a:pPr marL="0" indent="0">
              <a:buNone/>
            </a:pPr>
            <a:r>
              <a:rPr lang="en-US" sz="1600" b="1" dirty="0">
                <a:solidFill>
                  <a:srgbClr val="1F2933"/>
                </a:solidFill>
                <a:latin typeface="Calibri" pitchFamily="34" charset="0"/>
                <a:ea typeface="Calibri" pitchFamily="34" charset="-122"/>
                <a:cs typeface="Calibri" pitchFamily="34" charset="-120"/>
              </a:rPr>
              <a:t>Reportes se separa de ventas</a:t>
            </a:r>
            <a:endParaRPr lang="en-US" sz="1600" dirty="0"/>
          </a:p>
        </p:txBody>
      </p:sp>
      <p:sp>
        <p:nvSpPr>
          <p:cNvPr id="22" name="Text 20"/>
          <p:cNvSpPr txBox="1"/>
          <p:nvPr/>
        </p:nvSpPr>
        <p:spPr>
          <a:xfrm>
            <a:off x="8275320" y="3337560"/>
            <a:ext cx="3108960" cy="1097280"/>
          </a:xfrm>
          <a:prstGeom prst="rect">
            <a:avLst/>
          </a:prstGeom>
          <a:noFill/>
          <a:ln/>
        </p:spPr>
        <p:txBody>
          <a:bodyPr wrap="square" lIns="0" tIns="0" rIns="0" bIns="0" rtlCol="0" anchor="t"/>
          <a:lstStyle/>
          <a:p>
            <a:pPr marL="0" indent="0">
              <a:buNone/>
            </a:pPr>
            <a:r>
              <a:rPr lang="en-US" sz="1250" dirty="0">
                <a:solidFill>
                  <a:srgbClr val="5B6670"/>
                </a:solidFill>
                <a:latin typeface="Calibri" pitchFamily="34" charset="0"/>
                <a:ea typeface="Calibri" pitchFamily="34" charset="-122"/>
                <a:cs typeface="Calibri" pitchFamily="34" charset="-120"/>
              </a:rPr>
              <a:t>Un reporte de tres meses no puede tocar la base de las cajas. Reportes tiene su propia base, que se llena con eventos.</a:t>
            </a:r>
            <a:endParaRPr lang="en-US" sz="1250" dirty="0"/>
          </a:p>
        </p:txBody>
      </p:sp>
      <p:sp>
        <p:nvSpPr>
          <p:cNvPr id="23" name="Shape 21"/>
          <p:cNvSpPr/>
          <p:nvPr/>
        </p:nvSpPr>
        <p:spPr>
          <a:xfrm>
            <a:off x="548640" y="4709160"/>
            <a:ext cx="3520440" cy="1600200"/>
          </a:xfrm>
          <a:prstGeom prst="roundRect">
            <a:avLst>
              <a:gd name="adj" fmla="val 4571"/>
            </a:avLst>
          </a:prstGeom>
          <a:solidFill>
            <a:srgbClr val="EEF1F3"/>
          </a:solidFill>
          <a:ln/>
        </p:spPr>
      </p:sp>
      <p:sp>
        <p:nvSpPr>
          <p:cNvPr id="24" name="Text 22"/>
          <p:cNvSpPr txBox="1"/>
          <p:nvPr/>
        </p:nvSpPr>
        <p:spPr>
          <a:xfrm>
            <a:off x="777240" y="4828032"/>
            <a:ext cx="3108960" cy="365760"/>
          </a:xfrm>
          <a:prstGeom prst="rect">
            <a:avLst/>
          </a:prstGeom>
          <a:noFill/>
          <a:ln/>
        </p:spPr>
        <p:txBody>
          <a:bodyPr wrap="square" lIns="0" tIns="0" rIns="0" bIns="0" rtlCol="0" anchor="t"/>
          <a:lstStyle/>
          <a:p>
            <a:pPr marL="0" indent="0">
              <a:buNone/>
            </a:pPr>
            <a:r>
              <a:rPr lang="en-US" sz="1700" b="1" dirty="0">
                <a:solidFill>
                  <a:srgbClr val="1F2933"/>
                </a:solidFill>
                <a:latin typeface="Calibri" pitchFamily="34" charset="0"/>
                <a:ea typeface="Calibri" pitchFamily="34" charset="-122"/>
                <a:cs typeface="Calibri" pitchFamily="34" charset="-120"/>
              </a:rPr>
              <a:t>4 servicios</a:t>
            </a:r>
            <a:endParaRPr lang="en-US" sz="1700" dirty="0"/>
          </a:p>
        </p:txBody>
      </p:sp>
      <p:sp>
        <p:nvSpPr>
          <p:cNvPr id="25" name="Text 23"/>
          <p:cNvSpPr txBox="1"/>
          <p:nvPr/>
        </p:nvSpPr>
        <p:spPr>
          <a:xfrm>
            <a:off x="777240" y="5212080"/>
            <a:ext cx="3108960" cy="1005840"/>
          </a:xfrm>
          <a:prstGeom prst="rect">
            <a:avLst/>
          </a:prstGeom>
          <a:noFill/>
          <a:ln/>
        </p:spPr>
        <p:txBody>
          <a:bodyPr wrap="square" lIns="0" tIns="0" rIns="0" bIns="0" rtlCol="0" anchor="t"/>
          <a:lstStyle/>
          <a:p>
            <a:pPr marL="0" indent="0">
              <a:buNone/>
            </a:pPr>
            <a:r>
              <a:rPr lang="en-US" sz="1250" dirty="0">
                <a:solidFill>
                  <a:srgbClr val="1F2933"/>
                </a:solidFill>
                <a:latin typeface="Calibri" pitchFamily="34" charset="0"/>
                <a:ea typeface="Calibri" pitchFamily="34" charset="-122"/>
                <a:cs typeface="Calibri" pitchFamily="34" charset="-120"/>
              </a:rPr>
              <a:t>2 saltos para vender</a:t>
            </a:r>
            <a:endParaRPr lang="en-US" sz="1250" dirty="0"/>
          </a:p>
          <a:p>
            <a:pPr marL="0" indent="0">
              <a:buNone/>
            </a:pPr>
            <a:r>
              <a:rPr lang="en-US" sz="1250" dirty="0">
                <a:solidFill>
                  <a:srgbClr val="1F2933"/>
                </a:solidFill>
                <a:latin typeface="Calibri" pitchFamily="34" charset="0"/>
                <a:ea typeface="Calibri" pitchFamily="34" charset="-122"/>
                <a:cs typeface="Calibri" pitchFamily="34" charset="-120"/>
              </a:rPr>
              <a:t>SUNAT no aislada</a:t>
            </a:r>
            <a:endParaRPr lang="en-US" sz="1250" dirty="0"/>
          </a:p>
          <a:p>
            <a:pPr marL="0" indent="0">
              <a:buNone/>
            </a:pPr>
            <a:r>
              <a:rPr lang="en-US" sz="1250" dirty="0">
                <a:solidFill>
                  <a:srgbClr val="1F2933"/>
                </a:solidFill>
                <a:latin typeface="Calibri" pitchFamily="34" charset="0"/>
                <a:ea typeface="Calibri" pitchFamily="34" charset="-122"/>
                <a:cs typeface="Calibri" pitchFamily="34" charset="-120"/>
              </a:rPr>
              <a:t>sirve para 20 locales</a:t>
            </a:r>
            <a:endParaRPr lang="en-US" sz="1250" dirty="0"/>
          </a:p>
        </p:txBody>
      </p:sp>
      <p:sp>
        <p:nvSpPr>
          <p:cNvPr id="26" name="Shape 24"/>
          <p:cNvSpPr/>
          <p:nvPr/>
        </p:nvSpPr>
        <p:spPr>
          <a:xfrm>
            <a:off x="4297680" y="4709160"/>
            <a:ext cx="3520440" cy="1600200"/>
          </a:xfrm>
          <a:prstGeom prst="roundRect">
            <a:avLst>
              <a:gd name="adj" fmla="val 4571"/>
            </a:avLst>
          </a:prstGeom>
          <a:solidFill>
            <a:srgbClr val="0F6E57"/>
          </a:solidFill>
          <a:ln/>
        </p:spPr>
      </p:sp>
      <p:sp>
        <p:nvSpPr>
          <p:cNvPr id="27" name="Text 25"/>
          <p:cNvSpPr txBox="1"/>
          <p:nvPr/>
        </p:nvSpPr>
        <p:spPr>
          <a:xfrm>
            <a:off x="4526280" y="4828032"/>
            <a:ext cx="3108960" cy="365760"/>
          </a:xfrm>
          <a:prstGeom prst="rect">
            <a:avLst/>
          </a:prstGeom>
          <a:noFill/>
          <a:ln/>
        </p:spPr>
        <p:txBody>
          <a:bodyPr wrap="square" lIns="0" tIns="0" rIns="0" bIns="0" rtlCol="0" anchor="t"/>
          <a:lstStyle/>
          <a:p>
            <a:pPr marL="0" indent="0">
              <a:buNone/>
            </a:pPr>
            <a:r>
              <a:rPr lang="en-US" sz="1700" b="1" dirty="0">
                <a:solidFill>
                  <a:srgbClr val="FFFFFF"/>
                </a:solidFill>
                <a:latin typeface="Calibri" pitchFamily="34" charset="0"/>
                <a:ea typeface="Calibri" pitchFamily="34" charset="-122"/>
                <a:cs typeface="Calibri" pitchFamily="34" charset="-120"/>
              </a:rPr>
              <a:t>9 servicios, elegido</a:t>
            </a:r>
            <a:endParaRPr lang="en-US" sz="1700" dirty="0"/>
          </a:p>
        </p:txBody>
      </p:sp>
      <p:sp>
        <p:nvSpPr>
          <p:cNvPr id="28" name="Text 26"/>
          <p:cNvSpPr txBox="1"/>
          <p:nvPr/>
        </p:nvSpPr>
        <p:spPr>
          <a:xfrm>
            <a:off x="4526280" y="5212080"/>
            <a:ext cx="3108960" cy="1005840"/>
          </a:xfrm>
          <a:prstGeom prst="rect">
            <a:avLst/>
          </a:prstGeom>
          <a:noFill/>
          <a:ln/>
        </p:spPr>
        <p:txBody>
          <a:bodyPr wrap="square" lIns="0" tIns="0" rIns="0" bIns="0" rtlCol="0" anchor="t"/>
          <a:lstStyle/>
          <a:p>
            <a:pPr marL="0" indent="0">
              <a:buNone/>
            </a:pPr>
            <a:r>
              <a:rPr lang="en-US" sz="1250" dirty="0">
                <a:solidFill>
                  <a:srgbClr val="FFFFFF"/>
                </a:solidFill>
                <a:latin typeface="Calibri" pitchFamily="34" charset="0"/>
                <a:ea typeface="Calibri" pitchFamily="34" charset="-122"/>
                <a:cs typeface="Calibri" pitchFamily="34" charset="-120"/>
              </a:rPr>
              <a:t>3 saltos para vender</a:t>
            </a:r>
            <a:endParaRPr lang="en-US" sz="1250" dirty="0"/>
          </a:p>
          <a:p>
            <a:pPr marL="0" indent="0">
              <a:buNone/>
            </a:pPr>
            <a:r>
              <a:rPr lang="en-US" sz="1250" dirty="0">
                <a:solidFill>
                  <a:srgbClr val="FFFFFF"/>
                </a:solidFill>
                <a:latin typeface="Calibri" pitchFamily="34" charset="0"/>
                <a:ea typeface="Calibri" pitchFamily="34" charset="-122"/>
                <a:cs typeface="Calibri" pitchFamily="34" charset="-120"/>
              </a:rPr>
              <a:t>SUNAT aislada</a:t>
            </a:r>
            <a:endParaRPr lang="en-US" sz="1250" dirty="0"/>
          </a:p>
          <a:p>
            <a:pPr marL="0" indent="0">
              <a:buNone/>
            </a:pPr>
            <a:r>
              <a:rPr lang="en-US" sz="1250" dirty="0">
                <a:solidFill>
                  <a:srgbClr val="FFFFFF"/>
                </a:solidFill>
                <a:latin typeface="Calibri" pitchFamily="34" charset="0"/>
                <a:ea typeface="Calibri" pitchFamily="34" charset="-122"/>
                <a:cs typeface="Calibri" pitchFamily="34" charset="-120"/>
              </a:rPr>
              <a:t>sirve para 500 locales</a:t>
            </a:r>
            <a:endParaRPr lang="en-US" sz="1250" dirty="0"/>
          </a:p>
        </p:txBody>
      </p:sp>
      <p:sp>
        <p:nvSpPr>
          <p:cNvPr id="29" name="Shape 27"/>
          <p:cNvSpPr/>
          <p:nvPr/>
        </p:nvSpPr>
        <p:spPr>
          <a:xfrm>
            <a:off x="8046720" y="4709160"/>
            <a:ext cx="3520440" cy="1600200"/>
          </a:xfrm>
          <a:prstGeom prst="roundRect">
            <a:avLst>
              <a:gd name="adj" fmla="val 4571"/>
            </a:avLst>
          </a:prstGeom>
          <a:solidFill>
            <a:srgbClr val="FBE7DD"/>
          </a:solidFill>
          <a:ln/>
        </p:spPr>
      </p:sp>
      <p:sp>
        <p:nvSpPr>
          <p:cNvPr id="30" name="Text 28"/>
          <p:cNvSpPr txBox="1"/>
          <p:nvPr/>
        </p:nvSpPr>
        <p:spPr>
          <a:xfrm>
            <a:off x="8275320" y="4828032"/>
            <a:ext cx="3108960" cy="365760"/>
          </a:xfrm>
          <a:prstGeom prst="rect">
            <a:avLst/>
          </a:prstGeom>
          <a:noFill/>
          <a:ln/>
        </p:spPr>
        <p:txBody>
          <a:bodyPr wrap="square" lIns="0" tIns="0" rIns="0" bIns="0" rtlCol="0" anchor="t"/>
          <a:lstStyle/>
          <a:p>
            <a:pPr marL="0" indent="0">
              <a:buNone/>
            </a:pPr>
            <a:r>
              <a:rPr lang="en-US" sz="1700" b="1" dirty="0">
                <a:solidFill>
                  <a:srgbClr val="1F2933"/>
                </a:solidFill>
                <a:latin typeface="Calibri" pitchFamily="34" charset="0"/>
                <a:ea typeface="Calibri" pitchFamily="34" charset="-122"/>
                <a:cs typeface="Calibri" pitchFamily="34" charset="-120"/>
              </a:rPr>
              <a:t>15 o más</a:t>
            </a:r>
            <a:endParaRPr lang="en-US" sz="1700" dirty="0"/>
          </a:p>
        </p:txBody>
      </p:sp>
      <p:sp>
        <p:nvSpPr>
          <p:cNvPr id="31" name="Text 29"/>
          <p:cNvSpPr txBox="1"/>
          <p:nvPr/>
        </p:nvSpPr>
        <p:spPr>
          <a:xfrm>
            <a:off x="8275320" y="5212080"/>
            <a:ext cx="3108960" cy="1005840"/>
          </a:xfrm>
          <a:prstGeom prst="rect">
            <a:avLst/>
          </a:prstGeom>
          <a:noFill/>
          <a:ln/>
        </p:spPr>
        <p:txBody>
          <a:bodyPr wrap="square" lIns="0" tIns="0" rIns="0" bIns="0" rtlCol="0" anchor="t"/>
          <a:lstStyle/>
          <a:p>
            <a:pPr marL="0" indent="0">
              <a:buNone/>
            </a:pPr>
            <a:r>
              <a:rPr lang="en-US" sz="1250" dirty="0">
                <a:solidFill>
                  <a:srgbClr val="1F2933"/>
                </a:solidFill>
                <a:latin typeface="Calibri" pitchFamily="34" charset="0"/>
                <a:ea typeface="Calibri" pitchFamily="34" charset="-122"/>
                <a:cs typeface="Calibri" pitchFamily="34" charset="-120"/>
              </a:rPr>
              <a:t>6 a 8 saltos para vender</a:t>
            </a:r>
            <a:endParaRPr lang="en-US" sz="1250" dirty="0"/>
          </a:p>
          <a:p>
            <a:pPr marL="0" indent="0">
              <a:buNone/>
            </a:pPr>
            <a:r>
              <a:rPr lang="en-US" sz="1250" dirty="0">
                <a:solidFill>
                  <a:srgbClr val="1F2933"/>
                </a:solidFill>
                <a:latin typeface="Calibri" pitchFamily="34" charset="0"/>
                <a:ea typeface="Calibri" pitchFamily="34" charset="-122"/>
                <a:cs typeface="Calibri" pitchFamily="34" charset="-120"/>
              </a:rPr>
              <a:t>SUNAT aislada</a:t>
            </a:r>
            <a:endParaRPr lang="en-US" sz="1250" dirty="0"/>
          </a:p>
          <a:p>
            <a:pPr marL="0" indent="0">
              <a:buNone/>
            </a:pPr>
            <a:r>
              <a:rPr lang="en-US" sz="1250" dirty="0">
                <a:solidFill>
                  <a:srgbClr val="1F2933"/>
                </a:solidFill>
                <a:latin typeface="Calibri" pitchFamily="34" charset="0"/>
                <a:ea typeface="Calibri" pitchFamily="34" charset="-122"/>
                <a:cs typeface="Calibri" pitchFamily="34" charset="-120"/>
              </a:rPr>
              <a:t>no sirve a ningún tamaño de esta cadena</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972800" cy="274320"/>
          </a:xfrm>
          <a:prstGeom prst="rect">
            <a:avLst/>
          </a:prstGeom>
          <a:noFill/>
          <a:ln/>
        </p:spPr>
        <p:txBody>
          <a:bodyPr wrap="square" lIns="0" tIns="0" rIns="0" bIns="0" rtlCol="0" anchor="t"/>
          <a:lstStyle/>
          <a:p>
            <a:pPr marL="0" indent="0">
              <a:buNone/>
            </a:pPr>
            <a:r>
              <a:rPr lang="en-US" sz="1100" b="1" kern="0" spc="200" dirty="0">
                <a:solidFill>
                  <a:srgbClr val="0F6E57"/>
                </a:solidFill>
                <a:latin typeface="Calibri" pitchFamily="34" charset="0"/>
                <a:ea typeface="Calibri" pitchFamily="34" charset="-122"/>
                <a:cs typeface="Calibri" pitchFamily="34" charset="-120"/>
              </a:rPr>
              <a:t>BLOQUE 1, JUAN</a:t>
            </a:r>
            <a:endParaRPr lang="en-US" sz="1100" dirty="0"/>
          </a:p>
        </p:txBody>
      </p:sp>
      <p:sp>
        <p:nvSpPr>
          <p:cNvPr id="3" name="Text 1"/>
          <p:cNvSpPr txBox="1"/>
          <p:nvPr/>
        </p:nvSpPr>
        <p:spPr>
          <a:xfrm>
            <a:off x="548640" y="594360"/>
            <a:ext cx="11064240" cy="685800"/>
          </a:xfrm>
          <a:prstGeom prst="rect">
            <a:avLst/>
          </a:prstGeom>
          <a:noFill/>
          <a:ln/>
        </p:spPr>
        <p:txBody>
          <a:bodyPr wrap="square" lIns="0" tIns="0" rIns="0" bIns="0" rtlCol="0" anchor="t"/>
          <a:lstStyle/>
          <a:p>
            <a:pPr marL="0" indent="0">
              <a:buNone/>
            </a:pPr>
            <a:r>
              <a:rPr lang="en-US" sz="3000" b="1" dirty="0">
                <a:solidFill>
                  <a:srgbClr val="1F2933"/>
                </a:solidFill>
                <a:latin typeface="Cambria" pitchFamily="34" charset="0"/>
                <a:ea typeface="Cambria" pitchFamily="34" charset="-122"/>
                <a:cs typeface="Cambria" pitchFamily="34" charset="-120"/>
              </a:rPr>
              <a:t>Quiénes son los nueve, y quién los acompaña</a:t>
            </a:r>
            <a:endParaRPr lang="en-US" sz="3000" dirty="0"/>
          </a:p>
        </p:txBody>
      </p:sp>
      <p:sp>
        <p:nvSpPr>
          <p:cNvPr id="4" name="Text 2"/>
          <p:cNvSpPr txBox="1"/>
          <p:nvPr/>
        </p:nvSpPr>
        <p:spPr>
          <a:xfrm>
            <a:off x="548640" y="1371600"/>
            <a:ext cx="7589520" cy="274320"/>
          </a:xfrm>
          <a:prstGeom prst="rect">
            <a:avLst/>
          </a:prstGeom>
          <a:noFill/>
          <a:ln/>
        </p:spPr>
        <p:txBody>
          <a:bodyPr wrap="square" lIns="0" tIns="0" rIns="0" bIns="0" rtlCol="0" anchor="t"/>
          <a:lstStyle/>
          <a:p>
            <a:pPr marL="0" indent="0">
              <a:buNone/>
            </a:pPr>
            <a:r>
              <a:rPr lang="en-US" sz="1100" b="1" kern="0" spc="100" dirty="0">
                <a:solidFill>
                  <a:srgbClr val="0F6E57"/>
                </a:solidFill>
                <a:latin typeface="Calibri" pitchFamily="34" charset="0"/>
                <a:ea typeface="Calibri" pitchFamily="34" charset="-122"/>
                <a:cs typeface="Calibri" pitchFamily="34" charset="-120"/>
              </a:rPr>
              <a:t>SERVICIOS DE NEGOCIO: CADA UNO CON SU BASE</a:t>
            </a:r>
            <a:endParaRPr lang="en-US" sz="1100" dirty="0"/>
          </a:p>
        </p:txBody>
      </p:sp>
      <p:sp>
        <p:nvSpPr>
          <p:cNvPr id="5" name="Shape 3"/>
          <p:cNvSpPr/>
          <p:nvPr/>
        </p:nvSpPr>
        <p:spPr>
          <a:xfrm>
            <a:off x="548640" y="1737360"/>
            <a:ext cx="2395728" cy="960120"/>
          </a:xfrm>
          <a:prstGeom prst="roundRect">
            <a:avLst>
              <a:gd name="adj" fmla="val 7619"/>
            </a:avLst>
          </a:prstGeom>
          <a:solidFill>
            <a:srgbClr val="E3F1EC"/>
          </a:solidFill>
          <a:ln w="12700">
            <a:solidFill>
              <a:srgbClr val="0F6E57"/>
            </a:solidFill>
            <a:prstDash val="solid"/>
          </a:ln>
        </p:spPr>
      </p:sp>
      <p:sp>
        <p:nvSpPr>
          <p:cNvPr id="6" name="Text 4"/>
          <p:cNvSpPr txBox="1"/>
          <p:nvPr/>
        </p:nvSpPr>
        <p:spPr>
          <a:xfrm>
            <a:off x="685800" y="1828800"/>
            <a:ext cx="2148840" cy="256032"/>
          </a:xfrm>
          <a:prstGeom prst="rect">
            <a:avLst/>
          </a:prstGeom>
          <a:noFill/>
          <a:ln/>
        </p:spPr>
        <p:txBody>
          <a:bodyPr wrap="square" lIns="0" tIns="0" rIns="0" bIns="0" rtlCol="0" anchor="t"/>
          <a:lstStyle/>
          <a:p>
            <a:pPr marL="0" indent="0">
              <a:buNone/>
            </a:pPr>
            <a:r>
              <a:rPr lang="en-US" sz="1200" b="1" dirty="0">
                <a:solidFill>
                  <a:srgbClr val="1F2933"/>
                </a:solidFill>
                <a:latin typeface="Courier New" pitchFamily="34" charset="0"/>
                <a:ea typeface="Courier New" pitchFamily="34" charset="-122"/>
                <a:cs typeface="Courier New" pitchFamily="34" charset="-120"/>
              </a:rPr>
              <a:t>1. ms-identidad</a:t>
            </a:r>
            <a:endParaRPr lang="en-US" sz="1200" dirty="0"/>
          </a:p>
        </p:txBody>
      </p:sp>
      <p:sp>
        <p:nvSpPr>
          <p:cNvPr id="7" name="Text 5"/>
          <p:cNvSpPr txBox="1"/>
          <p:nvPr/>
        </p:nvSpPr>
        <p:spPr>
          <a:xfrm>
            <a:off x="685800" y="2103120"/>
            <a:ext cx="2148840" cy="237744"/>
          </a:xfrm>
          <a:prstGeom prst="rect">
            <a:avLst/>
          </a:prstGeom>
          <a:noFill/>
          <a:ln/>
        </p:spPr>
        <p:txBody>
          <a:bodyPr wrap="square" lIns="0" tIns="0" rIns="0" bIns="0" rtlCol="0" anchor="t"/>
          <a:lstStyle/>
          <a:p>
            <a:pPr marL="0" indent="0">
              <a:buNone/>
            </a:pPr>
            <a:r>
              <a:rPr lang="en-US" sz="1250" dirty="0">
                <a:solidFill>
                  <a:srgbClr val="1F2933"/>
                </a:solidFill>
                <a:latin typeface="Calibri" pitchFamily="34" charset="0"/>
                <a:ea typeface="Calibri" pitchFamily="34" charset="-122"/>
                <a:cs typeface="Calibri" pitchFamily="34" charset="-120"/>
              </a:rPr>
              <a:t>usuarios, login y JWT</a:t>
            </a:r>
            <a:endParaRPr lang="en-US" sz="1250" dirty="0"/>
          </a:p>
        </p:txBody>
      </p:sp>
      <p:sp>
        <p:nvSpPr>
          <p:cNvPr id="8" name="Text 6"/>
          <p:cNvSpPr txBox="1"/>
          <p:nvPr/>
        </p:nvSpPr>
        <p:spPr>
          <a:xfrm>
            <a:off x="685800" y="2359152"/>
            <a:ext cx="2148840" cy="274320"/>
          </a:xfrm>
          <a:prstGeom prst="rect">
            <a:avLst/>
          </a:prstGeom>
          <a:noFill/>
          <a:ln/>
        </p:spPr>
        <p:txBody>
          <a:bodyPr wrap="square" lIns="0" tIns="0" rIns="0" bIns="0" rtlCol="0" anchor="t"/>
          <a:lstStyle/>
          <a:p>
            <a:pPr marL="0" indent="0">
              <a:buNone/>
            </a:pPr>
            <a:r>
              <a:rPr lang="en-US" sz="1000" dirty="0">
                <a:solidFill>
                  <a:srgbClr val="5B6670"/>
                </a:solidFill>
                <a:latin typeface="Calibri" pitchFamily="34" charset="0"/>
                <a:ea typeface="Calibri" pitchFamily="34" charset="-122"/>
                <a:cs typeface="Calibri" pitchFamily="34" charset="-120"/>
              </a:rPr>
              <a:t>usuarios, roles, locales, cajas</a:t>
            </a:r>
            <a:endParaRPr lang="en-US" sz="1000" dirty="0"/>
          </a:p>
        </p:txBody>
      </p:sp>
      <p:sp>
        <p:nvSpPr>
          <p:cNvPr id="9" name="Shape 7"/>
          <p:cNvSpPr/>
          <p:nvPr/>
        </p:nvSpPr>
        <p:spPr>
          <a:xfrm>
            <a:off x="3127248" y="1737360"/>
            <a:ext cx="2395728" cy="960120"/>
          </a:xfrm>
          <a:prstGeom prst="roundRect">
            <a:avLst>
              <a:gd name="adj" fmla="val 7619"/>
            </a:avLst>
          </a:prstGeom>
          <a:solidFill>
            <a:srgbClr val="E3F1EC"/>
          </a:solidFill>
          <a:ln w="28575">
            <a:solidFill>
              <a:srgbClr val="B83A0E"/>
            </a:solidFill>
            <a:prstDash val="solid"/>
          </a:ln>
        </p:spPr>
      </p:sp>
      <p:sp>
        <p:nvSpPr>
          <p:cNvPr id="10" name="Text 8"/>
          <p:cNvSpPr txBox="1"/>
          <p:nvPr/>
        </p:nvSpPr>
        <p:spPr>
          <a:xfrm>
            <a:off x="3264408" y="1828800"/>
            <a:ext cx="2148840" cy="256032"/>
          </a:xfrm>
          <a:prstGeom prst="rect">
            <a:avLst/>
          </a:prstGeom>
          <a:noFill/>
          <a:ln/>
        </p:spPr>
        <p:txBody>
          <a:bodyPr wrap="square" lIns="0" tIns="0" rIns="0" bIns="0" rtlCol="0" anchor="t"/>
          <a:lstStyle/>
          <a:p>
            <a:pPr marL="0" indent="0">
              <a:buNone/>
            </a:pPr>
            <a:r>
              <a:rPr lang="en-US" sz="1200" b="1" dirty="0">
                <a:solidFill>
                  <a:srgbClr val="1F2933"/>
                </a:solidFill>
                <a:latin typeface="Courier New" pitchFamily="34" charset="0"/>
                <a:ea typeface="Courier New" pitchFamily="34" charset="-122"/>
                <a:cs typeface="Courier New" pitchFamily="34" charset="-120"/>
              </a:rPr>
              <a:t>2. ms-catalogo</a:t>
            </a:r>
            <a:endParaRPr lang="en-US" sz="1200" dirty="0"/>
          </a:p>
        </p:txBody>
      </p:sp>
      <p:sp>
        <p:nvSpPr>
          <p:cNvPr id="11" name="Text 9"/>
          <p:cNvSpPr txBox="1"/>
          <p:nvPr/>
        </p:nvSpPr>
        <p:spPr>
          <a:xfrm>
            <a:off x="3264408" y="2103120"/>
            <a:ext cx="2148840" cy="237744"/>
          </a:xfrm>
          <a:prstGeom prst="rect">
            <a:avLst/>
          </a:prstGeom>
          <a:noFill/>
          <a:ln/>
        </p:spPr>
        <p:txBody>
          <a:bodyPr wrap="square" lIns="0" tIns="0" rIns="0" bIns="0" rtlCol="0" anchor="t"/>
          <a:lstStyle/>
          <a:p>
            <a:pPr marL="0" indent="0">
              <a:buNone/>
            </a:pPr>
            <a:r>
              <a:rPr lang="en-US" sz="1250" dirty="0">
                <a:solidFill>
                  <a:srgbClr val="1F2933"/>
                </a:solidFill>
                <a:latin typeface="Calibri" pitchFamily="34" charset="0"/>
                <a:ea typeface="Calibri" pitchFamily="34" charset="-122"/>
                <a:cs typeface="Calibri" pitchFamily="34" charset="-120"/>
              </a:rPr>
              <a:t>productos y precios</a:t>
            </a:r>
            <a:endParaRPr lang="en-US" sz="1250" dirty="0"/>
          </a:p>
        </p:txBody>
      </p:sp>
      <p:sp>
        <p:nvSpPr>
          <p:cNvPr id="12" name="Text 10"/>
          <p:cNvSpPr txBox="1"/>
          <p:nvPr/>
        </p:nvSpPr>
        <p:spPr>
          <a:xfrm>
            <a:off x="3264408" y="2359152"/>
            <a:ext cx="2148840" cy="274320"/>
          </a:xfrm>
          <a:prstGeom prst="rect">
            <a:avLst/>
          </a:prstGeom>
          <a:noFill/>
          <a:ln/>
        </p:spPr>
        <p:txBody>
          <a:bodyPr wrap="square" lIns="0" tIns="0" rIns="0" bIns="0" rtlCol="0" anchor="t"/>
          <a:lstStyle/>
          <a:p>
            <a:pPr marL="0" indent="0">
              <a:buNone/>
            </a:pPr>
            <a:r>
              <a:rPr lang="en-US" sz="1000" dirty="0">
                <a:solidFill>
                  <a:srgbClr val="5B6670"/>
                </a:solidFill>
                <a:latin typeface="Calibri" pitchFamily="34" charset="0"/>
                <a:ea typeface="Calibri" pitchFamily="34" charset="-122"/>
                <a:cs typeface="Calibri" pitchFamily="34" charset="-120"/>
              </a:rPr>
              <a:t>productos, categorías, laboratorios</a:t>
            </a:r>
            <a:endParaRPr lang="en-US" sz="1000" dirty="0"/>
          </a:p>
        </p:txBody>
      </p:sp>
      <p:sp>
        <p:nvSpPr>
          <p:cNvPr id="13" name="Shape 11"/>
          <p:cNvSpPr/>
          <p:nvPr/>
        </p:nvSpPr>
        <p:spPr>
          <a:xfrm>
            <a:off x="5705856" y="1737360"/>
            <a:ext cx="2395728" cy="960120"/>
          </a:xfrm>
          <a:prstGeom prst="roundRect">
            <a:avLst>
              <a:gd name="adj" fmla="val 7619"/>
            </a:avLst>
          </a:prstGeom>
          <a:solidFill>
            <a:srgbClr val="E3F1EC"/>
          </a:solidFill>
          <a:ln w="28575">
            <a:solidFill>
              <a:srgbClr val="B83A0E"/>
            </a:solidFill>
            <a:prstDash val="solid"/>
          </a:ln>
        </p:spPr>
      </p:sp>
      <p:sp>
        <p:nvSpPr>
          <p:cNvPr id="14" name="Text 12"/>
          <p:cNvSpPr txBox="1"/>
          <p:nvPr/>
        </p:nvSpPr>
        <p:spPr>
          <a:xfrm>
            <a:off x="5843016" y="1828800"/>
            <a:ext cx="2148840" cy="256032"/>
          </a:xfrm>
          <a:prstGeom prst="rect">
            <a:avLst/>
          </a:prstGeom>
          <a:noFill/>
          <a:ln/>
        </p:spPr>
        <p:txBody>
          <a:bodyPr wrap="square" lIns="0" tIns="0" rIns="0" bIns="0" rtlCol="0" anchor="t"/>
          <a:lstStyle/>
          <a:p>
            <a:pPr marL="0" indent="0">
              <a:buNone/>
            </a:pPr>
            <a:r>
              <a:rPr lang="en-US" sz="1200" b="1" dirty="0">
                <a:solidFill>
                  <a:srgbClr val="1F2933"/>
                </a:solidFill>
                <a:latin typeface="Courier New" pitchFamily="34" charset="0"/>
                <a:ea typeface="Courier New" pitchFamily="34" charset="-122"/>
                <a:cs typeface="Courier New" pitchFamily="34" charset="-120"/>
              </a:rPr>
              <a:t>3. ms-inventario</a:t>
            </a:r>
            <a:endParaRPr lang="en-US" sz="1200" dirty="0"/>
          </a:p>
        </p:txBody>
      </p:sp>
      <p:sp>
        <p:nvSpPr>
          <p:cNvPr id="15" name="Text 13"/>
          <p:cNvSpPr txBox="1"/>
          <p:nvPr/>
        </p:nvSpPr>
        <p:spPr>
          <a:xfrm>
            <a:off x="5843016" y="2103120"/>
            <a:ext cx="2148840" cy="237744"/>
          </a:xfrm>
          <a:prstGeom prst="rect">
            <a:avLst/>
          </a:prstGeom>
          <a:noFill/>
          <a:ln/>
        </p:spPr>
        <p:txBody>
          <a:bodyPr wrap="square" lIns="0" tIns="0" rIns="0" bIns="0" rtlCol="0" anchor="t"/>
          <a:lstStyle/>
          <a:p>
            <a:pPr marL="0" indent="0">
              <a:buNone/>
            </a:pPr>
            <a:r>
              <a:rPr lang="en-US" sz="1250" dirty="0">
                <a:solidFill>
                  <a:srgbClr val="1F2933"/>
                </a:solidFill>
                <a:latin typeface="Calibri" pitchFamily="34" charset="0"/>
                <a:ea typeface="Calibri" pitchFamily="34" charset="-122"/>
                <a:cs typeface="Calibri" pitchFamily="34" charset="-120"/>
              </a:rPr>
              <a:t>stock y lotes (FEFO)</a:t>
            </a:r>
            <a:endParaRPr lang="en-US" sz="1250" dirty="0"/>
          </a:p>
        </p:txBody>
      </p:sp>
      <p:sp>
        <p:nvSpPr>
          <p:cNvPr id="16" name="Text 14"/>
          <p:cNvSpPr txBox="1"/>
          <p:nvPr/>
        </p:nvSpPr>
        <p:spPr>
          <a:xfrm>
            <a:off x="5843016" y="2359152"/>
            <a:ext cx="2148840" cy="274320"/>
          </a:xfrm>
          <a:prstGeom prst="rect">
            <a:avLst/>
          </a:prstGeom>
          <a:noFill/>
          <a:ln/>
        </p:spPr>
        <p:txBody>
          <a:bodyPr wrap="square" lIns="0" tIns="0" rIns="0" bIns="0" rtlCol="0" anchor="t"/>
          <a:lstStyle/>
          <a:p>
            <a:pPr marL="0" indent="0">
              <a:buNone/>
            </a:pPr>
            <a:r>
              <a:rPr lang="en-US" sz="1000" dirty="0">
                <a:solidFill>
                  <a:srgbClr val="5B6670"/>
                </a:solidFill>
                <a:latin typeface="Calibri" pitchFamily="34" charset="0"/>
                <a:ea typeface="Calibri" pitchFamily="34" charset="-122"/>
                <a:cs typeface="Calibri" pitchFamily="34" charset="-120"/>
              </a:rPr>
              <a:t>stock_local, lotes, reservas</a:t>
            </a:r>
            <a:endParaRPr lang="en-US" sz="1000" dirty="0"/>
          </a:p>
        </p:txBody>
      </p:sp>
      <p:sp>
        <p:nvSpPr>
          <p:cNvPr id="17" name="Shape 15"/>
          <p:cNvSpPr/>
          <p:nvPr/>
        </p:nvSpPr>
        <p:spPr>
          <a:xfrm>
            <a:off x="548640" y="2834640"/>
            <a:ext cx="2395728" cy="960120"/>
          </a:xfrm>
          <a:prstGeom prst="roundRect">
            <a:avLst>
              <a:gd name="adj" fmla="val 7619"/>
            </a:avLst>
          </a:prstGeom>
          <a:solidFill>
            <a:srgbClr val="E3F1EC"/>
          </a:solidFill>
          <a:ln w="28575">
            <a:solidFill>
              <a:srgbClr val="B83A0E"/>
            </a:solidFill>
            <a:prstDash val="solid"/>
          </a:ln>
        </p:spPr>
      </p:sp>
      <p:sp>
        <p:nvSpPr>
          <p:cNvPr id="18" name="Text 16"/>
          <p:cNvSpPr txBox="1"/>
          <p:nvPr/>
        </p:nvSpPr>
        <p:spPr>
          <a:xfrm>
            <a:off x="685800" y="2926080"/>
            <a:ext cx="2148840" cy="256032"/>
          </a:xfrm>
          <a:prstGeom prst="rect">
            <a:avLst/>
          </a:prstGeom>
          <a:noFill/>
          <a:ln/>
        </p:spPr>
        <p:txBody>
          <a:bodyPr wrap="square" lIns="0" tIns="0" rIns="0" bIns="0" rtlCol="0" anchor="t"/>
          <a:lstStyle/>
          <a:p>
            <a:pPr marL="0" indent="0">
              <a:buNone/>
            </a:pPr>
            <a:r>
              <a:rPr lang="en-US" sz="1200" b="1" dirty="0">
                <a:solidFill>
                  <a:srgbClr val="1F2933"/>
                </a:solidFill>
                <a:latin typeface="Courier New" pitchFamily="34" charset="0"/>
                <a:ea typeface="Courier New" pitchFamily="34" charset="-122"/>
                <a:cs typeface="Courier New" pitchFamily="34" charset="-120"/>
              </a:rPr>
              <a:t>4. ms-ventas</a:t>
            </a:r>
            <a:endParaRPr lang="en-US" sz="1200" dirty="0"/>
          </a:p>
        </p:txBody>
      </p:sp>
      <p:sp>
        <p:nvSpPr>
          <p:cNvPr id="19" name="Text 17"/>
          <p:cNvSpPr txBox="1"/>
          <p:nvPr/>
        </p:nvSpPr>
        <p:spPr>
          <a:xfrm>
            <a:off x="685800" y="3200400"/>
            <a:ext cx="2148840" cy="237744"/>
          </a:xfrm>
          <a:prstGeom prst="rect">
            <a:avLst/>
          </a:prstGeom>
          <a:noFill/>
          <a:ln/>
        </p:spPr>
        <p:txBody>
          <a:bodyPr wrap="square" lIns="0" tIns="0" rIns="0" bIns="0" rtlCol="0" anchor="t"/>
          <a:lstStyle/>
          <a:p>
            <a:pPr marL="0" indent="0">
              <a:buNone/>
            </a:pPr>
            <a:r>
              <a:rPr lang="en-US" sz="1250" dirty="0">
                <a:solidFill>
                  <a:srgbClr val="1F2933"/>
                </a:solidFill>
                <a:latin typeface="Calibri" pitchFamily="34" charset="0"/>
                <a:ea typeface="Calibri" pitchFamily="34" charset="-122"/>
                <a:cs typeface="Calibri" pitchFamily="34" charset="-120"/>
              </a:rPr>
              <a:t>arma, cobra y orquesta</a:t>
            </a:r>
            <a:endParaRPr lang="en-US" sz="1250" dirty="0"/>
          </a:p>
        </p:txBody>
      </p:sp>
      <p:sp>
        <p:nvSpPr>
          <p:cNvPr id="20" name="Text 18"/>
          <p:cNvSpPr txBox="1"/>
          <p:nvPr/>
        </p:nvSpPr>
        <p:spPr>
          <a:xfrm>
            <a:off x="685800" y="3456432"/>
            <a:ext cx="2148840" cy="274320"/>
          </a:xfrm>
          <a:prstGeom prst="rect">
            <a:avLst/>
          </a:prstGeom>
          <a:noFill/>
          <a:ln/>
        </p:spPr>
        <p:txBody>
          <a:bodyPr wrap="square" lIns="0" tIns="0" rIns="0" bIns="0" rtlCol="0" anchor="t"/>
          <a:lstStyle/>
          <a:p>
            <a:pPr marL="0" indent="0">
              <a:buNone/>
            </a:pPr>
            <a:r>
              <a:rPr lang="en-US" sz="1000" dirty="0">
                <a:solidFill>
                  <a:srgbClr val="5B6670"/>
                </a:solidFill>
                <a:latin typeface="Calibri" pitchFamily="34" charset="0"/>
                <a:ea typeface="Calibri" pitchFamily="34" charset="-122"/>
                <a:cs typeface="Calibri" pitchFamily="34" charset="-120"/>
              </a:rPr>
              <a:t>ventas, pagos, saga, outbox</a:t>
            </a:r>
            <a:endParaRPr lang="en-US" sz="1000" dirty="0"/>
          </a:p>
        </p:txBody>
      </p:sp>
      <p:sp>
        <p:nvSpPr>
          <p:cNvPr id="21" name="Shape 19"/>
          <p:cNvSpPr/>
          <p:nvPr/>
        </p:nvSpPr>
        <p:spPr>
          <a:xfrm>
            <a:off x="3127248" y="2834640"/>
            <a:ext cx="2395728" cy="960120"/>
          </a:xfrm>
          <a:prstGeom prst="roundRect">
            <a:avLst>
              <a:gd name="adj" fmla="val 7619"/>
            </a:avLst>
          </a:prstGeom>
          <a:solidFill>
            <a:srgbClr val="E3F1EC"/>
          </a:solidFill>
          <a:ln w="12700">
            <a:solidFill>
              <a:srgbClr val="0F6E57"/>
            </a:solidFill>
            <a:prstDash val="solid"/>
          </a:ln>
        </p:spPr>
      </p:sp>
      <p:sp>
        <p:nvSpPr>
          <p:cNvPr id="22" name="Text 20"/>
          <p:cNvSpPr txBox="1"/>
          <p:nvPr/>
        </p:nvSpPr>
        <p:spPr>
          <a:xfrm>
            <a:off x="3264408" y="2926080"/>
            <a:ext cx="2148840" cy="256032"/>
          </a:xfrm>
          <a:prstGeom prst="rect">
            <a:avLst/>
          </a:prstGeom>
          <a:noFill/>
          <a:ln/>
        </p:spPr>
        <p:txBody>
          <a:bodyPr wrap="square" lIns="0" tIns="0" rIns="0" bIns="0" rtlCol="0" anchor="t"/>
          <a:lstStyle/>
          <a:p>
            <a:pPr marL="0" indent="0">
              <a:buNone/>
            </a:pPr>
            <a:r>
              <a:rPr lang="en-US" sz="1200" b="1" dirty="0">
                <a:solidFill>
                  <a:srgbClr val="1F2933"/>
                </a:solidFill>
                <a:latin typeface="Courier New" pitchFamily="34" charset="0"/>
                <a:ea typeface="Courier New" pitchFamily="34" charset="-122"/>
                <a:cs typeface="Courier New" pitchFamily="34" charset="-120"/>
              </a:rPr>
              <a:t>5. ms-clientes</a:t>
            </a:r>
            <a:endParaRPr lang="en-US" sz="1200" dirty="0"/>
          </a:p>
        </p:txBody>
      </p:sp>
      <p:sp>
        <p:nvSpPr>
          <p:cNvPr id="23" name="Text 21"/>
          <p:cNvSpPr txBox="1"/>
          <p:nvPr/>
        </p:nvSpPr>
        <p:spPr>
          <a:xfrm>
            <a:off x="3264408" y="3200400"/>
            <a:ext cx="2148840" cy="237744"/>
          </a:xfrm>
          <a:prstGeom prst="rect">
            <a:avLst/>
          </a:prstGeom>
          <a:noFill/>
          <a:ln/>
        </p:spPr>
        <p:txBody>
          <a:bodyPr wrap="square" lIns="0" tIns="0" rIns="0" bIns="0" rtlCol="0" anchor="t"/>
          <a:lstStyle/>
          <a:p>
            <a:pPr marL="0" indent="0">
              <a:buNone/>
            </a:pPr>
            <a:r>
              <a:rPr lang="en-US" sz="1250" dirty="0">
                <a:solidFill>
                  <a:srgbClr val="1F2933"/>
                </a:solidFill>
                <a:latin typeface="Calibri" pitchFamily="34" charset="0"/>
                <a:ea typeface="Calibri" pitchFamily="34" charset="-122"/>
                <a:cs typeface="Calibri" pitchFamily="34" charset="-120"/>
              </a:rPr>
              <a:t>padrón, convenios, recetas</a:t>
            </a:r>
            <a:endParaRPr lang="en-US" sz="1250" dirty="0"/>
          </a:p>
        </p:txBody>
      </p:sp>
      <p:sp>
        <p:nvSpPr>
          <p:cNvPr id="24" name="Text 22"/>
          <p:cNvSpPr txBox="1"/>
          <p:nvPr/>
        </p:nvSpPr>
        <p:spPr>
          <a:xfrm>
            <a:off x="3264408" y="3456432"/>
            <a:ext cx="2148840" cy="274320"/>
          </a:xfrm>
          <a:prstGeom prst="rect">
            <a:avLst/>
          </a:prstGeom>
          <a:noFill/>
          <a:ln/>
        </p:spPr>
        <p:txBody>
          <a:bodyPr wrap="square" lIns="0" tIns="0" rIns="0" bIns="0" rtlCol="0" anchor="t"/>
          <a:lstStyle/>
          <a:p>
            <a:pPr marL="0" indent="0">
              <a:buNone/>
            </a:pPr>
            <a:r>
              <a:rPr lang="en-US" sz="1000" dirty="0">
                <a:solidFill>
                  <a:srgbClr val="5B6670"/>
                </a:solidFill>
                <a:latin typeface="Calibri" pitchFamily="34" charset="0"/>
                <a:ea typeface="Calibri" pitchFamily="34" charset="-122"/>
                <a:cs typeface="Calibri" pitchFamily="34" charset="-120"/>
              </a:rPr>
              <a:t>clientes, convenios, recetas</a:t>
            </a:r>
            <a:endParaRPr lang="en-US" sz="1000" dirty="0"/>
          </a:p>
        </p:txBody>
      </p:sp>
      <p:sp>
        <p:nvSpPr>
          <p:cNvPr id="25" name="Shape 23"/>
          <p:cNvSpPr/>
          <p:nvPr/>
        </p:nvSpPr>
        <p:spPr>
          <a:xfrm>
            <a:off x="5705856" y="2834640"/>
            <a:ext cx="2395728" cy="960120"/>
          </a:xfrm>
          <a:prstGeom prst="roundRect">
            <a:avLst>
              <a:gd name="adj" fmla="val 7619"/>
            </a:avLst>
          </a:prstGeom>
          <a:solidFill>
            <a:srgbClr val="E3F1EC"/>
          </a:solidFill>
          <a:ln w="12700">
            <a:solidFill>
              <a:srgbClr val="0F6E57"/>
            </a:solidFill>
            <a:prstDash val="solid"/>
          </a:ln>
        </p:spPr>
      </p:sp>
      <p:sp>
        <p:nvSpPr>
          <p:cNvPr id="26" name="Text 24"/>
          <p:cNvSpPr txBox="1"/>
          <p:nvPr/>
        </p:nvSpPr>
        <p:spPr>
          <a:xfrm>
            <a:off x="5843016" y="2926080"/>
            <a:ext cx="2148840" cy="256032"/>
          </a:xfrm>
          <a:prstGeom prst="rect">
            <a:avLst/>
          </a:prstGeom>
          <a:noFill/>
          <a:ln/>
        </p:spPr>
        <p:txBody>
          <a:bodyPr wrap="square" lIns="0" tIns="0" rIns="0" bIns="0" rtlCol="0" anchor="t"/>
          <a:lstStyle/>
          <a:p>
            <a:pPr marL="0" indent="0">
              <a:buNone/>
            </a:pPr>
            <a:r>
              <a:rPr lang="en-US" sz="1200" b="1" dirty="0">
                <a:solidFill>
                  <a:srgbClr val="1F2933"/>
                </a:solidFill>
                <a:latin typeface="Courier New" pitchFamily="34" charset="0"/>
                <a:ea typeface="Courier New" pitchFamily="34" charset="-122"/>
                <a:cs typeface="Courier New" pitchFamily="34" charset="-120"/>
              </a:rPr>
              <a:t>6. ms-promociones</a:t>
            </a:r>
            <a:endParaRPr lang="en-US" sz="1200" dirty="0"/>
          </a:p>
        </p:txBody>
      </p:sp>
      <p:sp>
        <p:nvSpPr>
          <p:cNvPr id="27" name="Text 25"/>
          <p:cNvSpPr txBox="1"/>
          <p:nvPr/>
        </p:nvSpPr>
        <p:spPr>
          <a:xfrm>
            <a:off x="5843016" y="3200400"/>
            <a:ext cx="2148840" cy="237744"/>
          </a:xfrm>
          <a:prstGeom prst="rect">
            <a:avLst/>
          </a:prstGeom>
          <a:noFill/>
          <a:ln/>
        </p:spPr>
        <p:txBody>
          <a:bodyPr wrap="square" lIns="0" tIns="0" rIns="0" bIns="0" rtlCol="0" anchor="t"/>
          <a:lstStyle/>
          <a:p>
            <a:pPr marL="0" indent="0">
              <a:buNone/>
            </a:pPr>
            <a:r>
              <a:rPr lang="en-US" sz="1250" dirty="0">
                <a:solidFill>
                  <a:srgbClr val="1F2933"/>
                </a:solidFill>
                <a:latin typeface="Calibri" pitchFamily="34" charset="0"/>
                <a:ea typeface="Calibri" pitchFamily="34" charset="-122"/>
                <a:cs typeface="Calibri" pitchFamily="34" charset="-120"/>
              </a:rPr>
              <a:t>descuentos</a:t>
            </a:r>
            <a:endParaRPr lang="en-US" sz="1250" dirty="0"/>
          </a:p>
        </p:txBody>
      </p:sp>
      <p:sp>
        <p:nvSpPr>
          <p:cNvPr id="28" name="Text 26"/>
          <p:cNvSpPr txBox="1"/>
          <p:nvPr/>
        </p:nvSpPr>
        <p:spPr>
          <a:xfrm>
            <a:off x="5843016" y="3456432"/>
            <a:ext cx="2148840" cy="274320"/>
          </a:xfrm>
          <a:prstGeom prst="rect">
            <a:avLst/>
          </a:prstGeom>
          <a:noFill/>
          <a:ln/>
        </p:spPr>
        <p:txBody>
          <a:bodyPr wrap="square" lIns="0" tIns="0" rIns="0" bIns="0" rtlCol="0" anchor="t"/>
          <a:lstStyle/>
          <a:p>
            <a:pPr marL="0" indent="0">
              <a:buNone/>
            </a:pPr>
            <a:r>
              <a:rPr lang="en-US" sz="1000" dirty="0">
                <a:solidFill>
                  <a:srgbClr val="5B6670"/>
                </a:solidFill>
                <a:latin typeface="Calibri" pitchFamily="34" charset="0"/>
                <a:ea typeface="Calibri" pitchFamily="34" charset="-122"/>
                <a:cs typeface="Calibri" pitchFamily="34" charset="-120"/>
              </a:rPr>
              <a:t>promociones y sus condiciones</a:t>
            </a:r>
            <a:endParaRPr lang="en-US" sz="1000" dirty="0"/>
          </a:p>
        </p:txBody>
      </p:sp>
      <p:sp>
        <p:nvSpPr>
          <p:cNvPr id="29" name="Shape 27"/>
          <p:cNvSpPr/>
          <p:nvPr/>
        </p:nvSpPr>
        <p:spPr>
          <a:xfrm>
            <a:off x="548640" y="3931920"/>
            <a:ext cx="2395728" cy="960120"/>
          </a:xfrm>
          <a:prstGeom prst="roundRect">
            <a:avLst>
              <a:gd name="adj" fmla="val 7619"/>
            </a:avLst>
          </a:prstGeom>
          <a:solidFill>
            <a:srgbClr val="E3F1EC"/>
          </a:solidFill>
          <a:ln w="12700">
            <a:solidFill>
              <a:srgbClr val="0F6E57"/>
            </a:solidFill>
            <a:prstDash val="solid"/>
          </a:ln>
        </p:spPr>
      </p:sp>
      <p:sp>
        <p:nvSpPr>
          <p:cNvPr id="30" name="Text 28"/>
          <p:cNvSpPr txBox="1"/>
          <p:nvPr/>
        </p:nvSpPr>
        <p:spPr>
          <a:xfrm>
            <a:off x="685800" y="4023360"/>
            <a:ext cx="2148840" cy="256032"/>
          </a:xfrm>
          <a:prstGeom prst="rect">
            <a:avLst/>
          </a:prstGeom>
          <a:noFill/>
          <a:ln/>
        </p:spPr>
        <p:txBody>
          <a:bodyPr wrap="square" lIns="0" tIns="0" rIns="0" bIns="0" rtlCol="0" anchor="t"/>
          <a:lstStyle/>
          <a:p>
            <a:pPr marL="0" indent="0">
              <a:buNone/>
            </a:pPr>
            <a:r>
              <a:rPr lang="en-US" sz="1200" b="1" dirty="0">
                <a:solidFill>
                  <a:srgbClr val="1F2933"/>
                </a:solidFill>
                <a:latin typeface="Courier New" pitchFamily="34" charset="0"/>
                <a:ea typeface="Courier New" pitchFamily="34" charset="-122"/>
                <a:cs typeface="Courier New" pitchFamily="34" charset="-120"/>
              </a:rPr>
              <a:t>7. ms-credito</a:t>
            </a:r>
            <a:endParaRPr lang="en-US" sz="1200" dirty="0"/>
          </a:p>
        </p:txBody>
      </p:sp>
      <p:sp>
        <p:nvSpPr>
          <p:cNvPr id="31" name="Text 29"/>
          <p:cNvSpPr txBox="1"/>
          <p:nvPr/>
        </p:nvSpPr>
        <p:spPr>
          <a:xfrm>
            <a:off x="685800" y="4297680"/>
            <a:ext cx="2148840" cy="237744"/>
          </a:xfrm>
          <a:prstGeom prst="rect">
            <a:avLst/>
          </a:prstGeom>
          <a:noFill/>
          <a:ln/>
        </p:spPr>
        <p:txBody>
          <a:bodyPr wrap="square" lIns="0" tIns="0" rIns="0" bIns="0" rtlCol="0" anchor="t"/>
          <a:lstStyle/>
          <a:p>
            <a:pPr marL="0" indent="0">
              <a:buNone/>
            </a:pPr>
            <a:r>
              <a:rPr lang="en-US" sz="1250" dirty="0">
                <a:solidFill>
                  <a:srgbClr val="1F2933"/>
                </a:solidFill>
                <a:latin typeface="Calibri" pitchFamily="34" charset="0"/>
                <a:ea typeface="Calibri" pitchFamily="34" charset="-122"/>
                <a:cs typeface="Calibri" pitchFamily="34" charset="-120"/>
              </a:rPr>
              <a:t>venta al fiado con límite</a:t>
            </a:r>
            <a:endParaRPr lang="en-US" sz="1250" dirty="0"/>
          </a:p>
        </p:txBody>
      </p:sp>
      <p:sp>
        <p:nvSpPr>
          <p:cNvPr id="32" name="Text 30"/>
          <p:cNvSpPr txBox="1"/>
          <p:nvPr/>
        </p:nvSpPr>
        <p:spPr>
          <a:xfrm>
            <a:off x="685800" y="4553712"/>
            <a:ext cx="2148840" cy="274320"/>
          </a:xfrm>
          <a:prstGeom prst="rect">
            <a:avLst/>
          </a:prstGeom>
          <a:noFill/>
          <a:ln/>
        </p:spPr>
        <p:txBody>
          <a:bodyPr wrap="square" lIns="0" tIns="0" rIns="0" bIns="0" rtlCol="0" anchor="t"/>
          <a:lstStyle/>
          <a:p>
            <a:pPr marL="0" indent="0">
              <a:buNone/>
            </a:pPr>
            <a:r>
              <a:rPr lang="en-US" sz="1000" dirty="0">
                <a:solidFill>
                  <a:srgbClr val="5B6670"/>
                </a:solidFill>
                <a:latin typeface="Calibri" pitchFamily="34" charset="0"/>
                <a:ea typeface="Calibri" pitchFamily="34" charset="-122"/>
                <a:cs typeface="Calibri" pitchFamily="34" charset="-120"/>
              </a:rPr>
              <a:t>líneas, movimientos, reservas</a:t>
            </a:r>
            <a:endParaRPr lang="en-US" sz="1000" dirty="0"/>
          </a:p>
        </p:txBody>
      </p:sp>
      <p:sp>
        <p:nvSpPr>
          <p:cNvPr id="33" name="Shape 31"/>
          <p:cNvSpPr/>
          <p:nvPr/>
        </p:nvSpPr>
        <p:spPr>
          <a:xfrm>
            <a:off x="3127248" y="3931920"/>
            <a:ext cx="2395728" cy="960120"/>
          </a:xfrm>
          <a:prstGeom prst="roundRect">
            <a:avLst>
              <a:gd name="adj" fmla="val 7619"/>
            </a:avLst>
          </a:prstGeom>
          <a:solidFill>
            <a:srgbClr val="E3F1EC"/>
          </a:solidFill>
          <a:ln w="12700">
            <a:solidFill>
              <a:srgbClr val="0F6E57"/>
            </a:solidFill>
            <a:prstDash val="solid"/>
          </a:ln>
        </p:spPr>
      </p:sp>
      <p:sp>
        <p:nvSpPr>
          <p:cNvPr id="34" name="Text 32"/>
          <p:cNvSpPr txBox="1"/>
          <p:nvPr/>
        </p:nvSpPr>
        <p:spPr>
          <a:xfrm>
            <a:off x="3264408" y="4023360"/>
            <a:ext cx="2148840" cy="256032"/>
          </a:xfrm>
          <a:prstGeom prst="rect">
            <a:avLst/>
          </a:prstGeom>
          <a:noFill/>
          <a:ln/>
        </p:spPr>
        <p:txBody>
          <a:bodyPr wrap="square" lIns="0" tIns="0" rIns="0" bIns="0" rtlCol="0" anchor="t"/>
          <a:lstStyle/>
          <a:p>
            <a:pPr marL="0" indent="0">
              <a:buNone/>
            </a:pPr>
            <a:r>
              <a:rPr lang="en-US" sz="1200" b="1" dirty="0">
                <a:solidFill>
                  <a:srgbClr val="1F2933"/>
                </a:solidFill>
                <a:latin typeface="Courier New" pitchFamily="34" charset="0"/>
                <a:ea typeface="Courier New" pitchFamily="34" charset="-122"/>
                <a:cs typeface="Courier New" pitchFamily="34" charset="-120"/>
              </a:rPr>
              <a:t>8. ms-facturacion</a:t>
            </a:r>
            <a:endParaRPr lang="en-US" sz="1200" dirty="0"/>
          </a:p>
        </p:txBody>
      </p:sp>
      <p:sp>
        <p:nvSpPr>
          <p:cNvPr id="35" name="Text 33"/>
          <p:cNvSpPr txBox="1"/>
          <p:nvPr/>
        </p:nvSpPr>
        <p:spPr>
          <a:xfrm>
            <a:off x="3264408" y="4297680"/>
            <a:ext cx="2148840" cy="237744"/>
          </a:xfrm>
          <a:prstGeom prst="rect">
            <a:avLst/>
          </a:prstGeom>
          <a:noFill/>
          <a:ln/>
        </p:spPr>
        <p:txBody>
          <a:bodyPr wrap="square" lIns="0" tIns="0" rIns="0" bIns="0" rtlCol="0" anchor="t"/>
          <a:lstStyle/>
          <a:p>
            <a:pPr marL="0" indent="0">
              <a:buNone/>
            </a:pPr>
            <a:r>
              <a:rPr lang="en-US" sz="1250" dirty="0">
                <a:solidFill>
                  <a:srgbClr val="1F2933"/>
                </a:solidFill>
                <a:latin typeface="Calibri" pitchFamily="34" charset="0"/>
                <a:ea typeface="Calibri" pitchFamily="34" charset="-122"/>
                <a:cs typeface="Calibri" pitchFamily="34" charset="-120"/>
              </a:rPr>
              <a:t>comprobantes ante SUNAT</a:t>
            </a:r>
            <a:endParaRPr lang="en-US" sz="1250" dirty="0"/>
          </a:p>
        </p:txBody>
      </p:sp>
      <p:sp>
        <p:nvSpPr>
          <p:cNvPr id="36" name="Text 34"/>
          <p:cNvSpPr txBox="1"/>
          <p:nvPr/>
        </p:nvSpPr>
        <p:spPr>
          <a:xfrm>
            <a:off x="3264408" y="4553712"/>
            <a:ext cx="2148840" cy="274320"/>
          </a:xfrm>
          <a:prstGeom prst="rect">
            <a:avLst/>
          </a:prstGeom>
          <a:noFill/>
          <a:ln/>
        </p:spPr>
        <p:txBody>
          <a:bodyPr wrap="square" lIns="0" tIns="0" rIns="0" bIns="0" rtlCol="0" anchor="t"/>
          <a:lstStyle/>
          <a:p>
            <a:pPr marL="0" indent="0">
              <a:buNone/>
            </a:pPr>
            <a:r>
              <a:rPr lang="en-US" sz="1000" dirty="0">
                <a:solidFill>
                  <a:srgbClr val="5B6670"/>
                </a:solidFill>
                <a:latin typeface="Calibri" pitchFamily="34" charset="0"/>
                <a:ea typeface="Calibri" pitchFamily="34" charset="-122"/>
                <a:cs typeface="Calibri" pitchFamily="34" charset="-120"/>
              </a:rPr>
              <a:t>comprobantes, envíos, notas de crédito</a:t>
            </a:r>
            <a:endParaRPr lang="en-US" sz="1000" dirty="0"/>
          </a:p>
        </p:txBody>
      </p:sp>
      <p:sp>
        <p:nvSpPr>
          <p:cNvPr id="37" name="Shape 35"/>
          <p:cNvSpPr/>
          <p:nvPr/>
        </p:nvSpPr>
        <p:spPr>
          <a:xfrm>
            <a:off x="5705856" y="3931920"/>
            <a:ext cx="2395728" cy="960120"/>
          </a:xfrm>
          <a:prstGeom prst="roundRect">
            <a:avLst>
              <a:gd name="adj" fmla="val 7619"/>
            </a:avLst>
          </a:prstGeom>
          <a:solidFill>
            <a:srgbClr val="E3F1EC"/>
          </a:solidFill>
          <a:ln w="12700">
            <a:solidFill>
              <a:srgbClr val="0F6E57"/>
            </a:solidFill>
            <a:prstDash val="solid"/>
          </a:ln>
        </p:spPr>
      </p:sp>
      <p:sp>
        <p:nvSpPr>
          <p:cNvPr id="38" name="Text 36"/>
          <p:cNvSpPr txBox="1"/>
          <p:nvPr/>
        </p:nvSpPr>
        <p:spPr>
          <a:xfrm>
            <a:off x="5843016" y="4023360"/>
            <a:ext cx="2148840" cy="256032"/>
          </a:xfrm>
          <a:prstGeom prst="rect">
            <a:avLst/>
          </a:prstGeom>
          <a:noFill/>
          <a:ln/>
        </p:spPr>
        <p:txBody>
          <a:bodyPr wrap="square" lIns="0" tIns="0" rIns="0" bIns="0" rtlCol="0" anchor="t"/>
          <a:lstStyle/>
          <a:p>
            <a:pPr marL="0" indent="0">
              <a:buNone/>
            </a:pPr>
            <a:r>
              <a:rPr lang="en-US" sz="1200" b="1" dirty="0">
                <a:solidFill>
                  <a:srgbClr val="1F2933"/>
                </a:solidFill>
                <a:latin typeface="Courier New" pitchFamily="34" charset="0"/>
                <a:ea typeface="Courier New" pitchFamily="34" charset="-122"/>
                <a:cs typeface="Courier New" pitchFamily="34" charset="-120"/>
              </a:rPr>
              <a:t>9. ms-reportes</a:t>
            </a:r>
            <a:endParaRPr lang="en-US" sz="1200" dirty="0"/>
          </a:p>
        </p:txBody>
      </p:sp>
      <p:sp>
        <p:nvSpPr>
          <p:cNvPr id="39" name="Text 37"/>
          <p:cNvSpPr txBox="1"/>
          <p:nvPr/>
        </p:nvSpPr>
        <p:spPr>
          <a:xfrm>
            <a:off x="5843016" y="4297680"/>
            <a:ext cx="2148840" cy="237744"/>
          </a:xfrm>
          <a:prstGeom prst="rect">
            <a:avLst/>
          </a:prstGeom>
          <a:noFill/>
          <a:ln/>
        </p:spPr>
        <p:txBody>
          <a:bodyPr wrap="square" lIns="0" tIns="0" rIns="0" bIns="0" rtlCol="0" anchor="t"/>
          <a:lstStyle/>
          <a:p>
            <a:pPr marL="0" indent="0">
              <a:buNone/>
            </a:pPr>
            <a:r>
              <a:rPr lang="en-US" sz="1250" dirty="0">
                <a:solidFill>
                  <a:srgbClr val="1F2933"/>
                </a:solidFill>
                <a:latin typeface="Calibri" pitchFamily="34" charset="0"/>
                <a:ea typeface="Calibri" pitchFamily="34" charset="-122"/>
                <a:cs typeface="Calibri" pitchFamily="34" charset="-120"/>
              </a:rPr>
              <a:t>tableros sin tocar ventas</a:t>
            </a:r>
            <a:endParaRPr lang="en-US" sz="1250" dirty="0"/>
          </a:p>
        </p:txBody>
      </p:sp>
      <p:sp>
        <p:nvSpPr>
          <p:cNvPr id="40" name="Text 38"/>
          <p:cNvSpPr txBox="1"/>
          <p:nvPr/>
        </p:nvSpPr>
        <p:spPr>
          <a:xfrm>
            <a:off x="5843016" y="4553712"/>
            <a:ext cx="2148840" cy="274320"/>
          </a:xfrm>
          <a:prstGeom prst="rect">
            <a:avLst/>
          </a:prstGeom>
          <a:noFill/>
          <a:ln/>
        </p:spPr>
        <p:txBody>
          <a:bodyPr wrap="square" lIns="0" tIns="0" rIns="0" bIns="0" rtlCol="0" anchor="t"/>
          <a:lstStyle/>
          <a:p>
            <a:pPr marL="0" indent="0">
              <a:buNone/>
            </a:pPr>
            <a:r>
              <a:rPr lang="en-US" sz="1000" dirty="0">
                <a:solidFill>
                  <a:srgbClr val="5B6670"/>
                </a:solidFill>
                <a:latin typeface="Calibri" pitchFamily="34" charset="0"/>
                <a:ea typeface="Calibri" pitchFamily="34" charset="-122"/>
                <a:cs typeface="Calibri" pitchFamily="34" charset="-120"/>
              </a:rPr>
              <a:t>rm_ventas, se llena con eventos</a:t>
            </a:r>
            <a:endParaRPr lang="en-US" sz="1000" dirty="0"/>
          </a:p>
        </p:txBody>
      </p:sp>
      <p:sp>
        <p:nvSpPr>
          <p:cNvPr id="41" name="Text 39"/>
          <p:cNvSpPr txBox="1"/>
          <p:nvPr/>
        </p:nvSpPr>
        <p:spPr>
          <a:xfrm>
            <a:off x="548640" y="5029200"/>
            <a:ext cx="7589520" cy="274320"/>
          </a:xfrm>
          <a:prstGeom prst="rect">
            <a:avLst/>
          </a:prstGeom>
          <a:noFill/>
          <a:ln/>
        </p:spPr>
        <p:txBody>
          <a:bodyPr wrap="square" lIns="0" tIns="0" rIns="0" bIns="0" rtlCol="0" anchor="t"/>
          <a:lstStyle/>
          <a:p>
            <a:pPr marL="0" indent="0">
              <a:buNone/>
            </a:pPr>
            <a:r>
              <a:rPr lang="en-US" sz="1100" i="1" dirty="0">
                <a:solidFill>
                  <a:srgbClr val="5B6670"/>
                </a:solidFill>
                <a:latin typeface="Calibri" pitchFamily="34" charset="0"/>
                <a:ea typeface="Calibri" pitchFamily="34" charset="-122"/>
                <a:cs typeface="Calibri" pitchFamily="34" charset="-120"/>
              </a:rPr>
              <a:t>Borde rojo: sin él no hay venta.</a:t>
            </a:r>
            <a:endParaRPr lang="en-US" sz="1100" dirty="0"/>
          </a:p>
        </p:txBody>
      </p:sp>
      <p:sp>
        <p:nvSpPr>
          <p:cNvPr id="42" name="Text 40"/>
          <p:cNvSpPr txBox="1"/>
          <p:nvPr/>
        </p:nvSpPr>
        <p:spPr>
          <a:xfrm>
            <a:off x="8458200" y="1371600"/>
            <a:ext cx="3200400" cy="274320"/>
          </a:xfrm>
          <a:prstGeom prst="rect">
            <a:avLst/>
          </a:prstGeom>
          <a:noFill/>
          <a:ln/>
        </p:spPr>
        <p:txBody>
          <a:bodyPr wrap="square" lIns="0" tIns="0" rIns="0" bIns="0" rtlCol="0" anchor="t"/>
          <a:lstStyle/>
          <a:p>
            <a:pPr marL="0" indent="0">
              <a:buNone/>
            </a:pPr>
            <a:r>
              <a:rPr lang="en-US" sz="1100" b="1" kern="0" spc="100" dirty="0">
                <a:solidFill>
                  <a:srgbClr val="5B6670"/>
                </a:solidFill>
                <a:latin typeface="Calibri" pitchFamily="34" charset="0"/>
                <a:ea typeface="Calibri" pitchFamily="34" charset="-122"/>
                <a:cs typeface="Calibri" pitchFamily="34" charset="-120"/>
              </a:rPr>
              <a:t>INFRAESTRUCTURA: SIN REGLAS DE NEGOCIO</a:t>
            </a:r>
            <a:endParaRPr lang="en-US" sz="1100" dirty="0"/>
          </a:p>
        </p:txBody>
      </p:sp>
      <p:sp>
        <p:nvSpPr>
          <p:cNvPr id="43" name="Shape 41"/>
          <p:cNvSpPr/>
          <p:nvPr/>
        </p:nvSpPr>
        <p:spPr>
          <a:xfrm>
            <a:off x="8458200" y="1737360"/>
            <a:ext cx="3182112" cy="3154680"/>
          </a:xfrm>
          <a:prstGeom prst="roundRect">
            <a:avLst>
              <a:gd name="adj" fmla="val 2319"/>
            </a:avLst>
          </a:prstGeom>
          <a:solidFill>
            <a:srgbClr val="EEF1F3"/>
          </a:solidFill>
          <a:ln/>
        </p:spPr>
      </p:sp>
      <p:sp>
        <p:nvSpPr>
          <p:cNvPr id="44" name="Text 42"/>
          <p:cNvSpPr txBox="1"/>
          <p:nvPr/>
        </p:nvSpPr>
        <p:spPr>
          <a:xfrm>
            <a:off x="8641080" y="1847088"/>
            <a:ext cx="2880360" cy="457200"/>
          </a:xfrm>
          <a:prstGeom prst="rect">
            <a:avLst/>
          </a:prstGeom>
          <a:noFill/>
          <a:ln/>
        </p:spPr>
        <p:txBody>
          <a:bodyPr wrap="square" lIns="0" tIns="0" rIns="0" bIns="0" rtlCol="0" anchor="t"/>
          <a:lstStyle/>
          <a:p>
            <a:pPr marL="0" indent="0">
              <a:buNone/>
            </a:pPr>
            <a:r>
              <a:rPr lang="en-US" sz="1200" b="1" dirty="0">
                <a:solidFill>
                  <a:srgbClr val="1F2933"/>
                </a:solidFill>
                <a:latin typeface="Courier New" pitchFamily="34" charset="0"/>
                <a:ea typeface="Courier New" pitchFamily="34" charset="-122"/>
                <a:cs typeface="Courier New" pitchFamily="34" charset="-120"/>
              </a:rPr>
              <a:t>api-gateway</a:t>
            </a:r>
            <a:endParaRPr lang="en-US" sz="1500" dirty="0"/>
          </a:p>
          <a:p>
            <a:pPr marL="0" indent="0">
              <a:buNone/>
            </a:pPr>
            <a:r>
              <a:rPr lang="en-US" sz="1050" dirty="0">
                <a:solidFill>
                  <a:srgbClr val="5B6670"/>
                </a:solidFill>
                <a:latin typeface="Calibri" pitchFamily="34" charset="0"/>
                <a:ea typeface="Calibri" pitchFamily="34" charset="-122"/>
                <a:cs typeface="Calibri" pitchFamily="34" charset="-120"/>
              </a:rPr>
              <a:t>la puerta: valida el JWT, limita y enruta</a:t>
            </a:r>
            <a:endParaRPr lang="en-US" sz="1500" dirty="0"/>
          </a:p>
        </p:txBody>
      </p:sp>
      <p:sp>
        <p:nvSpPr>
          <p:cNvPr id="45" name="Text 43"/>
          <p:cNvSpPr txBox="1"/>
          <p:nvPr/>
        </p:nvSpPr>
        <p:spPr>
          <a:xfrm>
            <a:off x="8641080" y="2350008"/>
            <a:ext cx="2880360" cy="457200"/>
          </a:xfrm>
          <a:prstGeom prst="rect">
            <a:avLst/>
          </a:prstGeom>
          <a:noFill/>
          <a:ln/>
        </p:spPr>
        <p:txBody>
          <a:bodyPr wrap="square" lIns="0" tIns="0" rIns="0" bIns="0" rtlCol="0" anchor="t"/>
          <a:lstStyle/>
          <a:p>
            <a:pPr marL="0" indent="0">
              <a:buNone/>
            </a:pPr>
            <a:r>
              <a:rPr lang="en-US" sz="1200" b="1" dirty="0">
                <a:solidFill>
                  <a:srgbClr val="1F2933"/>
                </a:solidFill>
                <a:latin typeface="Courier New" pitchFamily="34" charset="0"/>
                <a:ea typeface="Courier New" pitchFamily="34" charset="-122"/>
                <a:cs typeface="Courier New" pitchFamily="34" charset="-120"/>
              </a:rPr>
              <a:t>Kafka</a:t>
            </a:r>
            <a:endParaRPr lang="en-US" sz="1500" dirty="0"/>
          </a:p>
          <a:p>
            <a:pPr marL="0" indent="0">
              <a:buNone/>
            </a:pPr>
            <a:r>
              <a:rPr lang="en-US" sz="1050" dirty="0">
                <a:solidFill>
                  <a:srgbClr val="5B6670"/>
                </a:solidFill>
                <a:latin typeface="Calibri" pitchFamily="34" charset="0"/>
                <a:ea typeface="Calibri" pitchFamily="34" charset="-122"/>
                <a:cs typeface="Calibri" pitchFamily="34" charset="-120"/>
              </a:rPr>
              <a:t>el correo entre servicios</a:t>
            </a:r>
            <a:endParaRPr lang="en-US" sz="1500" dirty="0"/>
          </a:p>
        </p:txBody>
      </p:sp>
      <p:sp>
        <p:nvSpPr>
          <p:cNvPr id="46" name="Text 44"/>
          <p:cNvSpPr txBox="1"/>
          <p:nvPr/>
        </p:nvSpPr>
        <p:spPr>
          <a:xfrm>
            <a:off x="8641080" y="2852928"/>
            <a:ext cx="2880360" cy="457200"/>
          </a:xfrm>
          <a:prstGeom prst="rect">
            <a:avLst/>
          </a:prstGeom>
          <a:noFill/>
          <a:ln/>
        </p:spPr>
        <p:txBody>
          <a:bodyPr wrap="square" lIns="0" tIns="0" rIns="0" bIns="0" rtlCol="0" anchor="t"/>
          <a:lstStyle/>
          <a:p>
            <a:pPr marL="0" indent="0">
              <a:buNone/>
            </a:pPr>
            <a:r>
              <a:rPr lang="en-US" sz="1200" b="1" dirty="0">
                <a:solidFill>
                  <a:srgbClr val="1F2933"/>
                </a:solidFill>
                <a:latin typeface="Courier New" pitchFamily="34" charset="0"/>
                <a:ea typeface="Courier New" pitchFamily="34" charset="-122"/>
                <a:cs typeface="Courier New" pitchFamily="34" charset="-120"/>
              </a:rPr>
              <a:t>Redis</a:t>
            </a:r>
            <a:endParaRPr lang="en-US" sz="1500" dirty="0"/>
          </a:p>
          <a:p>
            <a:pPr marL="0" indent="0">
              <a:buNone/>
            </a:pPr>
            <a:r>
              <a:rPr lang="en-US" sz="1050" dirty="0">
                <a:solidFill>
                  <a:srgbClr val="5B6670"/>
                </a:solidFill>
                <a:latin typeface="Calibri" pitchFamily="34" charset="0"/>
                <a:ea typeface="Calibri" pitchFamily="34" charset="-122"/>
                <a:cs typeface="Calibri" pitchFamily="34" charset="-120"/>
              </a:rPr>
              <a:t>idempotencia y límite de peticiones</a:t>
            </a:r>
            <a:endParaRPr lang="en-US" sz="1500" dirty="0"/>
          </a:p>
        </p:txBody>
      </p:sp>
      <p:sp>
        <p:nvSpPr>
          <p:cNvPr id="47" name="Text 45"/>
          <p:cNvSpPr txBox="1"/>
          <p:nvPr/>
        </p:nvSpPr>
        <p:spPr>
          <a:xfrm>
            <a:off x="8641080" y="3355848"/>
            <a:ext cx="2880360" cy="457200"/>
          </a:xfrm>
          <a:prstGeom prst="rect">
            <a:avLst/>
          </a:prstGeom>
          <a:noFill/>
          <a:ln/>
        </p:spPr>
        <p:txBody>
          <a:bodyPr wrap="square" lIns="0" tIns="0" rIns="0" bIns="0" rtlCol="0" anchor="t"/>
          <a:lstStyle/>
          <a:p>
            <a:pPr marL="0" indent="0">
              <a:buNone/>
            </a:pPr>
            <a:r>
              <a:rPr lang="en-US" sz="1200" b="1" dirty="0">
                <a:solidFill>
                  <a:srgbClr val="1F2933"/>
                </a:solidFill>
                <a:latin typeface="Courier New" pitchFamily="34" charset="0"/>
                <a:ea typeface="Courier New" pitchFamily="34" charset="-122"/>
                <a:cs typeface="Courier New" pitchFamily="34" charset="-120"/>
              </a:rPr>
              <a:t>PostgreSQL</a:t>
            </a:r>
            <a:endParaRPr lang="en-US" sz="1500" dirty="0"/>
          </a:p>
          <a:p>
            <a:pPr marL="0" indent="0">
              <a:buNone/>
            </a:pPr>
            <a:r>
              <a:rPr lang="en-US" sz="1050" dirty="0">
                <a:solidFill>
                  <a:srgbClr val="5B6670"/>
                </a:solidFill>
                <a:latin typeface="Calibri" pitchFamily="34" charset="0"/>
                <a:ea typeface="Calibri" pitchFamily="34" charset="-122"/>
                <a:cs typeface="Calibri" pitchFamily="34" charset="-120"/>
              </a:rPr>
              <a:t>un motor, nueve bases aisladas</a:t>
            </a:r>
            <a:endParaRPr lang="en-US" sz="1500" dirty="0"/>
          </a:p>
        </p:txBody>
      </p:sp>
      <p:sp>
        <p:nvSpPr>
          <p:cNvPr id="48" name="Text 46"/>
          <p:cNvSpPr txBox="1"/>
          <p:nvPr/>
        </p:nvSpPr>
        <p:spPr>
          <a:xfrm>
            <a:off x="8641080" y="3858768"/>
            <a:ext cx="2880360" cy="457200"/>
          </a:xfrm>
          <a:prstGeom prst="rect">
            <a:avLst/>
          </a:prstGeom>
          <a:noFill/>
          <a:ln/>
        </p:spPr>
        <p:txBody>
          <a:bodyPr wrap="square" lIns="0" tIns="0" rIns="0" bIns="0" rtlCol="0" anchor="t"/>
          <a:lstStyle/>
          <a:p>
            <a:pPr marL="0" indent="0">
              <a:buNone/>
            </a:pPr>
            <a:r>
              <a:rPr lang="en-US" sz="1200" b="1" dirty="0">
                <a:solidFill>
                  <a:srgbClr val="1F2933"/>
                </a:solidFill>
                <a:latin typeface="Courier New" pitchFamily="34" charset="0"/>
                <a:ea typeface="Courier New" pitchFamily="34" charset="-122"/>
                <a:cs typeface="Courier New" pitchFamily="34" charset="-120"/>
              </a:rPr>
              <a:t>frontend</a:t>
            </a:r>
            <a:endParaRPr lang="en-US" sz="1500" dirty="0"/>
          </a:p>
          <a:p>
            <a:pPr marL="0" indent="0">
              <a:buNone/>
            </a:pPr>
            <a:r>
              <a:rPr lang="en-US" sz="1050" dirty="0">
                <a:solidFill>
                  <a:srgbClr val="5B6670"/>
                </a:solidFill>
                <a:latin typeface="Calibri" pitchFamily="34" charset="0"/>
                <a:ea typeface="Calibri" pitchFamily="34" charset="-122"/>
                <a:cs typeface="Calibri" pitchFamily="34" charset="-120"/>
              </a:rPr>
              <a:t>la pantalla de la caja: React y Nginx</a:t>
            </a:r>
            <a:endParaRPr lang="en-US" sz="1500" dirty="0"/>
          </a:p>
        </p:txBody>
      </p:sp>
      <p:sp>
        <p:nvSpPr>
          <p:cNvPr id="49" name="Text 47"/>
          <p:cNvSpPr txBox="1"/>
          <p:nvPr/>
        </p:nvSpPr>
        <p:spPr>
          <a:xfrm>
            <a:off x="8641080" y="4361688"/>
            <a:ext cx="2880360" cy="457200"/>
          </a:xfrm>
          <a:prstGeom prst="rect">
            <a:avLst/>
          </a:prstGeom>
          <a:noFill/>
          <a:ln/>
        </p:spPr>
        <p:txBody>
          <a:bodyPr wrap="square" lIns="0" tIns="0" rIns="0" bIns="0" rtlCol="0" anchor="t"/>
          <a:lstStyle/>
          <a:p>
            <a:pPr marL="0" indent="0">
              <a:buNone/>
            </a:pPr>
            <a:r>
              <a:rPr lang="en-US" sz="1200" b="1" dirty="0">
                <a:solidFill>
                  <a:srgbClr val="1F2933"/>
                </a:solidFill>
                <a:latin typeface="Courier New" pitchFamily="34" charset="0"/>
                <a:ea typeface="Courier New" pitchFamily="34" charset="-122"/>
                <a:cs typeface="Courier New" pitchFamily="34" charset="-120"/>
              </a:rPr>
              <a:t>observabilidad</a:t>
            </a:r>
            <a:endParaRPr lang="en-US" sz="1500" dirty="0"/>
          </a:p>
          <a:p>
            <a:pPr marL="0" indent="0">
              <a:buNone/>
            </a:pPr>
            <a:r>
              <a:rPr lang="en-US" sz="1050" dirty="0">
                <a:solidFill>
                  <a:srgbClr val="5B6670"/>
                </a:solidFill>
                <a:latin typeface="Calibri" pitchFamily="34" charset="0"/>
                <a:ea typeface="Calibri" pitchFamily="34" charset="-122"/>
                <a:cs typeface="Calibri" pitchFamily="34" charset="-120"/>
              </a:rPr>
              <a:t>Prometheus, Grafana, Tempo y Loki</a:t>
            </a:r>
            <a:endParaRPr lang="en-US" sz="1500" dirty="0"/>
          </a:p>
        </p:txBody>
      </p:sp>
      <p:sp>
        <p:nvSpPr>
          <p:cNvPr id="50" name="Shape 48"/>
          <p:cNvSpPr/>
          <p:nvPr/>
        </p:nvSpPr>
        <p:spPr>
          <a:xfrm>
            <a:off x="548640" y="5440680"/>
            <a:ext cx="3840480" cy="960120"/>
          </a:xfrm>
          <a:prstGeom prst="roundRect">
            <a:avLst>
              <a:gd name="adj" fmla="val 7619"/>
            </a:avLst>
          </a:prstGeom>
          <a:solidFill>
            <a:srgbClr val="0F6E57"/>
          </a:solidFill>
          <a:ln/>
        </p:spPr>
      </p:sp>
      <p:sp>
        <p:nvSpPr>
          <p:cNvPr id="51" name="Text 49"/>
          <p:cNvSpPr txBox="1"/>
          <p:nvPr/>
        </p:nvSpPr>
        <p:spPr>
          <a:xfrm>
            <a:off x="777240" y="5532120"/>
            <a:ext cx="3474720" cy="822960"/>
          </a:xfrm>
          <a:prstGeom prst="rect">
            <a:avLst/>
          </a:prstGeom>
          <a:noFill/>
          <a:ln/>
        </p:spPr>
        <p:txBody>
          <a:bodyPr wrap="square" lIns="0" tIns="0" rIns="0" bIns="0" rtlCol="0" anchor="t"/>
          <a:lstStyle/>
          <a:p>
            <a:pPr marL="0" indent="0">
              <a:buNone/>
            </a:pPr>
            <a:r>
              <a:rPr lang="en-US" sz="2400" b="1" dirty="0">
                <a:solidFill>
                  <a:srgbClr val="FFFFFF"/>
                </a:solidFill>
                <a:latin typeface="Cambria" pitchFamily="34" charset="0"/>
                <a:ea typeface="Cambria" pitchFamily="34" charset="-122"/>
                <a:cs typeface="Cambria" pitchFamily="34" charset="-120"/>
              </a:rPr>
              <a:t>9 + 1 = 10 procesos</a:t>
            </a:r>
            <a:endParaRPr lang="en-US" sz="1500" dirty="0"/>
          </a:p>
          <a:p>
            <a:pPr marL="0" indent="0">
              <a:buNone/>
            </a:pPr>
            <a:r>
              <a:rPr lang="en-US" sz="1200" dirty="0">
                <a:solidFill>
                  <a:srgbClr val="C9E6DB"/>
                </a:solidFill>
                <a:latin typeface="Calibri" pitchFamily="34" charset="0"/>
                <a:ea typeface="Calibri" pitchFamily="34" charset="-122"/>
                <a:cs typeface="Calibri" pitchFamily="34" charset="-120"/>
              </a:rPr>
              <a:t>nueve de negocio más el gateway, que operar y monitorear</a:t>
            </a:r>
            <a:endParaRPr lang="en-US" sz="1500" dirty="0"/>
          </a:p>
        </p:txBody>
      </p:sp>
      <p:sp>
        <p:nvSpPr>
          <p:cNvPr id="52" name="Shape 50"/>
          <p:cNvSpPr/>
          <p:nvPr/>
        </p:nvSpPr>
        <p:spPr>
          <a:xfrm>
            <a:off x="4572000" y="5440680"/>
            <a:ext cx="7068312" cy="960120"/>
          </a:xfrm>
          <a:prstGeom prst="roundRect">
            <a:avLst>
              <a:gd name="adj" fmla="val 7619"/>
            </a:avLst>
          </a:prstGeom>
          <a:solidFill>
            <a:srgbClr val="FBF1D9"/>
          </a:solidFill>
          <a:ln/>
        </p:spPr>
      </p:sp>
      <p:sp>
        <p:nvSpPr>
          <p:cNvPr id="53" name="Text 51"/>
          <p:cNvSpPr txBox="1"/>
          <p:nvPr/>
        </p:nvSpPr>
        <p:spPr>
          <a:xfrm>
            <a:off x="4754880" y="5550408"/>
            <a:ext cx="6702552" cy="777240"/>
          </a:xfrm>
          <a:prstGeom prst="rect">
            <a:avLst/>
          </a:prstGeom>
          <a:noFill/>
          <a:ln/>
        </p:spPr>
        <p:txBody>
          <a:bodyPr wrap="square" lIns="0" tIns="0" rIns="0" bIns="0" rtlCol="0" anchor="ctr"/>
          <a:lstStyle/>
          <a:p>
            <a:pPr marL="0" indent="0">
              <a:buNone/>
            </a:pPr>
            <a:r>
              <a:rPr lang="en-US" sz="1400" b="1" dirty="0">
                <a:solidFill>
                  <a:srgbClr val="9A6A0C"/>
                </a:solidFill>
                <a:latin typeface="Calibri" pitchFamily="34" charset="0"/>
                <a:ea typeface="Calibri" pitchFamily="34" charset="-122"/>
                <a:cs typeface="Calibri" pitchFamily="34" charset="-120"/>
              </a:rPr>
              <a:t>Para entenderlo: </a:t>
            </a:r>
            <a:r>
              <a:rPr lang="en-US" sz="1400" dirty="0">
                <a:solidFill>
                  <a:srgbClr val="1F2933"/>
                </a:solidFill>
                <a:latin typeface="Calibri" pitchFamily="34" charset="0"/>
                <a:ea typeface="Calibri" pitchFamily="34" charset="-122"/>
                <a:cs typeface="Calibri" pitchFamily="34" charset="-120"/>
              </a:rPr>
              <a:t>en un edificio, los nueve son las oficinas. El gateway es la recepción, Kafka el correo interno y PostgreSQL el archivo, con un estante con llave por oficina.</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972800" cy="274320"/>
          </a:xfrm>
          <a:prstGeom prst="rect">
            <a:avLst/>
          </a:prstGeom>
          <a:noFill/>
          <a:ln/>
        </p:spPr>
        <p:txBody>
          <a:bodyPr wrap="square" lIns="0" tIns="0" rIns="0" bIns="0" rtlCol="0" anchor="t"/>
          <a:lstStyle/>
          <a:p>
            <a:pPr marL="0" indent="0">
              <a:buNone/>
            </a:pPr>
            <a:r>
              <a:rPr lang="en-US" sz="1100" b="1" kern="0" spc="200" dirty="0">
                <a:solidFill>
                  <a:srgbClr val="0F6E57"/>
                </a:solidFill>
                <a:latin typeface="Calibri" pitchFamily="34" charset="0"/>
                <a:ea typeface="Calibri" pitchFamily="34" charset="-122"/>
                <a:cs typeface="Calibri" pitchFamily="34" charset="-120"/>
              </a:rPr>
              <a:t>BLOQUE 1, JUAN</a:t>
            </a:r>
            <a:endParaRPr lang="en-US" sz="1100" dirty="0"/>
          </a:p>
        </p:txBody>
      </p:sp>
      <p:sp>
        <p:nvSpPr>
          <p:cNvPr id="3" name="Text 1"/>
          <p:cNvSpPr txBox="1"/>
          <p:nvPr/>
        </p:nvSpPr>
        <p:spPr>
          <a:xfrm>
            <a:off x="548640" y="594360"/>
            <a:ext cx="11064240" cy="685800"/>
          </a:xfrm>
          <a:prstGeom prst="rect">
            <a:avLst/>
          </a:prstGeom>
          <a:noFill/>
          <a:ln/>
        </p:spPr>
        <p:txBody>
          <a:bodyPr wrap="square" lIns="0" tIns="0" rIns="0" bIns="0" rtlCol="0" anchor="t"/>
          <a:lstStyle/>
          <a:p>
            <a:pPr marL="0" indent="0">
              <a:buNone/>
            </a:pPr>
            <a:r>
              <a:rPr lang="en-US" sz="3000" b="1" dirty="0">
                <a:solidFill>
                  <a:srgbClr val="1F2933"/>
                </a:solidFill>
                <a:latin typeface="Cambria" pitchFamily="34" charset="0"/>
                <a:ea typeface="Cambria" pitchFamily="34" charset="-122"/>
                <a:cs typeface="Cambria" pitchFamily="34" charset="-120"/>
              </a:rPr>
              <a:t>Los nueve servicios y qué pasa si cada uno se cae</a:t>
            </a:r>
            <a:endParaRPr lang="en-US" sz="3000" dirty="0"/>
          </a:p>
        </p:txBody>
      </p:sp>
      <p:sp>
        <p:nvSpPr>
          <p:cNvPr id="4" name="Text 2"/>
          <p:cNvSpPr txBox="1"/>
          <p:nvPr/>
        </p:nvSpPr>
        <p:spPr>
          <a:xfrm>
            <a:off x="548640" y="1280160"/>
            <a:ext cx="10972800" cy="274320"/>
          </a:xfrm>
          <a:prstGeom prst="rect">
            <a:avLst/>
          </a:prstGeom>
          <a:noFill/>
          <a:ln/>
        </p:spPr>
        <p:txBody>
          <a:bodyPr wrap="square" lIns="0" tIns="0" rIns="0" bIns="0" rtlCol="0" anchor="t"/>
          <a:lstStyle/>
          <a:p>
            <a:pPr marL="0" indent="0">
              <a:buNone/>
            </a:pPr>
            <a:r>
              <a:rPr lang="en-US" sz="1250" dirty="0">
                <a:solidFill>
                  <a:srgbClr val="5B6670"/>
                </a:solidFill>
                <a:latin typeface="Calibri" pitchFamily="34" charset="0"/>
                <a:ea typeface="Calibri" pitchFamily="34" charset="-122"/>
                <a:cs typeface="Calibri" pitchFamily="34" charset="-120"/>
              </a:rPr>
              <a:t>Línea continua: el cliente espera.   Línea punteada: ya se fue.   Borde rojo: si se cae, no hay venta.</a:t>
            </a:r>
            <a:endParaRPr lang="en-US" sz="1250" dirty="0"/>
          </a:p>
        </p:txBody>
      </p:sp>
      <p:sp>
        <p:nvSpPr>
          <p:cNvPr id="5" name="Shape 3"/>
          <p:cNvSpPr/>
          <p:nvPr/>
        </p:nvSpPr>
        <p:spPr>
          <a:xfrm>
            <a:off x="548640" y="2926080"/>
            <a:ext cx="1554480" cy="822960"/>
          </a:xfrm>
          <a:prstGeom prst="roundRect">
            <a:avLst>
              <a:gd name="adj" fmla="val 8889"/>
            </a:avLst>
          </a:prstGeom>
          <a:solidFill>
            <a:srgbClr val="E6EEF9"/>
          </a:solidFill>
          <a:ln w="15875">
            <a:solidFill>
              <a:srgbClr val="1D5FA8"/>
            </a:solidFill>
            <a:prstDash val="solid"/>
          </a:ln>
        </p:spPr>
      </p:sp>
      <p:sp>
        <p:nvSpPr>
          <p:cNvPr id="6" name="Text 4"/>
          <p:cNvSpPr txBox="1"/>
          <p:nvPr/>
        </p:nvSpPr>
        <p:spPr>
          <a:xfrm>
            <a:off x="658368" y="2999232"/>
            <a:ext cx="1335024" cy="274320"/>
          </a:xfrm>
          <a:prstGeom prst="rect">
            <a:avLst/>
          </a:prstGeom>
          <a:noFill/>
          <a:ln/>
        </p:spPr>
        <p:txBody>
          <a:bodyPr wrap="square" lIns="0" tIns="0" rIns="0" bIns="0" rtlCol="0" anchor="t"/>
          <a:lstStyle/>
          <a:p>
            <a:pPr marL="0" indent="0">
              <a:buNone/>
            </a:pPr>
            <a:r>
              <a:rPr lang="en-US" sz="1300" b="1" dirty="0">
                <a:solidFill>
                  <a:srgbClr val="1F2933"/>
                </a:solidFill>
                <a:latin typeface="Courier New" pitchFamily="34" charset="0"/>
                <a:ea typeface="Courier New" pitchFamily="34" charset="-122"/>
                <a:cs typeface="Courier New" pitchFamily="34" charset="-120"/>
              </a:rPr>
              <a:t>Caja POS</a:t>
            </a:r>
            <a:endParaRPr lang="en-US" sz="1300" dirty="0"/>
          </a:p>
        </p:txBody>
      </p:sp>
      <p:sp>
        <p:nvSpPr>
          <p:cNvPr id="7" name="Text 5"/>
          <p:cNvSpPr txBox="1"/>
          <p:nvPr/>
        </p:nvSpPr>
        <p:spPr>
          <a:xfrm>
            <a:off x="658368" y="3273552"/>
            <a:ext cx="1335024" cy="438912"/>
          </a:xfrm>
          <a:prstGeom prst="rect">
            <a:avLst/>
          </a:prstGeom>
          <a:noFill/>
          <a:ln/>
        </p:spPr>
        <p:txBody>
          <a:bodyPr wrap="square" lIns="0" tIns="0" rIns="0" bIns="0" rtlCol="0" anchor="t"/>
          <a:lstStyle/>
          <a:p>
            <a:pPr marL="0" indent="0">
              <a:buNone/>
            </a:pPr>
            <a:r>
              <a:rPr lang="en-US" sz="1150" dirty="0">
                <a:solidFill>
                  <a:srgbClr val="5B6670"/>
                </a:solidFill>
                <a:latin typeface="Calibri" pitchFamily="34" charset="0"/>
                <a:ea typeface="Calibri" pitchFamily="34" charset="-122"/>
                <a:cs typeface="Calibri" pitchFamily="34" charset="-120"/>
              </a:rPr>
              <a:t>1500 cajas</a:t>
            </a:r>
            <a:endParaRPr lang="en-US" sz="1150" dirty="0"/>
          </a:p>
        </p:txBody>
      </p:sp>
      <p:sp>
        <p:nvSpPr>
          <p:cNvPr id="8" name="Shape 6"/>
          <p:cNvSpPr/>
          <p:nvPr/>
        </p:nvSpPr>
        <p:spPr>
          <a:xfrm>
            <a:off x="2468880" y="2926080"/>
            <a:ext cx="1645920" cy="822960"/>
          </a:xfrm>
          <a:prstGeom prst="roundRect">
            <a:avLst>
              <a:gd name="adj" fmla="val 8889"/>
            </a:avLst>
          </a:prstGeom>
          <a:solidFill>
            <a:srgbClr val="E3F1EC"/>
          </a:solidFill>
          <a:ln w="15875">
            <a:solidFill>
              <a:srgbClr val="0F6E57"/>
            </a:solidFill>
            <a:prstDash val="solid"/>
          </a:ln>
        </p:spPr>
      </p:sp>
      <p:sp>
        <p:nvSpPr>
          <p:cNvPr id="9" name="Text 7"/>
          <p:cNvSpPr txBox="1"/>
          <p:nvPr/>
        </p:nvSpPr>
        <p:spPr>
          <a:xfrm>
            <a:off x="2578608" y="2999232"/>
            <a:ext cx="1426464" cy="274320"/>
          </a:xfrm>
          <a:prstGeom prst="rect">
            <a:avLst/>
          </a:prstGeom>
          <a:noFill/>
          <a:ln/>
        </p:spPr>
        <p:txBody>
          <a:bodyPr wrap="square" lIns="0" tIns="0" rIns="0" bIns="0" rtlCol="0" anchor="t"/>
          <a:lstStyle/>
          <a:p>
            <a:pPr marL="0" indent="0">
              <a:buNone/>
            </a:pPr>
            <a:r>
              <a:rPr lang="en-US" sz="1300" b="1" dirty="0">
                <a:solidFill>
                  <a:srgbClr val="1F2933"/>
                </a:solidFill>
                <a:latin typeface="Courier New" pitchFamily="34" charset="0"/>
                <a:ea typeface="Courier New" pitchFamily="34" charset="-122"/>
                <a:cs typeface="Courier New" pitchFamily="34" charset="-120"/>
              </a:rPr>
              <a:t>gateway</a:t>
            </a:r>
            <a:endParaRPr lang="en-US" sz="1300" dirty="0"/>
          </a:p>
        </p:txBody>
      </p:sp>
      <p:sp>
        <p:nvSpPr>
          <p:cNvPr id="10" name="Text 8"/>
          <p:cNvSpPr txBox="1"/>
          <p:nvPr/>
        </p:nvSpPr>
        <p:spPr>
          <a:xfrm>
            <a:off x="2578608" y="3273552"/>
            <a:ext cx="1426464" cy="438912"/>
          </a:xfrm>
          <a:prstGeom prst="rect">
            <a:avLst/>
          </a:prstGeom>
          <a:noFill/>
          <a:ln/>
        </p:spPr>
        <p:txBody>
          <a:bodyPr wrap="square" lIns="0" tIns="0" rIns="0" bIns="0" rtlCol="0" anchor="t"/>
          <a:lstStyle/>
          <a:p>
            <a:pPr marL="0" indent="0">
              <a:buNone/>
            </a:pPr>
            <a:r>
              <a:rPr lang="en-US" sz="1150" dirty="0">
                <a:solidFill>
                  <a:srgbClr val="5B6670"/>
                </a:solidFill>
                <a:latin typeface="Calibri" pitchFamily="34" charset="0"/>
                <a:ea typeface="Calibri" pitchFamily="34" charset="-122"/>
                <a:cs typeface="Calibri" pitchFamily="34" charset="-120"/>
              </a:rPr>
              <a:t>valida el JWT</a:t>
            </a:r>
            <a:endParaRPr lang="en-US" sz="1150" dirty="0"/>
          </a:p>
        </p:txBody>
      </p:sp>
      <p:sp>
        <p:nvSpPr>
          <p:cNvPr id="11" name="Shape 9"/>
          <p:cNvSpPr/>
          <p:nvPr/>
        </p:nvSpPr>
        <p:spPr>
          <a:xfrm>
            <a:off x="2468880" y="1645920"/>
            <a:ext cx="1645920" cy="822960"/>
          </a:xfrm>
          <a:prstGeom prst="roundRect">
            <a:avLst>
              <a:gd name="adj" fmla="val 8889"/>
            </a:avLst>
          </a:prstGeom>
          <a:solidFill>
            <a:srgbClr val="E3F1EC"/>
          </a:solidFill>
          <a:ln w="15875">
            <a:solidFill>
              <a:srgbClr val="0F6E57"/>
            </a:solidFill>
            <a:prstDash val="solid"/>
          </a:ln>
        </p:spPr>
      </p:sp>
      <p:sp>
        <p:nvSpPr>
          <p:cNvPr id="12" name="Text 10"/>
          <p:cNvSpPr txBox="1"/>
          <p:nvPr/>
        </p:nvSpPr>
        <p:spPr>
          <a:xfrm>
            <a:off x="2578608" y="1719072"/>
            <a:ext cx="1426464" cy="274320"/>
          </a:xfrm>
          <a:prstGeom prst="rect">
            <a:avLst/>
          </a:prstGeom>
          <a:noFill/>
          <a:ln/>
        </p:spPr>
        <p:txBody>
          <a:bodyPr wrap="square" lIns="0" tIns="0" rIns="0" bIns="0" rtlCol="0" anchor="t"/>
          <a:lstStyle/>
          <a:p>
            <a:pPr marL="0" indent="0">
              <a:buNone/>
            </a:pPr>
            <a:r>
              <a:rPr lang="en-US" sz="1300" b="1" dirty="0">
                <a:solidFill>
                  <a:srgbClr val="1F2933"/>
                </a:solidFill>
                <a:latin typeface="Courier New" pitchFamily="34" charset="0"/>
                <a:ea typeface="Courier New" pitchFamily="34" charset="-122"/>
                <a:cs typeface="Courier New" pitchFamily="34" charset="-120"/>
              </a:rPr>
              <a:t>identidad</a:t>
            </a:r>
            <a:endParaRPr lang="en-US" sz="1300" dirty="0"/>
          </a:p>
        </p:txBody>
      </p:sp>
      <p:sp>
        <p:nvSpPr>
          <p:cNvPr id="13" name="Text 11"/>
          <p:cNvSpPr txBox="1"/>
          <p:nvPr/>
        </p:nvSpPr>
        <p:spPr>
          <a:xfrm>
            <a:off x="2578608" y="1993392"/>
            <a:ext cx="1426464" cy="438912"/>
          </a:xfrm>
          <a:prstGeom prst="rect">
            <a:avLst/>
          </a:prstGeom>
          <a:noFill/>
          <a:ln/>
        </p:spPr>
        <p:txBody>
          <a:bodyPr wrap="square" lIns="0" tIns="0" rIns="0" bIns="0" rtlCol="0" anchor="t"/>
          <a:lstStyle/>
          <a:p>
            <a:pPr marL="0" indent="0">
              <a:buNone/>
            </a:pPr>
            <a:r>
              <a:rPr lang="en-US" sz="1150" dirty="0">
                <a:solidFill>
                  <a:srgbClr val="5B6670"/>
                </a:solidFill>
                <a:latin typeface="Calibri" pitchFamily="34" charset="0"/>
                <a:ea typeface="Calibri" pitchFamily="34" charset="-122"/>
                <a:cs typeface="Calibri" pitchFamily="34" charset="-120"/>
              </a:rPr>
              <a:t>firma el JWT</a:t>
            </a:r>
            <a:endParaRPr lang="en-US" sz="1150" dirty="0"/>
          </a:p>
        </p:txBody>
      </p:sp>
      <p:sp>
        <p:nvSpPr>
          <p:cNvPr id="14" name="Shape 12"/>
          <p:cNvSpPr/>
          <p:nvPr/>
        </p:nvSpPr>
        <p:spPr>
          <a:xfrm>
            <a:off x="4480560" y="2788920"/>
            <a:ext cx="1828800" cy="1097280"/>
          </a:xfrm>
          <a:prstGeom prst="roundRect">
            <a:avLst>
              <a:gd name="adj" fmla="val 6667"/>
            </a:avLst>
          </a:prstGeom>
          <a:solidFill>
            <a:srgbClr val="E3F1EC"/>
          </a:solidFill>
          <a:ln w="31750">
            <a:solidFill>
              <a:srgbClr val="B83A0E"/>
            </a:solidFill>
            <a:prstDash val="solid"/>
          </a:ln>
        </p:spPr>
      </p:sp>
      <p:sp>
        <p:nvSpPr>
          <p:cNvPr id="15" name="Text 13"/>
          <p:cNvSpPr txBox="1"/>
          <p:nvPr/>
        </p:nvSpPr>
        <p:spPr>
          <a:xfrm>
            <a:off x="4590288" y="2862072"/>
            <a:ext cx="1609344" cy="274320"/>
          </a:xfrm>
          <a:prstGeom prst="rect">
            <a:avLst/>
          </a:prstGeom>
          <a:noFill/>
          <a:ln/>
        </p:spPr>
        <p:txBody>
          <a:bodyPr wrap="square" lIns="0" tIns="0" rIns="0" bIns="0" rtlCol="0" anchor="t"/>
          <a:lstStyle/>
          <a:p>
            <a:pPr marL="0" indent="0">
              <a:buNone/>
            </a:pPr>
            <a:r>
              <a:rPr lang="en-US" sz="1300" b="1" dirty="0">
                <a:solidFill>
                  <a:srgbClr val="1F2933"/>
                </a:solidFill>
                <a:latin typeface="Courier New" pitchFamily="34" charset="0"/>
                <a:ea typeface="Courier New" pitchFamily="34" charset="-122"/>
                <a:cs typeface="Courier New" pitchFamily="34" charset="-120"/>
              </a:rPr>
              <a:t>ventas</a:t>
            </a:r>
            <a:endParaRPr lang="en-US" sz="1300" dirty="0"/>
          </a:p>
        </p:txBody>
      </p:sp>
      <p:sp>
        <p:nvSpPr>
          <p:cNvPr id="16" name="Text 14"/>
          <p:cNvSpPr txBox="1"/>
          <p:nvPr/>
        </p:nvSpPr>
        <p:spPr>
          <a:xfrm>
            <a:off x="4590288" y="3136392"/>
            <a:ext cx="1609344" cy="713232"/>
          </a:xfrm>
          <a:prstGeom prst="rect">
            <a:avLst/>
          </a:prstGeom>
          <a:noFill/>
          <a:ln/>
        </p:spPr>
        <p:txBody>
          <a:bodyPr wrap="square" lIns="0" tIns="0" rIns="0" bIns="0" rtlCol="0" anchor="t"/>
          <a:lstStyle/>
          <a:p>
            <a:pPr marL="0" indent="0">
              <a:buNone/>
            </a:pPr>
            <a:r>
              <a:rPr lang="en-US" sz="1150" dirty="0">
                <a:solidFill>
                  <a:srgbClr val="B83A0E"/>
                </a:solidFill>
                <a:latin typeface="Calibri" pitchFamily="34" charset="0"/>
                <a:ea typeface="Calibri" pitchFamily="34" charset="-122"/>
                <a:cs typeface="Calibri" pitchFamily="34" charset="-120"/>
              </a:rPr>
              <a:t>orquesta la venta</a:t>
            </a:r>
            <a:endParaRPr lang="en-US" sz="1150" dirty="0"/>
          </a:p>
          <a:p>
            <a:pPr marL="0" indent="0">
              <a:buNone/>
            </a:pPr>
            <a:r>
              <a:rPr lang="en-US" sz="1150" dirty="0">
                <a:solidFill>
                  <a:srgbClr val="B83A0E"/>
                </a:solidFill>
                <a:latin typeface="Calibri" pitchFamily="34" charset="0"/>
                <a:ea typeface="Calibri" pitchFamily="34" charset="-122"/>
                <a:cs typeface="Calibri" pitchFamily="34" charset="-120"/>
              </a:rPr>
              <a:t>si cae: no hay venta</a:t>
            </a:r>
            <a:endParaRPr lang="en-US" sz="1150" dirty="0"/>
          </a:p>
        </p:txBody>
      </p:sp>
      <p:sp>
        <p:nvSpPr>
          <p:cNvPr id="17" name="Shape 15"/>
          <p:cNvSpPr/>
          <p:nvPr/>
        </p:nvSpPr>
        <p:spPr>
          <a:xfrm>
            <a:off x="2103120" y="3337560"/>
            <a:ext cx="365760" cy="0"/>
          </a:xfrm>
          <a:prstGeom prst="line">
            <a:avLst/>
          </a:prstGeom>
          <a:noFill/>
          <a:ln w="22225">
            <a:solidFill>
              <a:srgbClr val="5B6670"/>
            </a:solidFill>
            <a:prstDash val="solid"/>
            <a:tailEnd type="triangle"/>
          </a:ln>
        </p:spPr>
      </p:sp>
      <p:sp>
        <p:nvSpPr>
          <p:cNvPr id="18" name="Shape 16"/>
          <p:cNvSpPr/>
          <p:nvPr/>
        </p:nvSpPr>
        <p:spPr>
          <a:xfrm>
            <a:off x="3291840" y="2468880"/>
            <a:ext cx="0" cy="457200"/>
          </a:xfrm>
          <a:prstGeom prst="line">
            <a:avLst/>
          </a:prstGeom>
          <a:noFill/>
          <a:ln w="22225">
            <a:solidFill>
              <a:srgbClr val="5B6670"/>
            </a:solidFill>
            <a:prstDash val="solid"/>
          </a:ln>
        </p:spPr>
      </p:sp>
      <p:sp>
        <p:nvSpPr>
          <p:cNvPr id="19" name="Shape 17"/>
          <p:cNvSpPr/>
          <p:nvPr/>
        </p:nvSpPr>
        <p:spPr>
          <a:xfrm>
            <a:off x="4114800" y="3337560"/>
            <a:ext cx="365760" cy="0"/>
          </a:xfrm>
          <a:prstGeom prst="line">
            <a:avLst/>
          </a:prstGeom>
          <a:noFill/>
          <a:ln w="22225">
            <a:solidFill>
              <a:srgbClr val="5B6670"/>
            </a:solidFill>
            <a:prstDash val="solid"/>
            <a:tailEnd type="triangle"/>
          </a:ln>
        </p:spPr>
      </p:sp>
      <p:sp>
        <p:nvSpPr>
          <p:cNvPr id="20" name="Shape 18"/>
          <p:cNvSpPr/>
          <p:nvPr/>
        </p:nvSpPr>
        <p:spPr>
          <a:xfrm>
            <a:off x="6309360" y="3337560"/>
            <a:ext cx="365760" cy="0"/>
          </a:xfrm>
          <a:prstGeom prst="line">
            <a:avLst/>
          </a:prstGeom>
          <a:noFill/>
          <a:ln w="22225">
            <a:solidFill>
              <a:srgbClr val="5B6670"/>
            </a:solidFill>
            <a:prstDash val="solid"/>
          </a:ln>
        </p:spPr>
      </p:sp>
      <p:sp>
        <p:nvSpPr>
          <p:cNvPr id="21" name="Shape 19"/>
          <p:cNvSpPr/>
          <p:nvPr/>
        </p:nvSpPr>
        <p:spPr>
          <a:xfrm>
            <a:off x="6675120" y="1691640"/>
            <a:ext cx="0" cy="2743200"/>
          </a:xfrm>
          <a:prstGeom prst="line">
            <a:avLst/>
          </a:prstGeom>
          <a:noFill/>
          <a:ln w="22225">
            <a:solidFill>
              <a:srgbClr val="5B6670"/>
            </a:solidFill>
            <a:prstDash val="solid"/>
          </a:ln>
        </p:spPr>
      </p:sp>
      <p:sp>
        <p:nvSpPr>
          <p:cNvPr id="22" name="Shape 20"/>
          <p:cNvSpPr/>
          <p:nvPr/>
        </p:nvSpPr>
        <p:spPr>
          <a:xfrm>
            <a:off x="6675120" y="1691640"/>
            <a:ext cx="320040" cy="0"/>
          </a:xfrm>
          <a:prstGeom prst="line">
            <a:avLst/>
          </a:prstGeom>
          <a:noFill/>
          <a:ln w="22225">
            <a:solidFill>
              <a:srgbClr val="5B6670"/>
            </a:solidFill>
            <a:prstDash val="solid"/>
            <a:tailEnd type="triangle"/>
          </a:ln>
        </p:spPr>
      </p:sp>
      <p:sp>
        <p:nvSpPr>
          <p:cNvPr id="23" name="Shape 21"/>
          <p:cNvSpPr/>
          <p:nvPr/>
        </p:nvSpPr>
        <p:spPr>
          <a:xfrm>
            <a:off x="6995160" y="1417320"/>
            <a:ext cx="2834640" cy="566928"/>
          </a:xfrm>
          <a:prstGeom prst="roundRect">
            <a:avLst>
              <a:gd name="adj" fmla="val 12903"/>
            </a:avLst>
          </a:prstGeom>
          <a:solidFill>
            <a:srgbClr val="E3F1EC"/>
          </a:solidFill>
          <a:ln w="31750">
            <a:solidFill>
              <a:srgbClr val="B83A0E"/>
            </a:solidFill>
            <a:prstDash val="solid"/>
          </a:ln>
        </p:spPr>
      </p:sp>
      <p:sp>
        <p:nvSpPr>
          <p:cNvPr id="24" name="Text 22"/>
          <p:cNvSpPr txBox="1"/>
          <p:nvPr/>
        </p:nvSpPr>
        <p:spPr>
          <a:xfrm>
            <a:off x="7104888" y="1490472"/>
            <a:ext cx="2615184" cy="274320"/>
          </a:xfrm>
          <a:prstGeom prst="rect">
            <a:avLst/>
          </a:prstGeom>
          <a:noFill/>
          <a:ln/>
        </p:spPr>
        <p:txBody>
          <a:bodyPr wrap="square" lIns="0" tIns="0" rIns="0" bIns="0" rtlCol="0" anchor="t"/>
          <a:lstStyle/>
          <a:p>
            <a:pPr marL="0" indent="0">
              <a:buNone/>
            </a:pPr>
            <a:r>
              <a:rPr lang="en-US" sz="1300" b="1" dirty="0">
                <a:solidFill>
                  <a:srgbClr val="1F2933"/>
                </a:solidFill>
                <a:latin typeface="Courier New" pitchFamily="34" charset="0"/>
                <a:ea typeface="Courier New" pitchFamily="34" charset="-122"/>
                <a:cs typeface="Courier New" pitchFamily="34" charset="-120"/>
              </a:rPr>
              <a:t>catálogo</a:t>
            </a:r>
            <a:endParaRPr lang="en-US" sz="1300" dirty="0"/>
          </a:p>
        </p:txBody>
      </p:sp>
      <p:sp>
        <p:nvSpPr>
          <p:cNvPr id="25" name="Text 23"/>
          <p:cNvSpPr txBox="1"/>
          <p:nvPr/>
        </p:nvSpPr>
        <p:spPr>
          <a:xfrm>
            <a:off x="7104888" y="1728216"/>
            <a:ext cx="2651760" cy="228600"/>
          </a:xfrm>
          <a:prstGeom prst="rect">
            <a:avLst/>
          </a:prstGeom>
          <a:noFill/>
          <a:ln/>
        </p:spPr>
        <p:txBody>
          <a:bodyPr wrap="square" lIns="0" tIns="0" rIns="0" bIns="0" rtlCol="0" anchor="t"/>
          <a:lstStyle/>
          <a:p>
            <a:pPr marL="0" indent="0">
              <a:buNone/>
            </a:pPr>
            <a:r>
              <a:rPr lang="en-US" sz="1100" b="1" dirty="0">
                <a:solidFill>
                  <a:srgbClr val="B83A0E"/>
                </a:solidFill>
                <a:latin typeface="Calibri" pitchFamily="34" charset="0"/>
                <a:ea typeface="Calibri" pitchFamily="34" charset="-122"/>
                <a:cs typeface="Calibri" pitchFamily="34" charset="-120"/>
              </a:rPr>
              <a:t>200 ms, si cae: sin precio</a:t>
            </a:r>
            <a:endParaRPr lang="en-US" sz="1100" dirty="0"/>
          </a:p>
        </p:txBody>
      </p:sp>
      <p:sp>
        <p:nvSpPr>
          <p:cNvPr id="26" name="Shape 24"/>
          <p:cNvSpPr/>
          <p:nvPr/>
        </p:nvSpPr>
        <p:spPr>
          <a:xfrm>
            <a:off x="6675120" y="2377440"/>
            <a:ext cx="320040" cy="0"/>
          </a:xfrm>
          <a:prstGeom prst="line">
            <a:avLst/>
          </a:prstGeom>
          <a:noFill/>
          <a:ln w="22225">
            <a:solidFill>
              <a:srgbClr val="5B6670"/>
            </a:solidFill>
            <a:prstDash val="solid"/>
            <a:tailEnd type="triangle"/>
          </a:ln>
        </p:spPr>
      </p:sp>
      <p:sp>
        <p:nvSpPr>
          <p:cNvPr id="27" name="Shape 25"/>
          <p:cNvSpPr/>
          <p:nvPr/>
        </p:nvSpPr>
        <p:spPr>
          <a:xfrm>
            <a:off x="6995160" y="2103120"/>
            <a:ext cx="2834640" cy="566928"/>
          </a:xfrm>
          <a:prstGeom prst="roundRect">
            <a:avLst>
              <a:gd name="adj" fmla="val 12903"/>
            </a:avLst>
          </a:prstGeom>
          <a:solidFill>
            <a:srgbClr val="E3F1EC"/>
          </a:solidFill>
          <a:ln w="31750">
            <a:solidFill>
              <a:srgbClr val="B83A0E"/>
            </a:solidFill>
            <a:prstDash val="solid"/>
          </a:ln>
        </p:spPr>
      </p:sp>
      <p:sp>
        <p:nvSpPr>
          <p:cNvPr id="28" name="Text 26"/>
          <p:cNvSpPr txBox="1"/>
          <p:nvPr/>
        </p:nvSpPr>
        <p:spPr>
          <a:xfrm>
            <a:off x="7104888" y="2176272"/>
            <a:ext cx="2615184" cy="274320"/>
          </a:xfrm>
          <a:prstGeom prst="rect">
            <a:avLst/>
          </a:prstGeom>
          <a:noFill/>
          <a:ln/>
        </p:spPr>
        <p:txBody>
          <a:bodyPr wrap="square" lIns="0" tIns="0" rIns="0" bIns="0" rtlCol="0" anchor="t"/>
          <a:lstStyle/>
          <a:p>
            <a:pPr marL="0" indent="0">
              <a:buNone/>
            </a:pPr>
            <a:r>
              <a:rPr lang="en-US" sz="1300" b="1" dirty="0">
                <a:solidFill>
                  <a:srgbClr val="1F2933"/>
                </a:solidFill>
                <a:latin typeface="Courier New" pitchFamily="34" charset="0"/>
                <a:ea typeface="Courier New" pitchFamily="34" charset="-122"/>
                <a:cs typeface="Courier New" pitchFamily="34" charset="-120"/>
              </a:rPr>
              <a:t>inventario</a:t>
            </a:r>
            <a:endParaRPr lang="en-US" sz="1300" dirty="0"/>
          </a:p>
        </p:txBody>
      </p:sp>
      <p:sp>
        <p:nvSpPr>
          <p:cNvPr id="29" name="Text 27"/>
          <p:cNvSpPr txBox="1"/>
          <p:nvPr/>
        </p:nvSpPr>
        <p:spPr>
          <a:xfrm>
            <a:off x="7104888" y="2414016"/>
            <a:ext cx="2651760" cy="228600"/>
          </a:xfrm>
          <a:prstGeom prst="rect">
            <a:avLst/>
          </a:prstGeom>
          <a:noFill/>
          <a:ln/>
        </p:spPr>
        <p:txBody>
          <a:bodyPr wrap="square" lIns="0" tIns="0" rIns="0" bIns="0" rtlCol="0" anchor="t"/>
          <a:lstStyle/>
          <a:p>
            <a:pPr marL="0" indent="0">
              <a:buNone/>
            </a:pPr>
            <a:r>
              <a:rPr lang="en-US" sz="1100" b="1" dirty="0">
                <a:solidFill>
                  <a:srgbClr val="B83A0E"/>
                </a:solidFill>
                <a:latin typeface="Calibri" pitchFamily="34" charset="0"/>
                <a:ea typeface="Calibri" pitchFamily="34" charset="-122"/>
                <a:cs typeface="Calibri" pitchFamily="34" charset="-120"/>
              </a:rPr>
              <a:t>500 ms, si cae: sin stock</a:t>
            </a:r>
            <a:endParaRPr lang="en-US" sz="1100" dirty="0"/>
          </a:p>
        </p:txBody>
      </p:sp>
      <p:sp>
        <p:nvSpPr>
          <p:cNvPr id="30" name="Shape 28"/>
          <p:cNvSpPr/>
          <p:nvPr/>
        </p:nvSpPr>
        <p:spPr>
          <a:xfrm>
            <a:off x="6675120" y="3063240"/>
            <a:ext cx="320040" cy="0"/>
          </a:xfrm>
          <a:prstGeom prst="line">
            <a:avLst/>
          </a:prstGeom>
          <a:noFill/>
          <a:ln w="22225">
            <a:solidFill>
              <a:srgbClr val="5B6670"/>
            </a:solidFill>
            <a:prstDash val="solid"/>
            <a:tailEnd type="triangle"/>
          </a:ln>
        </p:spPr>
      </p:sp>
      <p:sp>
        <p:nvSpPr>
          <p:cNvPr id="31" name="Shape 29"/>
          <p:cNvSpPr/>
          <p:nvPr/>
        </p:nvSpPr>
        <p:spPr>
          <a:xfrm>
            <a:off x="6995160" y="2788920"/>
            <a:ext cx="2834640" cy="566928"/>
          </a:xfrm>
          <a:prstGeom prst="roundRect">
            <a:avLst>
              <a:gd name="adj" fmla="val 12903"/>
            </a:avLst>
          </a:prstGeom>
          <a:solidFill>
            <a:srgbClr val="E3F1EC"/>
          </a:solidFill>
          <a:ln w="15875">
            <a:solidFill>
              <a:srgbClr val="0F6E57"/>
            </a:solidFill>
            <a:prstDash val="solid"/>
          </a:ln>
        </p:spPr>
      </p:sp>
      <p:sp>
        <p:nvSpPr>
          <p:cNvPr id="32" name="Text 30"/>
          <p:cNvSpPr txBox="1"/>
          <p:nvPr/>
        </p:nvSpPr>
        <p:spPr>
          <a:xfrm>
            <a:off x="7104888" y="2862072"/>
            <a:ext cx="2615184" cy="274320"/>
          </a:xfrm>
          <a:prstGeom prst="rect">
            <a:avLst/>
          </a:prstGeom>
          <a:noFill/>
          <a:ln/>
        </p:spPr>
        <p:txBody>
          <a:bodyPr wrap="square" lIns="0" tIns="0" rIns="0" bIns="0" rtlCol="0" anchor="t"/>
          <a:lstStyle/>
          <a:p>
            <a:pPr marL="0" indent="0">
              <a:buNone/>
            </a:pPr>
            <a:r>
              <a:rPr lang="en-US" sz="1300" b="1" dirty="0">
                <a:solidFill>
                  <a:srgbClr val="1F2933"/>
                </a:solidFill>
                <a:latin typeface="Courier New" pitchFamily="34" charset="0"/>
                <a:ea typeface="Courier New" pitchFamily="34" charset="-122"/>
                <a:cs typeface="Courier New" pitchFamily="34" charset="-120"/>
              </a:rPr>
              <a:t>promociones</a:t>
            </a:r>
            <a:endParaRPr lang="en-US" sz="1300" dirty="0"/>
          </a:p>
        </p:txBody>
      </p:sp>
      <p:sp>
        <p:nvSpPr>
          <p:cNvPr id="33" name="Text 31"/>
          <p:cNvSpPr txBox="1"/>
          <p:nvPr/>
        </p:nvSpPr>
        <p:spPr>
          <a:xfrm>
            <a:off x="7104888" y="3099816"/>
            <a:ext cx="2651760" cy="228600"/>
          </a:xfrm>
          <a:prstGeom prst="rect">
            <a:avLst/>
          </a:prstGeom>
          <a:noFill/>
          <a:ln/>
        </p:spPr>
        <p:txBody>
          <a:bodyPr wrap="square" lIns="0" tIns="0" rIns="0" bIns="0" rtlCol="0" anchor="t"/>
          <a:lstStyle/>
          <a:p>
            <a:pPr marL="0" indent="0">
              <a:buNone/>
            </a:pPr>
            <a:r>
              <a:rPr lang="en-US" sz="1100" dirty="0">
                <a:solidFill>
                  <a:srgbClr val="5B6670"/>
                </a:solidFill>
                <a:latin typeface="Calibri" pitchFamily="34" charset="0"/>
                <a:ea typeface="Calibri" pitchFamily="34" charset="-122"/>
                <a:cs typeface="Calibri" pitchFamily="34" charset="-120"/>
              </a:rPr>
              <a:t>300 ms, si cae: sin descuento</a:t>
            </a:r>
            <a:endParaRPr lang="en-US" sz="1100" dirty="0"/>
          </a:p>
        </p:txBody>
      </p:sp>
      <p:sp>
        <p:nvSpPr>
          <p:cNvPr id="34" name="Shape 32"/>
          <p:cNvSpPr/>
          <p:nvPr/>
        </p:nvSpPr>
        <p:spPr>
          <a:xfrm>
            <a:off x="6675120" y="3749040"/>
            <a:ext cx="320040" cy="0"/>
          </a:xfrm>
          <a:prstGeom prst="line">
            <a:avLst/>
          </a:prstGeom>
          <a:noFill/>
          <a:ln w="22225">
            <a:solidFill>
              <a:srgbClr val="5B6670"/>
            </a:solidFill>
            <a:prstDash val="solid"/>
            <a:tailEnd type="triangle"/>
          </a:ln>
        </p:spPr>
      </p:sp>
      <p:sp>
        <p:nvSpPr>
          <p:cNvPr id="35" name="Shape 33"/>
          <p:cNvSpPr/>
          <p:nvPr/>
        </p:nvSpPr>
        <p:spPr>
          <a:xfrm>
            <a:off x="6995160" y="3474720"/>
            <a:ext cx="2834640" cy="566928"/>
          </a:xfrm>
          <a:prstGeom prst="roundRect">
            <a:avLst>
              <a:gd name="adj" fmla="val 12903"/>
            </a:avLst>
          </a:prstGeom>
          <a:solidFill>
            <a:srgbClr val="E3F1EC"/>
          </a:solidFill>
          <a:ln w="15875">
            <a:solidFill>
              <a:srgbClr val="0F6E57"/>
            </a:solidFill>
            <a:prstDash val="solid"/>
          </a:ln>
        </p:spPr>
      </p:sp>
      <p:sp>
        <p:nvSpPr>
          <p:cNvPr id="36" name="Text 34"/>
          <p:cNvSpPr txBox="1"/>
          <p:nvPr/>
        </p:nvSpPr>
        <p:spPr>
          <a:xfrm>
            <a:off x="7104888" y="3547872"/>
            <a:ext cx="2615184" cy="274320"/>
          </a:xfrm>
          <a:prstGeom prst="rect">
            <a:avLst/>
          </a:prstGeom>
          <a:noFill/>
          <a:ln/>
        </p:spPr>
        <p:txBody>
          <a:bodyPr wrap="square" lIns="0" tIns="0" rIns="0" bIns="0" rtlCol="0" anchor="t"/>
          <a:lstStyle/>
          <a:p>
            <a:pPr marL="0" indent="0">
              <a:buNone/>
            </a:pPr>
            <a:r>
              <a:rPr lang="en-US" sz="1300" b="1" dirty="0">
                <a:solidFill>
                  <a:srgbClr val="1F2933"/>
                </a:solidFill>
                <a:latin typeface="Courier New" pitchFamily="34" charset="0"/>
                <a:ea typeface="Courier New" pitchFamily="34" charset="-122"/>
                <a:cs typeface="Courier New" pitchFamily="34" charset="-120"/>
              </a:rPr>
              <a:t>clientes</a:t>
            </a:r>
            <a:endParaRPr lang="en-US" sz="1300" dirty="0"/>
          </a:p>
        </p:txBody>
      </p:sp>
      <p:sp>
        <p:nvSpPr>
          <p:cNvPr id="37" name="Text 35"/>
          <p:cNvSpPr txBox="1"/>
          <p:nvPr/>
        </p:nvSpPr>
        <p:spPr>
          <a:xfrm>
            <a:off x="7104888" y="3785616"/>
            <a:ext cx="2651760" cy="228600"/>
          </a:xfrm>
          <a:prstGeom prst="rect">
            <a:avLst/>
          </a:prstGeom>
          <a:noFill/>
          <a:ln/>
        </p:spPr>
        <p:txBody>
          <a:bodyPr wrap="square" lIns="0" tIns="0" rIns="0" bIns="0" rtlCol="0" anchor="t"/>
          <a:lstStyle/>
          <a:p>
            <a:pPr marL="0" indent="0">
              <a:buNone/>
            </a:pPr>
            <a:r>
              <a:rPr lang="en-US" sz="1100" dirty="0">
                <a:solidFill>
                  <a:srgbClr val="5B6670"/>
                </a:solidFill>
                <a:latin typeface="Calibri" pitchFamily="34" charset="0"/>
                <a:ea typeface="Calibri" pitchFamily="34" charset="-122"/>
                <a:cs typeface="Calibri" pitchFamily="34" charset="-120"/>
              </a:rPr>
              <a:t>300 ms, si cae: venta anónima</a:t>
            </a:r>
            <a:endParaRPr lang="en-US" sz="1100" dirty="0"/>
          </a:p>
        </p:txBody>
      </p:sp>
      <p:sp>
        <p:nvSpPr>
          <p:cNvPr id="38" name="Shape 36"/>
          <p:cNvSpPr/>
          <p:nvPr/>
        </p:nvSpPr>
        <p:spPr>
          <a:xfrm>
            <a:off x="6675120" y="4434840"/>
            <a:ext cx="320040" cy="0"/>
          </a:xfrm>
          <a:prstGeom prst="line">
            <a:avLst/>
          </a:prstGeom>
          <a:noFill/>
          <a:ln w="22225">
            <a:solidFill>
              <a:srgbClr val="5B6670"/>
            </a:solidFill>
            <a:prstDash val="solid"/>
            <a:tailEnd type="triangle"/>
          </a:ln>
        </p:spPr>
      </p:sp>
      <p:sp>
        <p:nvSpPr>
          <p:cNvPr id="39" name="Shape 37"/>
          <p:cNvSpPr/>
          <p:nvPr/>
        </p:nvSpPr>
        <p:spPr>
          <a:xfrm>
            <a:off x="6995160" y="4160520"/>
            <a:ext cx="2834640" cy="566928"/>
          </a:xfrm>
          <a:prstGeom prst="roundRect">
            <a:avLst>
              <a:gd name="adj" fmla="val 12903"/>
            </a:avLst>
          </a:prstGeom>
          <a:solidFill>
            <a:srgbClr val="E3F1EC"/>
          </a:solidFill>
          <a:ln w="15875">
            <a:solidFill>
              <a:srgbClr val="0F6E57"/>
            </a:solidFill>
            <a:prstDash val="solid"/>
          </a:ln>
        </p:spPr>
      </p:sp>
      <p:sp>
        <p:nvSpPr>
          <p:cNvPr id="40" name="Text 38"/>
          <p:cNvSpPr txBox="1"/>
          <p:nvPr/>
        </p:nvSpPr>
        <p:spPr>
          <a:xfrm>
            <a:off x="7104888" y="4233672"/>
            <a:ext cx="2615184" cy="274320"/>
          </a:xfrm>
          <a:prstGeom prst="rect">
            <a:avLst/>
          </a:prstGeom>
          <a:noFill/>
          <a:ln/>
        </p:spPr>
        <p:txBody>
          <a:bodyPr wrap="square" lIns="0" tIns="0" rIns="0" bIns="0" rtlCol="0" anchor="t"/>
          <a:lstStyle/>
          <a:p>
            <a:pPr marL="0" indent="0">
              <a:buNone/>
            </a:pPr>
            <a:r>
              <a:rPr lang="en-US" sz="1300" b="1" dirty="0">
                <a:solidFill>
                  <a:srgbClr val="1F2933"/>
                </a:solidFill>
                <a:latin typeface="Courier New" pitchFamily="34" charset="0"/>
                <a:ea typeface="Courier New" pitchFamily="34" charset="-122"/>
                <a:cs typeface="Courier New" pitchFamily="34" charset="-120"/>
              </a:rPr>
              <a:t>crédito</a:t>
            </a:r>
            <a:endParaRPr lang="en-US" sz="1300" dirty="0"/>
          </a:p>
        </p:txBody>
      </p:sp>
      <p:sp>
        <p:nvSpPr>
          <p:cNvPr id="41" name="Text 39"/>
          <p:cNvSpPr txBox="1"/>
          <p:nvPr/>
        </p:nvSpPr>
        <p:spPr>
          <a:xfrm>
            <a:off x="7104888" y="4471416"/>
            <a:ext cx="2651760" cy="228600"/>
          </a:xfrm>
          <a:prstGeom prst="rect">
            <a:avLst/>
          </a:prstGeom>
          <a:noFill/>
          <a:ln/>
        </p:spPr>
        <p:txBody>
          <a:bodyPr wrap="square" lIns="0" tIns="0" rIns="0" bIns="0" rtlCol="0" anchor="t"/>
          <a:lstStyle/>
          <a:p>
            <a:pPr marL="0" indent="0">
              <a:buNone/>
            </a:pPr>
            <a:r>
              <a:rPr lang="en-US" sz="1100" dirty="0">
                <a:solidFill>
                  <a:srgbClr val="5B6670"/>
                </a:solidFill>
                <a:latin typeface="Calibri" pitchFamily="34" charset="0"/>
                <a:ea typeface="Calibri" pitchFamily="34" charset="-122"/>
                <a:cs typeface="Calibri" pitchFamily="34" charset="-120"/>
              </a:rPr>
              <a:t>800 ms, si cae: otra forma de pago</a:t>
            </a:r>
            <a:endParaRPr lang="en-US" sz="1100" dirty="0"/>
          </a:p>
        </p:txBody>
      </p:sp>
      <p:sp>
        <p:nvSpPr>
          <p:cNvPr id="42" name="Shape 40"/>
          <p:cNvSpPr/>
          <p:nvPr/>
        </p:nvSpPr>
        <p:spPr>
          <a:xfrm>
            <a:off x="4480560" y="4937760"/>
            <a:ext cx="1828800" cy="731520"/>
          </a:xfrm>
          <a:prstGeom prst="roundRect">
            <a:avLst>
              <a:gd name="adj" fmla="val 10000"/>
            </a:avLst>
          </a:prstGeom>
          <a:solidFill>
            <a:srgbClr val="FBF1D9"/>
          </a:solidFill>
          <a:ln w="15875">
            <a:solidFill>
              <a:srgbClr val="9A6A0C"/>
            </a:solidFill>
            <a:prstDash val="solid"/>
          </a:ln>
        </p:spPr>
      </p:sp>
      <p:sp>
        <p:nvSpPr>
          <p:cNvPr id="43" name="Text 41"/>
          <p:cNvSpPr txBox="1"/>
          <p:nvPr/>
        </p:nvSpPr>
        <p:spPr>
          <a:xfrm>
            <a:off x="4590288" y="5010912"/>
            <a:ext cx="1609344" cy="274320"/>
          </a:xfrm>
          <a:prstGeom prst="rect">
            <a:avLst/>
          </a:prstGeom>
          <a:noFill/>
          <a:ln/>
        </p:spPr>
        <p:txBody>
          <a:bodyPr wrap="square" lIns="0" tIns="0" rIns="0" bIns="0" rtlCol="0" anchor="t"/>
          <a:lstStyle/>
          <a:p>
            <a:pPr marL="0" indent="0">
              <a:buNone/>
            </a:pPr>
            <a:r>
              <a:rPr lang="en-US" sz="1300" b="1" dirty="0">
                <a:solidFill>
                  <a:srgbClr val="1F2933"/>
                </a:solidFill>
                <a:latin typeface="Courier New" pitchFamily="34" charset="0"/>
                <a:ea typeface="Courier New" pitchFamily="34" charset="-122"/>
                <a:cs typeface="Courier New" pitchFamily="34" charset="-120"/>
              </a:rPr>
              <a:t>Kafka</a:t>
            </a:r>
            <a:endParaRPr lang="en-US" sz="1300" dirty="0"/>
          </a:p>
        </p:txBody>
      </p:sp>
      <p:sp>
        <p:nvSpPr>
          <p:cNvPr id="44" name="Text 42"/>
          <p:cNvSpPr txBox="1"/>
          <p:nvPr/>
        </p:nvSpPr>
        <p:spPr>
          <a:xfrm>
            <a:off x="4590288" y="5285232"/>
            <a:ext cx="1609344" cy="347472"/>
          </a:xfrm>
          <a:prstGeom prst="rect">
            <a:avLst/>
          </a:prstGeom>
          <a:noFill/>
          <a:ln/>
        </p:spPr>
        <p:txBody>
          <a:bodyPr wrap="square" lIns="0" tIns="0" rIns="0" bIns="0" rtlCol="0" anchor="t"/>
          <a:lstStyle/>
          <a:p>
            <a:pPr marL="0" indent="0">
              <a:buNone/>
            </a:pPr>
            <a:r>
              <a:rPr lang="en-US" sz="1150" dirty="0">
                <a:solidFill>
                  <a:srgbClr val="5B6670"/>
                </a:solidFill>
                <a:latin typeface="Calibri" pitchFamily="34" charset="0"/>
                <a:ea typeface="Calibri" pitchFamily="34" charset="-122"/>
                <a:cs typeface="Calibri" pitchFamily="34" charset="-120"/>
              </a:rPr>
              <a:t>después de cobrar</a:t>
            </a:r>
            <a:endParaRPr lang="en-US" sz="1150" dirty="0"/>
          </a:p>
        </p:txBody>
      </p:sp>
      <p:sp>
        <p:nvSpPr>
          <p:cNvPr id="45" name="Shape 43"/>
          <p:cNvSpPr/>
          <p:nvPr/>
        </p:nvSpPr>
        <p:spPr>
          <a:xfrm>
            <a:off x="5394960" y="3886200"/>
            <a:ext cx="0" cy="1051560"/>
          </a:xfrm>
          <a:prstGeom prst="line">
            <a:avLst/>
          </a:prstGeom>
          <a:noFill/>
          <a:ln w="22225">
            <a:solidFill>
              <a:srgbClr val="9A6A0C"/>
            </a:solidFill>
            <a:prstDash val="dash"/>
            <a:tailEnd type="triangle"/>
          </a:ln>
        </p:spPr>
      </p:sp>
      <p:sp>
        <p:nvSpPr>
          <p:cNvPr id="46" name="Text 44"/>
          <p:cNvSpPr txBox="1"/>
          <p:nvPr/>
        </p:nvSpPr>
        <p:spPr>
          <a:xfrm>
            <a:off x="5486400" y="4206240"/>
            <a:ext cx="914400" cy="274320"/>
          </a:xfrm>
          <a:prstGeom prst="rect">
            <a:avLst/>
          </a:prstGeom>
          <a:noFill/>
          <a:ln/>
        </p:spPr>
        <p:txBody>
          <a:bodyPr wrap="square" lIns="0" tIns="0" rIns="0" bIns="0" rtlCol="0" anchor="t"/>
          <a:lstStyle/>
          <a:p>
            <a:pPr marL="0" indent="0">
              <a:buNone/>
            </a:pPr>
            <a:r>
              <a:rPr lang="en-US" sz="1100" dirty="0">
                <a:solidFill>
                  <a:srgbClr val="9A6A0C"/>
                </a:solidFill>
                <a:latin typeface="Calibri" pitchFamily="34" charset="0"/>
                <a:ea typeface="Calibri" pitchFamily="34" charset="-122"/>
                <a:cs typeface="Calibri" pitchFamily="34" charset="-120"/>
              </a:rPr>
              <a:t>outbox</a:t>
            </a:r>
            <a:endParaRPr lang="en-US" sz="1100" dirty="0"/>
          </a:p>
        </p:txBody>
      </p:sp>
      <p:sp>
        <p:nvSpPr>
          <p:cNvPr id="47" name="Shape 45"/>
          <p:cNvSpPr/>
          <p:nvPr/>
        </p:nvSpPr>
        <p:spPr>
          <a:xfrm>
            <a:off x="6309360" y="5303520"/>
            <a:ext cx="365760" cy="0"/>
          </a:xfrm>
          <a:prstGeom prst="line">
            <a:avLst/>
          </a:prstGeom>
          <a:noFill/>
          <a:ln w="22225">
            <a:solidFill>
              <a:srgbClr val="9A6A0C"/>
            </a:solidFill>
            <a:prstDash val="dash"/>
          </a:ln>
        </p:spPr>
      </p:sp>
      <p:sp>
        <p:nvSpPr>
          <p:cNvPr id="48" name="Shape 46"/>
          <p:cNvSpPr/>
          <p:nvPr/>
        </p:nvSpPr>
        <p:spPr>
          <a:xfrm>
            <a:off x="6675120" y="5257800"/>
            <a:ext cx="0" cy="685800"/>
          </a:xfrm>
          <a:prstGeom prst="line">
            <a:avLst/>
          </a:prstGeom>
          <a:noFill/>
          <a:ln w="22225">
            <a:solidFill>
              <a:srgbClr val="9A6A0C"/>
            </a:solidFill>
            <a:prstDash val="dash"/>
          </a:ln>
        </p:spPr>
      </p:sp>
      <p:sp>
        <p:nvSpPr>
          <p:cNvPr id="49" name="Shape 47"/>
          <p:cNvSpPr/>
          <p:nvPr/>
        </p:nvSpPr>
        <p:spPr>
          <a:xfrm>
            <a:off x="6675120" y="5257800"/>
            <a:ext cx="320040" cy="0"/>
          </a:xfrm>
          <a:prstGeom prst="line">
            <a:avLst/>
          </a:prstGeom>
          <a:noFill/>
          <a:ln w="22225">
            <a:solidFill>
              <a:srgbClr val="9A6A0C"/>
            </a:solidFill>
            <a:prstDash val="dash"/>
            <a:tailEnd type="triangle"/>
          </a:ln>
        </p:spPr>
      </p:sp>
      <p:sp>
        <p:nvSpPr>
          <p:cNvPr id="50" name="Shape 48"/>
          <p:cNvSpPr/>
          <p:nvPr/>
        </p:nvSpPr>
        <p:spPr>
          <a:xfrm>
            <a:off x="6675120" y="5943600"/>
            <a:ext cx="320040" cy="0"/>
          </a:xfrm>
          <a:prstGeom prst="line">
            <a:avLst/>
          </a:prstGeom>
          <a:noFill/>
          <a:ln w="22225">
            <a:solidFill>
              <a:srgbClr val="9A6A0C"/>
            </a:solidFill>
            <a:prstDash val="dash"/>
            <a:tailEnd type="triangle"/>
          </a:ln>
        </p:spPr>
      </p:sp>
      <p:sp>
        <p:nvSpPr>
          <p:cNvPr id="51" name="Shape 49"/>
          <p:cNvSpPr/>
          <p:nvPr/>
        </p:nvSpPr>
        <p:spPr>
          <a:xfrm>
            <a:off x="6995160" y="4983480"/>
            <a:ext cx="2834640" cy="566928"/>
          </a:xfrm>
          <a:prstGeom prst="roundRect">
            <a:avLst>
              <a:gd name="adj" fmla="val 12903"/>
            </a:avLst>
          </a:prstGeom>
          <a:solidFill>
            <a:srgbClr val="E3F1EC"/>
          </a:solidFill>
          <a:ln w="15875">
            <a:solidFill>
              <a:srgbClr val="0F6E57"/>
            </a:solidFill>
            <a:prstDash val="solid"/>
          </a:ln>
        </p:spPr>
      </p:sp>
      <p:sp>
        <p:nvSpPr>
          <p:cNvPr id="52" name="Text 50"/>
          <p:cNvSpPr txBox="1"/>
          <p:nvPr/>
        </p:nvSpPr>
        <p:spPr>
          <a:xfrm>
            <a:off x="7104888" y="5056632"/>
            <a:ext cx="2615184" cy="274320"/>
          </a:xfrm>
          <a:prstGeom prst="rect">
            <a:avLst/>
          </a:prstGeom>
          <a:noFill/>
          <a:ln/>
        </p:spPr>
        <p:txBody>
          <a:bodyPr wrap="square" lIns="0" tIns="0" rIns="0" bIns="0" rtlCol="0" anchor="t"/>
          <a:lstStyle/>
          <a:p>
            <a:pPr marL="0" indent="0">
              <a:buNone/>
            </a:pPr>
            <a:r>
              <a:rPr lang="en-US" sz="1300" b="1" dirty="0">
                <a:solidFill>
                  <a:srgbClr val="1F2933"/>
                </a:solidFill>
                <a:latin typeface="Courier New" pitchFamily="34" charset="0"/>
                <a:ea typeface="Courier New" pitchFamily="34" charset="-122"/>
                <a:cs typeface="Courier New" pitchFamily="34" charset="-120"/>
              </a:rPr>
              <a:t>facturación</a:t>
            </a:r>
            <a:endParaRPr lang="en-US" sz="1300" dirty="0"/>
          </a:p>
        </p:txBody>
      </p:sp>
      <p:sp>
        <p:nvSpPr>
          <p:cNvPr id="53" name="Text 51"/>
          <p:cNvSpPr txBox="1"/>
          <p:nvPr/>
        </p:nvSpPr>
        <p:spPr>
          <a:xfrm>
            <a:off x="7104888" y="5294376"/>
            <a:ext cx="2651760" cy="228600"/>
          </a:xfrm>
          <a:prstGeom prst="rect">
            <a:avLst/>
          </a:prstGeom>
          <a:noFill/>
          <a:ln/>
        </p:spPr>
        <p:txBody>
          <a:bodyPr wrap="square" lIns="0" tIns="0" rIns="0" bIns="0" rtlCol="0" anchor="t"/>
          <a:lstStyle/>
          <a:p>
            <a:pPr marL="0" indent="0">
              <a:buNone/>
            </a:pPr>
            <a:r>
              <a:rPr lang="en-US" sz="1100" dirty="0">
                <a:solidFill>
                  <a:srgbClr val="5B6670"/>
                </a:solidFill>
                <a:latin typeface="Calibri" pitchFamily="34" charset="0"/>
                <a:ea typeface="Calibri" pitchFamily="34" charset="-122"/>
                <a:cs typeface="Calibri" pitchFamily="34" charset="-120"/>
              </a:rPr>
              <a:t>si cae: comprobante pendiente</a:t>
            </a:r>
            <a:endParaRPr lang="en-US" sz="1100" dirty="0"/>
          </a:p>
        </p:txBody>
      </p:sp>
      <p:sp>
        <p:nvSpPr>
          <p:cNvPr id="54" name="Shape 52"/>
          <p:cNvSpPr/>
          <p:nvPr/>
        </p:nvSpPr>
        <p:spPr>
          <a:xfrm>
            <a:off x="6995160" y="5669280"/>
            <a:ext cx="2834640" cy="566928"/>
          </a:xfrm>
          <a:prstGeom prst="roundRect">
            <a:avLst>
              <a:gd name="adj" fmla="val 12903"/>
            </a:avLst>
          </a:prstGeom>
          <a:solidFill>
            <a:srgbClr val="E3F1EC"/>
          </a:solidFill>
          <a:ln w="15875">
            <a:solidFill>
              <a:srgbClr val="0F6E57"/>
            </a:solidFill>
            <a:prstDash val="solid"/>
          </a:ln>
        </p:spPr>
      </p:sp>
      <p:sp>
        <p:nvSpPr>
          <p:cNvPr id="55" name="Text 53"/>
          <p:cNvSpPr txBox="1"/>
          <p:nvPr/>
        </p:nvSpPr>
        <p:spPr>
          <a:xfrm>
            <a:off x="7104888" y="5742432"/>
            <a:ext cx="2615184" cy="274320"/>
          </a:xfrm>
          <a:prstGeom prst="rect">
            <a:avLst/>
          </a:prstGeom>
          <a:noFill/>
          <a:ln/>
        </p:spPr>
        <p:txBody>
          <a:bodyPr wrap="square" lIns="0" tIns="0" rIns="0" bIns="0" rtlCol="0" anchor="t"/>
          <a:lstStyle/>
          <a:p>
            <a:pPr marL="0" indent="0">
              <a:buNone/>
            </a:pPr>
            <a:r>
              <a:rPr lang="en-US" sz="1300" b="1" dirty="0">
                <a:solidFill>
                  <a:srgbClr val="1F2933"/>
                </a:solidFill>
                <a:latin typeface="Courier New" pitchFamily="34" charset="0"/>
                <a:ea typeface="Courier New" pitchFamily="34" charset="-122"/>
                <a:cs typeface="Courier New" pitchFamily="34" charset="-120"/>
              </a:rPr>
              <a:t>reportes</a:t>
            </a:r>
            <a:endParaRPr lang="en-US" sz="1300" dirty="0"/>
          </a:p>
        </p:txBody>
      </p:sp>
      <p:sp>
        <p:nvSpPr>
          <p:cNvPr id="56" name="Text 54"/>
          <p:cNvSpPr txBox="1"/>
          <p:nvPr/>
        </p:nvSpPr>
        <p:spPr>
          <a:xfrm>
            <a:off x="7104888" y="5980176"/>
            <a:ext cx="2651760" cy="228600"/>
          </a:xfrm>
          <a:prstGeom prst="rect">
            <a:avLst/>
          </a:prstGeom>
          <a:noFill/>
          <a:ln/>
        </p:spPr>
        <p:txBody>
          <a:bodyPr wrap="square" lIns="0" tIns="0" rIns="0" bIns="0" rtlCol="0" anchor="t"/>
          <a:lstStyle/>
          <a:p>
            <a:pPr marL="0" indent="0">
              <a:buNone/>
            </a:pPr>
            <a:r>
              <a:rPr lang="en-US" sz="1100" dirty="0">
                <a:solidFill>
                  <a:srgbClr val="5B6670"/>
                </a:solidFill>
                <a:latin typeface="Calibri" pitchFamily="34" charset="0"/>
                <a:ea typeface="Calibri" pitchFamily="34" charset="-122"/>
                <a:cs typeface="Calibri" pitchFamily="34" charset="-120"/>
              </a:rPr>
              <a:t>si cae: sin tablero</a:t>
            </a:r>
            <a:endParaRPr lang="en-US" sz="1100" dirty="0"/>
          </a:p>
        </p:txBody>
      </p:sp>
      <p:sp>
        <p:nvSpPr>
          <p:cNvPr id="57" name="Shape 55"/>
          <p:cNvSpPr/>
          <p:nvPr/>
        </p:nvSpPr>
        <p:spPr>
          <a:xfrm>
            <a:off x="9829800" y="5266944"/>
            <a:ext cx="365760" cy="0"/>
          </a:xfrm>
          <a:prstGeom prst="line">
            <a:avLst/>
          </a:prstGeom>
          <a:noFill/>
          <a:ln w="22225">
            <a:solidFill>
              <a:srgbClr val="5B6670"/>
            </a:solidFill>
            <a:prstDash val="solid"/>
            <a:tailEnd type="triangle"/>
          </a:ln>
        </p:spPr>
      </p:sp>
      <p:sp>
        <p:nvSpPr>
          <p:cNvPr id="58" name="Shape 56"/>
          <p:cNvSpPr/>
          <p:nvPr/>
        </p:nvSpPr>
        <p:spPr>
          <a:xfrm>
            <a:off x="10195560" y="4983480"/>
            <a:ext cx="1463040" cy="566928"/>
          </a:xfrm>
          <a:prstGeom prst="roundRect">
            <a:avLst>
              <a:gd name="adj" fmla="val 12903"/>
            </a:avLst>
          </a:prstGeom>
          <a:solidFill>
            <a:srgbClr val="FBF1D9"/>
          </a:solidFill>
          <a:ln w="15875">
            <a:solidFill>
              <a:srgbClr val="9A6A0C"/>
            </a:solidFill>
            <a:prstDash val="solid"/>
          </a:ln>
        </p:spPr>
      </p:sp>
      <p:sp>
        <p:nvSpPr>
          <p:cNvPr id="59" name="Text 57"/>
          <p:cNvSpPr txBox="1"/>
          <p:nvPr/>
        </p:nvSpPr>
        <p:spPr>
          <a:xfrm>
            <a:off x="10305288" y="5056632"/>
            <a:ext cx="1243584" cy="274320"/>
          </a:xfrm>
          <a:prstGeom prst="rect">
            <a:avLst/>
          </a:prstGeom>
          <a:noFill/>
          <a:ln/>
        </p:spPr>
        <p:txBody>
          <a:bodyPr wrap="square" lIns="0" tIns="0" rIns="0" bIns="0" rtlCol="0" anchor="t"/>
          <a:lstStyle/>
          <a:p>
            <a:pPr marL="0" indent="0">
              <a:buNone/>
            </a:pPr>
            <a:r>
              <a:rPr lang="en-US" sz="1300" b="1" dirty="0">
                <a:solidFill>
                  <a:srgbClr val="1F2933"/>
                </a:solidFill>
                <a:latin typeface="Courier New" pitchFamily="34" charset="0"/>
                <a:ea typeface="Courier New" pitchFamily="34" charset="-122"/>
                <a:cs typeface="Courier New" pitchFamily="34" charset="-120"/>
              </a:rPr>
              <a:t>SUNAT</a:t>
            </a:r>
            <a:endParaRPr lang="en-US" sz="1300" dirty="0"/>
          </a:p>
        </p:txBody>
      </p:sp>
      <p:sp>
        <p:nvSpPr>
          <p:cNvPr id="60" name="Shape 58"/>
          <p:cNvSpPr/>
          <p:nvPr/>
        </p:nvSpPr>
        <p:spPr>
          <a:xfrm>
            <a:off x="10058400" y="1417320"/>
            <a:ext cx="1737360" cy="3291840"/>
          </a:xfrm>
          <a:prstGeom prst="roundRect">
            <a:avLst>
              <a:gd name="adj" fmla="val 4211"/>
            </a:avLst>
          </a:prstGeom>
          <a:solidFill>
            <a:srgbClr val="FBF1D9"/>
          </a:solidFill>
          <a:ln/>
        </p:spPr>
      </p:sp>
      <p:sp>
        <p:nvSpPr>
          <p:cNvPr id="61" name="Text 59"/>
          <p:cNvSpPr txBox="1"/>
          <p:nvPr/>
        </p:nvSpPr>
        <p:spPr>
          <a:xfrm>
            <a:off x="10241280" y="1527048"/>
            <a:ext cx="1371600" cy="3108960"/>
          </a:xfrm>
          <a:prstGeom prst="rect">
            <a:avLst/>
          </a:prstGeom>
          <a:noFill/>
          <a:ln/>
        </p:spPr>
        <p:txBody>
          <a:bodyPr wrap="square" lIns="0" tIns="0" rIns="0" bIns="0" rtlCol="0" anchor="ctr"/>
          <a:lstStyle/>
          <a:p>
            <a:pPr marL="0" indent="0">
              <a:buNone/>
            </a:pPr>
            <a:r>
              <a:rPr lang="en-US" sz="1400" b="1" dirty="0">
                <a:solidFill>
                  <a:srgbClr val="9A6A0C"/>
                </a:solidFill>
                <a:latin typeface="Calibri" pitchFamily="34" charset="0"/>
                <a:ea typeface="Calibri" pitchFamily="34" charset="-122"/>
                <a:cs typeface="Calibri" pitchFamily="34" charset="-120"/>
              </a:rPr>
              <a:t>Para entenderlo: </a:t>
            </a:r>
            <a:r>
              <a:rPr lang="en-US" sz="1400" dirty="0">
                <a:solidFill>
                  <a:srgbClr val="1F2933"/>
                </a:solidFill>
                <a:latin typeface="Calibri" pitchFamily="34" charset="0"/>
                <a:ea typeface="Calibri" pitchFamily="34" charset="-122"/>
                <a:cs typeface="Calibri" pitchFamily="34" charset="-120"/>
              </a:rPr>
              <a:t>ventas es el cajero jefe: pregunta precio, stock y descuento mientras el cliente espera. Lo demás se entera después.</a:t>
            </a:r>
            <a:endParaRPr lang="en-US" sz="1400" dirty="0"/>
          </a:p>
        </p:txBody>
      </p:sp>
      <p:sp>
        <p:nvSpPr>
          <p:cNvPr id="62" name="Shape 60"/>
          <p:cNvSpPr/>
          <p:nvPr/>
        </p:nvSpPr>
        <p:spPr>
          <a:xfrm>
            <a:off x="548640" y="4023360"/>
            <a:ext cx="3749040" cy="2423160"/>
          </a:xfrm>
          <a:prstGeom prst="roundRect">
            <a:avLst>
              <a:gd name="adj" fmla="val 3019"/>
            </a:avLst>
          </a:prstGeom>
          <a:solidFill>
            <a:srgbClr val="EEF1F3"/>
          </a:solidFill>
          <a:ln/>
        </p:spPr>
      </p:sp>
      <p:sp>
        <p:nvSpPr>
          <p:cNvPr id="63" name="Text 61"/>
          <p:cNvSpPr txBox="1"/>
          <p:nvPr/>
        </p:nvSpPr>
        <p:spPr>
          <a:xfrm>
            <a:off x="731520" y="4133088"/>
            <a:ext cx="3383280" cy="228600"/>
          </a:xfrm>
          <a:prstGeom prst="rect">
            <a:avLst/>
          </a:prstGeom>
          <a:noFill/>
          <a:ln/>
        </p:spPr>
        <p:txBody>
          <a:bodyPr wrap="square" lIns="0" tIns="0" rIns="0" bIns="0" rtlCol="0" anchor="t"/>
          <a:lstStyle/>
          <a:p>
            <a:pPr marL="0" indent="0">
              <a:buNone/>
            </a:pPr>
            <a:r>
              <a:rPr lang="en-US" sz="1050" b="1" kern="0" spc="100" dirty="0">
                <a:solidFill>
                  <a:srgbClr val="5B6670"/>
                </a:solidFill>
                <a:latin typeface="Calibri" pitchFamily="34" charset="0"/>
                <a:ea typeface="Calibri" pitchFamily="34" charset="-122"/>
                <a:cs typeface="Calibri" pitchFamily="34" charset="-120"/>
              </a:rPr>
              <a:t>LOS NUEVE SERVICIOS DE NEGOCIO</a:t>
            </a:r>
            <a:endParaRPr lang="en-US" sz="1050" dirty="0"/>
          </a:p>
        </p:txBody>
      </p:sp>
      <p:sp>
        <p:nvSpPr>
          <p:cNvPr id="64" name="Text 62"/>
          <p:cNvSpPr txBox="1"/>
          <p:nvPr/>
        </p:nvSpPr>
        <p:spPr>
          <a:xfrm>
            <a:off x="731520" y="4434840"/>
            <a:ext cx="1737360" cy="365760"/>
          </a:xfrm>
          <a:prstGeom prst="rect">
            <a:avLst/>
          </a:prstGeom>
          <a:noFill/>
          <a:ln/>
        </p:spPr>
        <p:txBody>
          <a:bodyPr wrap="square" lIns="0" tIns="0" rIns="0" bIns="0" rtlCol="0" anchor="t"/>
          <a:lstStyle/>
          <a:p>
            <a:pPr marL="0" indent="0">
              <a:buNone/>
            </a:pPr>
            <a:r>
              <a:rPr lang="en-US" sz="1100" b="1" dirty="0">
                <a:solidFill>
                  <a:srgbClr val="1F2933"/>
                </a:solidFill>
                <a:latin typeface="Calibri" pitchFamily="34" charset="0"/>
                <a:ea typeface="Calibri" pitchFamily="34" charset="-122"/>
                <a:cs typeface="Calibri" pitchFamily="34" charset="-120"/>
              </a:rPr>
              <a:t>1. identidad</a:t>
            </a:r>
            <a:endParaRPr lang="en-US" sz="1500" dirty="0"/>
          </a:p>
          <a:p>
            <a:pPr marL="0" indent="0">
              <a:buNone/>
            </a:pPr>
            <a:r>
              <a:rPr lang="en-US" sz="1000" dirty="0">
                <a:solidFill>
                  <a:srgbClr val="5B6670"/>
                </a:solidFill>
                <a:latin typeface="Calibri" pitchFamily="34" charset="0"/>
                <a:ea typeface="Calibri" pitchFamily="34" charset="-122"/>
                <a:cs typeface="Calibri" pitchFamily="34" charset="-120"/>
              </a:rPr>
              <a:t>usuarios, login y JWT</a:t>
            </a:r>
            <a:endParaRPr lang="en-US" sz="1500" dirty="0"/>
          </a:p>
        </p:txBody>
      </p:sp>
      <p:sp>
        <p:nvSpPr>
          <p:cNvPr id="65" name="Text 63"/>
          <p:cNvSpPr txBox="1"/>
          <p:nvPr/>
        </p:nvSpPr>
        <p:spPr>
          <a:xfrm>
            <a:off x="731520" y="4818888"/>
            <a:ext cx="1737360" cy="365760"/>
          </a:xfrm>
          <a:prstGeom prst="rect">
            <a:avLst/>
          </a:prstGeom>
          <a:noFill/>
          <a:ln/>
        </p:spPr>
        <p:txBody>
          <a:bodyPr wrap="square" lIns="0" tIns="0" rIns="0" bIns="0" rtlCol="0" anchor="t"/>
          <a:lstStyle/>
          <a:p>
            <a:pPr marL="0" indent="0">
              <a:buNone/>
            </a:pPr>
            <a:r>
              <a:rPr lang="en-US" sz="1100" b="1" dirty="0">
                <a:solidFill>
                  <a:srgbClr val="1F2933"/>
                </a:solidFill>
                <a:latin typeface="Calibri" pitchFamily="34" charset="0"/>
                <a:ea typeface="Calibri" pitchFamily="34" charset="-122"/>
                <a:cs typeface="Calibri" pitchFamily="34" charset="-120"/>
              </a:rPr>
              <a:t>2. catálogo</a:t>
            </a:r>
            <a:endParaRPr lang="en-US" sz="1500" dirty="0"/>
          </a:p>
          <a:p>
            <a:pPr marL="0" indent="0">
              <a:buNone/>
            </a:pPr>
            <a:r>
              <a:rPr lang="en-US" sz="1000" dirty="0">
                <a:solidFill>
                  <a:srgbClr val="5B6670"/>
                </a:solidFill>
                <a:latin typeface="Calibri" pitchFamily="34" charset="0"/>
                <a:ea typeface="Calibri" pitchFamily="34" charset="-122"/>
                <a:cs typeface="Calibri" pitchFamily="34" charset="-120"/>
              </a:rPr>
              <a:t>productos y precios</a:t>
            </a:r>
            <a:endParaRPr lang="en-US" sz="1500" dirty="0"/>
          </a:p>
        </p:txBody>
      </p:sp>
      <p:sp>
        <p:nvSpPr>
          <p:cNvPr id="66" name="Text 64"/>
          <p:cNvSpPr txBox="1"/>
          <p:nvPr/>
        </p:nvSpPr>
        <p:spPr>
          <a:xfrm>
            <a:off x="731520" y="5202936"/>
            <a:ext cx="1737360" cy="365760"/>
          </a:xfrm>
          <a:prstGeom prst="rect">
            <a:avLst/>
          </a:prstGeom>
          <a:noFill/>
          <a:ln/>
        </p:spPr>
        <p:txBody>
          <a:bodyPr wrap="square" lIns="0" tIns="0" rIns="0" bIns="0" rtlCol="0" anchor="t"/>
          <a:lstStyle/>
          <a:p>
            <a:pPr marL="0" indent="0">
              <a:buNone/>
            </a:pPr>
            <a:r>
              <a:rPr lang="en-US" sz="1100" b="1" dirty="0">
                <a:solidFill>
                  <a:srgbClr val="1F2933"/>
                </a:solidFill>
                <a:latin typeface="Calibri" pitchFamily="34" charset="0"/>
                <a:ea typeface="Calibri" pitchFamily="34" charset="-122"/>
                <a:cs typeface="Calibri" pitchFamily="34" charset="-120"/>
              </a:rPr>
              <a:t>3. inventario</a:t>
            </a:r>
            <a:endParaRPr lang="en-US" sz="1500" dirty="0"/>
          </a:p>
          <a:p>
            <a:pPr marL="0" indent="0">
              <a:buNone/>
            </a:pPr>
            <a:r>
              <a:rPr lang="en-US" sz="1000" dirty="0">
                <a:solidFill>
                  <a:srgbClr val="5B6670"/>
                </a:solidFill>
                <a:latin typeface="Calibri" pitchFamily="34" charset="0"/>
                <a:ea typeface="Calibri" pitchFamily="34" charset="-122"/>
                <a:cs typeface="Calibri" pitchFamily="34" charset="-120"/>
              </a:rPr>
              <a:t>stock, lotes y FEFO</a:t>
            </a:r>
            <a:endParaRPr lang="en-US" sz="1500" dirty="0"/>
          </a:p>
        </p:txBody>
      </p:sp>
      <p:sp>
        <p:nvSpPr>
          <p:cNvPr id="67" name="Text 65"/>
          <p:cNvSpPr txBox="1"/>
          <p:nvPr/>
        </p:nvSpPr>
        <p:spPr>
          <a:xfrm>
            <a:off x="731520" y="5586984"/>
            <a:ext cx="1737360" cy="365760"/>
          </a:xfrm>
          <a:prstGeom prst="rect">
            <a:avLst/>
          </a:prstGeom>
          <a:noFill/>
          <a:ln/>
        </p:spPr>
        <p:txBody>
          <a:bodyPr wrap="square" lIns="0" tIns="0" rIns="0" bIns="0" rtlCol="0" anchor="t"/>
          <a:lstStyle/>
          <a:p>
            <a:pPr marL="0" indent="0">
              <a:buNone/>
            </a:pPr>
            <a:r>
              <a:rPr lang="en-US" sz="1100" b="1" dirty="0">
                <a:solidFill>
                  <a:srgbClr val="1F2933"/>
                </a:solidFill>
                <a:latin typeface="Calibri" pitchFamily="34" charset="0"/>
                <a:ea typeface="Calibri" pitchFamily="34" charset="-122"/>
                <a:cs typeface="Calibri" pitchFamily="34" charset="-120"/>
              </a:rPr>
              <a:t>4. ventas</a:t>
            </a:r>
            <a:endParaRPr lang="en-US" sz="1500" dirty="0"/>
          </a:p>
          <a:p>
            <a:pPr marL="0" indent="0">
              <a:buNone/>
            </a:pPr>
            <a:r>
              <a:rPr lang="en-US" sz="1000" dirty="0">
                <a:solidFill>
                  <a:srgbClr val="5B6670"/>
                </a:solidFill>
                <a:latin typeface="Calibri" pitchFamily="34" charset="0"/>
                <a:ea typeface="Calibri" pitchFamily="34" charset="-122"/>
                <a:cs typeface="Calibri" pitchFamily="34" charset="-120"/>
              </a:rPr>
              <a:t>arma y cobra la venta</a:t>
            </a:r>
            <a:endParaRPr lang="en-US" sz="1500" dirty="0"/>
          </a:p>
        </p:txBody>
      </p:sp>
      <p:sp>
        <p:nvSpPr>
          <p:cNvPr id="68" name="Text 66"/>
          <p:cNvSpPr txBox="1"/>
          <p:nvPr/>
        </p:nvSpPr>
        <p:spPr>
          <a:xfrm>
            <a:off x="731520" y="5971032"/>
            <a:ext cx="1737360" cy="365760"/>
          </a:xfrm>
          <a:prstGeom prst="rect">
            <a:avLst/>
          </a:prstGeom>
          <a:noFill/>
          <a:ln/>
        </p:spPr>
        <p:txBody>
          <a:bodyPr wrap="square" lIns="0" tIns="0" rIns="0" bIns="0" rtlCol="0" anchor="t"/>
          <a:lstStyle/>
          <a:p>
            <a:pPr marL="0" indent="0">
              <a:buNone/>
            </a:pPr>
            <a:r>
              <a:rPr lang="en-US" sz="1100" b="1" dirty="0">
                <a:solidFill>
                  <a:srgbClr val="1F2933"/>
                </a:solidFill>
                <a:latin typeface="Calibri" pitchFamily="34" charset="0"/>
                <a:ea typeface="Calibri" pitchFamily="34" charset="-122"/>
                <a:cs typeface="Calibri" pitchFamily="34" charset="-120"/>
              </a:rPr>
              <a:t>5. clientes</a:t>
            </a:r>
            <a:endParaRPr lang="en-US" sz="1500" dirty="0"/>
          </a:p>
          <a:p>
            <a:pPr marL="0" indent="0">
              <a:buNone/>
            </a:pPr>
            <a:r>
              <a:rPr lang="en-US" sz="1000" dirty="0">
                <a:solidFill>
                  <a:srgbClr val="5B6670"/>
                </a:solidFill>
                <a:latin typeface="Calibri" pitchFamily="34" charset="0"/>
                <a:ea typeface="Calibri" pitchFamily="34" charset="-122"/>
                <a:cs typeface="Calibri" pitchFamily="34" charset="-120"/>
              </a:rPr>
              <a:t>padrón, convenios, recetas</a:t>
            </a:r>
            <a:endParaRPr lang="en-US" sz="1500" dirty="0"/>
          </a:p>
        </p:txBody>
      </p:sp>
      <p:sp>
        <p:nvSpPr>
          <p:cNvPr id="69" name="Text 67"/>
          <p:cNvSpPr txBox="1"/>
          <p:nvPr/>
        </p:nvSpPr>
        <p:spPr>
          <a:xfrm>
            <a:off x="2514600" y="4434840"/>
            <a:ext cx="1737360" cy="365760"/>
          </a:xfrm>
          <a:prstGeom prst="rect">
            <a:avLst/>
          </a:prstGeom>
          <a:noFill/>
          <a:ln/>
        </p:spPr>
        <p:txBody>
          <a:bodyPr wrap="square" lIns="0" tIns="0" rIns="0" bIns="0" rtlCol="0" anchor="t"/>
          <a:lstStyle/>
          <a:p>
            <a:pPr marL="0" indent="0">
              <a:buNone/>
            </a:pPr>
            <a:r>
              <a:rPr lang="en-US" sz="1100" b="1" dirty="0">
                <a:solidFill>
                  <a:srgbClr val="1F2933"/>
                </a:solidFill>
                <a:latin typeface="Calibri" pitchFamily="34" charset="0"/>
                <a:ea typeface="Calibri" pitchFamily="34" charset="-122"/>
                <a:cs typeface="Calibri" pitchFamily="34" charset="-120"/>
              </a:rPr>
              <a:t>6. promociones</a:t>
            </a:r>
            <a:endParaRPr lang="en-US" sz="1500" dirty="0"/>
          </a:p>
          <a:p>
            <a:pPr marL="0" indent="0">
              <a:buNone/>
            </a:pPr>
            <a:r>
              <a:rPr lang="en-US" sz="1000" dirty="0">
                <a:solidFill>
                  <a:srgbClr val="5B6670"/>
                </a:solidFill>
                <a:latin typeface="Calibri" pitchFamily="34" charset="0"/>
                <a:ea typeface="Calibri" pitchFamily="34" charset="-122"/>
                <a:cs typeface="Calibri" pitchFamily="34" charset="-120"/>
              </a:rPr>
              <a:t>descuentos y ofertas</a:t>
            </a:r>
            <a:endParaRPr lang="en-US" sz="1500" dirty="0"/>
          </a:p>
        </p:txBody>
      </p:sp>
      <p:sp>
        <p:nvSpPr>
          <p:cNvPr id="70" name="Text 68"/>
          <p:cNvSpPr txBox="1"/>
          <p:nvPr/>
        </p:nvSpPr>
        <p:spPr>
          <a:xfrm>
            <a:off x="2514600" y="4818888"/>
            <a:ext cx="1737360" cy="365760"/>
          </a:xfrm>
          <a:prstGeom prst="rect">
            <a:avLst/>
          </a:prstGeom>
          <a:noFill/>
          <a:ln/>
        </p:spPr>
        <p:txBody>
          <a:bodyPr wrap="square" lIns="0" tIns="0" rIns="0" bIns="0" rtlCol="0" anchor="t"/>
          <a:lstStyle/>
          <a:p>
            <a:pPr marL="0" indent="0">
              <a:buNone/>
            </a:pPr>
            <a:r>
              <a:rPr lang="en-US" sz="1100" b="1" dirty="0">
                <a:solidFill>
                  <a:srgbClr val="1F2933"/>
                </a:solidFill>
                <a:latin typeface="Calibri" pitchFamily="34" charset="0"/>
                <a:ea typeface="Calibri" pitchFamily="34" charset="-122"/>
                <a:cs typeface="Calibri" pitchFamily="34" charset="-120"/>
              </a:rPr>
              <a:t>7. crédito</a:t>
            </a:r>
            <a:endParaRPr lang="en-US" sz="1500" dirty="0"/>
          </a:p>
          <a:p>
            <a:pPr marL="0" indent="0">
              <a:buNone/>
            </a:pPr>
            <a:r>
              <a:rPr lang="en-US" sz="1000" dirty="0">
                <a:solidFill>
                  <a:srgbClr val="5B6670"/>
                </a:solidFill>
                <a:latin typeface="Calibri" pitchFamily="34" charset="0"/>
                <a:ea typeface="Calibri" pitchFamily="34" charset="-122"/>
                <a:cs typeface="Calibri" pitchFamily="34" charset="-120"/>
              </a:rPr>
              <a:t>líneas de crédito</a:t>
            </a:r>
            <a:endParaRPr lang="en-US" sz="1500" dirty="0"/>
          </a:p>
        </p:txBody>
      </p:sp>
      <p:sp>
        <p:nvSpPr>
          <p:cNvPr id="71" name="Text 69"/>
          <p:cNvSpPr txBox="1"/>
          <p:nvPr/>
        </p:nvSpPr>
        <p:spPr>
          <a:xfrm>
            <a:off x="2514600" y="5202936"/>
            <a:ext cx="1737360" cy="365760"/>
          </a:xfrm>
          <a:prstGeom prst="rect">
            <a:avLst/>
          </a:prstGeom>
          <a:noFill/>
          <a:ln/>
        </p:spPr>
        <p:txBody>
          <a:bodyPr wrap="square" lIns="0" tIns="0" rIns="0" bIns="0" rtlCol="0" anchor="t"/>
          <a:lstStyle/>
          <a:p>
            <a:pPr marL="0" indent="0">
              <a:buNone/>
            </a:pPr>
            <a:r>
              <a:rPr lang="en-US" sz="1100" b="1" dirty="0">
                <a:solidFill>
                  <a:srgbClr val="1F2933"/>
                </a:solidFill>
                <a:latin typeface="Calibri" pitchFamily="34" charset="0"/>
                <a:ea typeface="Calibri" pitchFamily="34" charset="-122"/>
                <a:cs typeface="Calibri" pitchFamily="34" charset="-120"/>
              </a:rPr>
              <a:t>8. facturación</a:t>
            </a:r>
            <a:endParaRPr lang="en-US" sz="1500" dirty="0"/>
          </a:p>
          <a:p>
            <a:pPr marL="0" indent="0">
              <a:buNone/>
            </a:pPr>
            <a:r>
              <a:rPr lang="en-US" sz="1000" dirty="0">
                <a:solidFill>
                  <a:srgbClr val="5B6670"/>
                </a:solidFill>
                <a:latin typeface="Calibri" pitchFamily="34" charset="0"/>
                <a:ea typeface="Calibri" pitchFamily="34" charset="-122"/>
                <a:cs typeface="Calibri" pitchFamily="34" charset="-120"/>
              </a:rPr>
              <a:t>comprobantes ante SUNAT</a:t>
            </a:r>
            <a:endParaRPr lang="en-US" sz="1500" dirty="0"/>
          </a:p>
        </p:txBody>
      </p:sp>
      <p:sp>
        <p:nvSpPr>
          <p:cNvPr id="72" name="Text 70"/>
          <p:cNvSpPr txBox="1"/>
          <p:nvPr/>
        </p:nvSpPr>
        <p:spPr>
          <a:xfrm>
            <a:off x="2514600" y="5586984"/>
            <a:ext cx="1737360" cy="365760"/>
          </a:xfrm>
          <a:prstGeom prst="rect">
            <a:avLst/>
          </a:prstGeom>
          <a:noFill/>
          <a:ln/>
        </p:spPr>
        <p:txBody>
          <a:bodyPr wrap="square" lIns="0" tIns="0" rIns="0" bIns="0" rtlCol="0" anchor="t"/>
          <a:lstStyle/>
          <a:p>
            <a:pPr marL="0" indent="0">
              <a:buNone/>
            </a:pPr>
            <a:r>
              <a:rPr lang="en-US" sz="1100" b="1" dirty="0">
                <a:solidFill>
                  <a:srgbClr val="1F2933"/>
                </a:solidFill>
                <a:latin typeface="Calibri" pitchFamily="34" charset="0"/>
                <a:ea typeface="Calibri" pitchFamily="34" charset="-122"/>
                <a:cs typeface="Calibri" pitchFamily="34" charset="-120"/>
              </a:rPr>
              <a:t>9. reportes</a:t>
            </a:r>
            <a:endParaRPr lang="en-US" sz="1500" dirty="0"/>
          </a:p>
          <a:p>
            <a:pPr marL="0" indent="0">
              <a:buNone/>
            </a:pPr>
            <a:r>
              <a:rPr lang="en-US" sz="1000" dirty="0">
                <a:solidFill>
                  <a:srgbClr val="5B6670"/>
                </a:solidFill>
                <a:latin typeface="Calibri" pitchFamily="34" charset="0"/>
                <a:ea typeface="Calibri" pitchFamily="34" charset="-122"/>
                <a:cs typeface="Calibri" pitchFamily="34" charset="-120"/>
              </a:rPr>
              <a:t>tableros de ventas</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972800" cy="274320"/>
          </a:xfrm>
          <a:prstGeom prst="rect">
            <a:avLst/>
          </a:prstGeom>
          <a:noFill/>
          <a:ln/>
        </p:spPr>
        <p:txBody>
          <a:bodyPr wrap="square" lIns="0" tIns="0" rIns="0" bIns="0" rtlCol="0" anchor="t"/>
          <a:lstStyle/>
          <a:p>
            <a:pPr marL="0" indent="0">
              <a:buNone/>
            </a:pPr>
            <a:r>
              <a:rPr lang="en-US" sz="1100" b="1" kern="0" spc="200" dirty="0">
                <a:solidFill>
                  <a:srgbClr val="0F6E57"/>
                </a:solidFill>
                <a:latin typeface="Calibri" pitchFamily="34" charset="0"/>
                <a:ea typeface="Calibri" pitchFamily="34" charset="-122"/>
                <a:cs typeface="Calibri" pitchFamily="34" charset="-120"/>
              </a:rPr>
              <a:t>BLOQUE 1, JUAN</a:t>
            </a:r>
            <a:endParaRPr lang="en-US" sz="1100" dirty="0"/>
          </a:p>
        </p:txBody>
      </p:sp>
      <p:sp>
        <p:nvSpPr>
          <p:cNvPr id="3" name="Text 1"/>
          <p:cNvSpPr txBox="1"/>
          <p:nvPr/>
        </p:nvSpPr>
        <p:spPr>
          <a:xfrm>
            <a:off x="548640" y="594360"/>
            <a:ext cx="11064240" cy="685800"/>
          </a:xfrm>
          <a:prstGeom prst="rect">
            <a:avLst/>
          </a:prstGeom>
          <a:noFill/>
          <a:ln/>
        </p:spPr>
        <p:txBody>
          <a:bodyPr wrap="square" lIns="0" tIns="0" rIns="0" bIns="0" rtlCol="0" anchor="t"/>
          <a:lstStyle/>
          <a:p>
            <a:pPr marL="0" indent="0">
              <a:buNone/>
            </a:pPr>
            <a:r>
              <a:rPr lang="en-US" sz="3000" b="1" dirty="0">
                <a:solidFill>
                  <a:srgbClr val="1F2933"/>
                </a:solidFill>
                <a:latin typeface="Cambria" pitchFamily="34" charset="0"/>
                <a:ea typeface="Cambria" pitchFamily="34" charset="-122"/>
                <a:cs typeface="Cambria" pitchFamily="34" charset="-120"/>
              </a:rPr>
              <a:t>Cada servicio que agregas se paga</a:t>
            </a:r>
            <a:endParaRPr lang="en-US" sz="3000" dirty="0"/>
          </a:p>
        </p:txBody>
      </p:sp>
      <p:graphicFrame>
        <p:nvGraphicFramePr>
          <p:cNvPr id="4" name="Chart 0"/>
          <p:cNvGraphicFramePr/>
          <p:nvPr/>
        </p:nvGraphicFramePr>
        <p:xfrm>
          <a:off x="548640" y="1417320"/>
          <a:ext cx="6035040"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6949440" y="1463040"/>
            <a:ext cx="4663440" cy="1371600"/>
          </a:xfrm>
          <a:prstGeom prst="roundRect">
            <a:avLst>
              <a:gd name="adj" fmla="val 5333"/>
            </a:avLst>
          </a:prstGeom>
          <a:solidFill>
            <a:srgbClr val="FBE7DD"/>
          </a:solidFill>
          <a:ln/>
        </p:spPr>
      </p:sp>
      <p:sp>
        <p:nvSpPr>
          <p:cNvPr id="6" name="Text 3"/>
          <p:cNvSpPr txBox="1"/>
          <p:nvPr/>
        </p:nvSpPr>
        <p:spPr>
          <a:xfrm>
            <a:off x="7178040" y="1627632"/>
            <a:ext cx="4206240" cy="1097280"/>
          </a:xfrm>
          <a:prstGeom prst="rect">
            <a:avLst/>
          </a:prstGeom>
          <a:noFill/>
          <a:ln/>
        </p:spPr>
        <p:txBody>
          <a:bodyPr wrap="square" lIns="0" tIns="0" rIns="0" bIns="0" rtlCol="0" anchor="t"/>
          <a:lstStyle/>
          <a:p>
            <a:pPr marL="0" indent="0">
              <a:buNone/>
            </a:pPr>
            <a:r>
              <a:rPr lang="en-US" sz="1700" b="1" dirty="0">
                <a:solidFill>
                  <a:srgbClr val="B83A0E"/>
                </a:solidFill>
                <a:latin typeface="Calibri" pitchFamily="34" charset="0"/>
                <a:ea typeface="Calibri" pitchFamily="34" charset="-122"/>
                <a:cs typeface="Calibri" pitchFamily="34" charset="-120"/>
              </a:rPr>
              <a:t>La disponibilidad se multiplica</a:t>
            </a:r>
            <a:endParaRPr lang="en-US" sz="1500" dirty="0"/>
          </a:p>
          <a:p>
            <a:pPr marL="0" indent="0">
              <a:buNone/>
            </a:pPr>
            <a:r>
              <a:rPr lang="en-US" sz="1350" dirty="0">
                <a:solidFill>
                  <a:srgbClr val="1F2933"/>
                </a:solidFill>
                <a:latin typeface="Calibri" pitchFamily="34" charset="0"/>
                <a:ea typeface="Calibri" pitchFamily="34" charset="-122"/>
                <a:cs typeface="Calibri" pitchFamily="34" charset="-120"/>
              </a:rPr>
              <a:t>99.9 % × 99.9 % × 99.9 % = 99.7 %. Con nueve en cadena: 99.1 %, más de seis horas caído al mes.</a:t>
            </a:r>
            <a:endParaRPr lang="en-US" sz="1500" dirty="0"/>
          </a:p>
        </p:txBody>
      </p:sp>
      <p:sp>
        <p:nvSpPr>
          <p:cNvPr id="7" name="Shape 4"/>
          <p:cNvSpPr/>
          <p:nvPr/>
        </p:nvSpPr>
        <p:spPr>
          <a:xfrm>
            <a:off x="6949440" y="3063240"/>
            <a:ext cx="4663440" cy="1234440"/>
          </a:xfrm>
          <a:prstGeom prst="roundRect">
            <a:avLst>
              <a:gd name="adj" fmla="val 5926"/>
            </a:avLst>
          </a:prstGeom>
          <a:solidFill>
            <a:srgbClr val="FBF1D9"/>
          </a:solidFill>
          <a:ln/>
        </p:spPr>
      </p:sp>
      <p:sp>
        <p:nvSpPr>
          <p:cNvPr id="8" name="Text 5"/>
          <p:cNvSpPr txBox="1"/>
          <p:nvPr/>
        </p:nvSpPr>
        <p:spPr>
          <a:xfrm>
            <a:off x="7178040" y="3227832"/>
            <a:ext cx="4206240" cy="960120"/>
          </a:xfrm>
          <a:prstGeom prst="rect">
            <a:avLst/>
          </a:prstGeom>
          <a:noFill/>
          <a:ln/>
        </p:spPr>
        <p:txBody>
          <a:bodyPr wrap="square" lIns="0" tIns="0" rIns="0" bIns="0" rtlCol="0" anchor="t"/>
          <a:lstStyle/>
          <a:p>
            <a:pPr marL="0" indent="0">
              <a:buNone/>
            </a:pPr>
            <a:r>
              <a:rPr lang="en-US" sz="1700" b="1" dirty="0">
                <a:solidFill>
                  <a:srgbClr val="9A6A0C"/>
                </a:solidFill>
                <a:latin typeface="Calibri" pitchFamily="34" charset="0"/>
                <a:ea typeface="Calibri" pitchFamily="34" charset="-122"/>
                <a:cs typeface="Calibri" pitchFamily="34" charset="-120"/>
              </a:rPr>
              <a:t>La lentitud también</a:t>
            </a:r>
            <a:endParaRPr lang="en-US" sz="1500" dirty="0"/>
          </a:p>
          <a:p>
            <a:pPr marL="0" indent="0">
              <a:buNone/>
            </a:pPr>
            <a:r>
              <a:rPr lang="en-US" sz="1350" dirty="0">
                <a:solidFill>
                  <a:srgbClr val="1F2933"/>
                </a:solidFill>
                <a:latin typeface="Calibri" pitchFamily="34" charset="0"/>
                <a:ea typeface="Calibri" pitchFamily="34" charset="-122"/>
                <a:cs typeface="Calibri" pitchFamily="34" charset="-120"/>
              </a:rPr>
              <a:t>Si cada servicio tiene 1 % de respuestas lentas, con 5 saltos casi el 5 % de las ventas sale lenta.</a:t>
            </a:r>
            <a:endParaRPr lang="en-US" sz="1500" dirty="0"/>
          </a:p>
        </p:txBody>
      </p:sp>
      <p:sp>
        <p:nvSpPr>
          <p:cNvPr id="9" name="Shape 6"/>
          <p:cNvSpPr/>
          <p:nvPr/>
        </p:nvSpPr>
        <p:spPr>
          <a:xfrm>
            <a:off x="6949440" y="4526280"/>
            <a:ext cx="4663440" cy="1188720"/>
          </a:xfrm>
          <a:prstGeom prst="roundRect">
            <a:avLst>
              <a:gd name="adj" fmla="val 6154"/>
            </a:avLst>
          </a:prstGeom>
          <a:solidFill>
            <a:srgbClr val="FBF1D9"/>
          </a:solidFill>
          <a:ln/>
        </p:spPr>
      </p:sp>
      <p:sp>
        <p:nvSpPr>
          <p:cNvPr id="10" name="Text 7"/>
          <p:cNvSpPr txBox="1"/>
          <p:nvPr/>
        </p:nvSpPr>
        <p:spPr>
          <a:xfrm>
            <a:off x="7132320" y="4636008"/>
            <a:ext cx="4297680" cy="1005840"/>
          </a:xfrm>
          <a:prstGeom prst="rect">
            <a:avLst/>
          </a:prstGeom>
          <a:noFill/>
          <a:ln/>
        </p:spPr>
        <p:txBody>
          <a:bodyPr wrap="square" lIns="0" tIns="0" rIns="0" bIns="0" rtlCol="0" anchor="ctr"/>
          <a:lstStyle/>
          <a:p>
            <a:pPr marL="0" indent="0">
              <a:buNone/>
            </a:pPr>
            <a:r>
              <a:rPr lang="en-US" sz="1400" b="1" dirty="0">
                <a:solidFill>
                  <a:srgbClr val="9A6A0C"/>
                </a:solidFill>
                <a:latin typeface="Calibri" pitchFamily="34" charset="0"/>
                <a:ea typeface="Calibri" pitchFamily="34" charset="-122"/>
                <a:cs typeface="Calibri" pitchFamily="34" charset="-120"/>
              </a:rPr>
              <a:t>Para entenderlo: </a:t>
            </a:r>
            <a:r>
              <a:rPr lang="en-US" sz="1400" dirty="0">
                <a:solidFill>
                  <a:srgbClr val="1F2933"/>
                </a:solidFill>
                <a:latin typeface="Calibri" pitchFamily="34" charset="0"/>
                <a:ea typeface="Calibri" pitchFamily="34" charset="-122"/>
                <a:cs typeface="Calibri" pitchFamily="34" charset="-120"/>
              </a:rPr>
              <a:t>son las luces de Navidad en serie: si un foco falla, se apaga toda la tira. Más focos en serie, más probable que algo se apague.</a:t>
            </a:r>
            <a:endParaRPr lang="en-US" sz="1400" dirty="0"/>
          </a:p>
        </p:txBody>
      </p:sp>
      <p:sp>
        <p:nvSpPr>
          <p:cNvPr id="11" name="Text 8"/>
          <p:cNvSpPr txBox="1"/>
          <p:nvPr/>
        </p:nvSpPr>
        <p:spPr>
          <a:xfrm>
            <a:off x="548640" y="5669280"/>
            <a:ext cx="6035040" cy="457200"/>
          </a:xfrm>
          <a:prstGeom prst="rect">
            <a:avLst/>
          </a:prstGeom>
          <a:noFill/>
          <a:ln/>
        </p:spPr>
        <p:txBody>
          <a:bodyPr wrap="square" lIns="0" tIns="0" rIns="0" bIns="0" rtlCol="0" anchor="t"/>
          <a:lstStyle/>
          <a:p>
            <a:pPr marL="0" indent="0">
              <a:buNone/>
            </a:pPr>
            <a:r>
              <a:rPr lang="en-US" sz="1600" i="1" dirty="0">
                <a:solidFill>
                  <a:srgbClr val="5B6670"/>
                </a:solidFill>
                <a:latin typeface="Calibri" pitchFamily="34" charset="0"/>
                <a:ea typeface="Calibri" pitchFamily="34" charset="-122"/>
                <a:cs typeface="Calibri" pitchFamily="34" charset="-120"/>
              </a:rPr>
              <a:t>Por eso vender pasa por 3 servicios y no por 8.</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972800" cy="274320"/>
          </a:xfrm>
          <a:prstGeom prst="rect">
            <a:avLst/>
          </a:prstGeom>
          <a:noFill/>
          <a:ln/>
        </p:spPr>
        <p:txBody>
          <a:bodyPr wrap="square" lIns="0" tIns="0" rIns="0" bIns="0" rtlCol="0" anchor="t"/>
          <a:lstStyle/>
          <a:p>
            <a:pPr marL="0" indent="0">
              <a:buNone/>
            </a:pPr>
            <a:r>
              <a:rPr lang="en-US" sz="1100" b="1" kern="0" spc="200" dirty="0">
                <a:solidFill>
                  <a:srgbClr val="0F6E57"/>
                </a:solidFill>
                <a:latin typeface="Calibri" pitchFamily="34" charset="0"/>
                <a:ea typeface="Calibri" pitchFamily="34" charset="-122"/>
                <a:cs typeface="Calibri" pitchFamily="34" charset="-120"/>
              </a:rPr>
              <a:t>BLOQUE 1, JUAN</a:t>
            </a:r>
            <a:endParaRPr lang="en-US" sz="1100" dirty="0"/>
          </a:p>
        </p:txBody>
      </p:sp>
      <p:sp>
        <p:nvSpPr>
          <p:cNvPr id="3" name="Text 1"/>
          <p:cNvSpPr txBox="1"/>
          <p:nvPr/>
        </p:nvSpPr>
        <p:spPr>
          <a:xfrm>
            <a:off x="548640" y="594360"/>
            <a:ext cx="11064240" cy="685800"/>
          </a:xfrm>
          <a:prstGeom prst="rect">
            <a:avLst/>
          </a:prstGeom>
          <a:noFill/>
          <a:ln/>
        </p:spPr>
        <p:txBody>
          <a:bodyPr wrap="square" lIns="0" tIns="0" rIns="0" bIns="0" rtlCol="0" anchor="t"/>
          <a:lstStyle/>
          <a:p>
            <a:pPr marL="0" indent="0">
              <a:buNone/>
            </a:pPr>
            <a:r>
              <a:rPr lang="en-US" sz="3000" b="1" dirty="0">
                <a:solidFill>
                  <a:srgbClr val="1F2933"/>
                </a:solidFill>
                <a:latin typeface="Cambria" pitchFamily="34" charset="0"/>
                <a:ea typeface="Cambria" pitchFamily="34" charset="-122"/>
                <a:cs typeface="Cambria" pitchFamily="34" charset="-120"/>
              </a:rPr>
              <a:t>Una base por servicio, y la regla la pone Postgres</a:t>
            </a:r>
            <a:endParaRPr lang="en-US" sz="3000" dirty="0"/>
          </a:p>
        </p:txBody>
      </p:sp>
      <p:sp>
        <p:nvSpPr>
          <p:cNvPr id="4" name="Shape 2"/>
          <p:cNvSpPr/>
          <p:nvPr/>
        </p:nvSpPr>
        <p:spPr>
          <a:xfrm>
            <a:off x="548640" y="1508760"/>
            <a:ext cx="1143000" cy="502920"/>
          </a:xfrm>
          <a:prstGeom prst="roundRect">
            <a:avLst>
              <a:gd name="adj" fmla="val 14545"/>
            </a:avLst>
          </a:prstGeom>
          <a:solidFill>
            <a:srgbClr val="E3F1EC"/>
          </a:solidFill>
          <a:ln w="15875">
            <a:solidFill>
              <a:srgbClr val="0F6E57"/>
            </a:solidFill>
            <a:prstDash val="solid"/>
          </a:ln>
        </p:spPr>
      </p:sp>
      <p:sp>
        <p:nvSpPr>
          <p:cNvPr id="5" name="Text 3"/>
          <p:cNvSpPr txBox="1"/>
          <p:nvPr/>
        </p:nvSpPr>
        <p:spPr>
          <a:xfrm>
            <a:off x="548640" y="1508760"/>
            <a:ext cx="1143000" cy="502920"/>
          </a:xfrm>
          <a:prstGeom prst="rect">
            <a:avLst/>
          </a:prstGeom>
          <a:noFill/>
          <a:ln/>
        </p:spPr>
        <p:txBody>
          <a:bodyPr wrap="square" lIns="0" tIns="0" rIns="0" bIns="0" rtlCol="0" anchor="ctr"/>
          <a:lstStyle/>
          <a:p>
            <a:pPr marL="0" indent="0" algn="ctr">
              <a:buNone/>
            </a:pPr>
            <a:r>
              <a:rPr lang="en-US" sz="1150" b="1" dirty="0">
                <a:solidFill>
                  <a:srgbClr val="1F2933"/>
                </a:solidFill>
                <a:latin typeface="Calibri" pitchFamily="34" charset="0"/>
                <a:ea typeface="Calibri" pitchFamily="34" charset="-122"/>
                <a:cs typeface="Calibri" pitchFamily="34" charset="-120"/>
              </a:rPr>
              <a:t>identidad</a:t>
            </a:r>
            <a:endParaRPr lang="en-US" sz="1150" dirty="0"/>
          </a:p>
        </p:txBody>
      </p:sp>
      <p:sp>
        <p:nvSpPr>
          <p:cNvPr id="6" name="Shape 4"/>
          <p:cNvSpPr/>
          <p:nvPr/>
        </p:nvSpPr>
        <p:spPr>
          <a:xfrm>
            <a:off x="1120140" y="2011680"/>
            <a:ext cx="0" cy="411480"/>
          </a:xfrm>
          <a:prstGeom prst="line">
            <a:avLst/>
          </a:prstGeom>
          <a:noFill/>
          <a:ln w="22225">
            <a:solidFill>
              <a:srgbClr val="5B6670"/>
            </a:solidFill>
            <a:prstDash val="solid"/>
          </a:ln>
        </p:spPr>
      </p:sp>
      <p:sp>
        <p:nvSpPr>
          <p:cNvPr id="7" name="Shape 5"/>
          <p:cNvSpPr/>
          <p:nvPr/>
        </p:nvSpPr>
        <p:spPr>
          <a:xfrm>
            <a:off x="640080" y="2423160"/>
            <a:ext cx="960120" cy="868680"/>
          </a:xfrm>
          <a:prstGeom prst="can">
            <a:avLst/>
          </a:prstGeom>
          <a:solidFill>
            <a:srgbClr val="EEF1F3"/>
          </a:solidFill>
          <a:ln w="12700">
            <a:solidFill>
              <a:srgbClr val="5B6670"/>
            </a:solidFill>
            <a:prstDash val="solid"/>
          </a:ln>
        </p:spPr>
      </p:sp>
      <p:sp>
        <p:nvSpPr>
          <p:cNvPr id="8" name="Text 6"/>
          <p:cNvSpPr txBox="1"/>
          <p:nvPr/>
        </p:nvSpPr>
        <p:spPr>
          <a:xfrm>
            <a:off x="502920" y="3337560"/>
            <a:ext cx="1234440" cy="274320"/>
          </a:xfrm>
          <a:prstGeom prst="rect">
            <a:avLst/>
          </a:prstGeom>
          <a:noFill/>
          <a:ln/>
        </p:spPr>
        <p:txBody>
          <a:bodyPr wrap="square" lIns="0" tIns="0" rIns="0" bIns="0" rtlCol="0" anchor="t"/>
          <a:lstStyle/>
          <a:p>
            <a:pPr marL="0" indent="0" algn="ctr">
              <a:buNone/>
            </a:pPr>
            <a:r>
              <a:rPr lang="en-US" sz="900" dirty="0">
                <a:solidFill>
                  <a:srgbClr val="1F2933"/>
                </a:solidFill>
                <a:latin typeface="Courier New" pitchFamily="34" charset="0"/>
                <a:ea typeface="Courier New" pitchFamily="34" charset="-122"/>
                <a:cs typeface="Courier New" pitchFamily="34" charset="-120"/>
              </a:rPr>
              <a:t>pg_identidad</a:t>
            </a:r>
            <a:endParaRPr lang="en-US" sz="900" dirty="0"/>
          </a:p>
        </p:txBody>
      </p:sp>
      <p:sp>
        <p:nvSpPr>
          <p:cNvPr id="9" name="Shape 7"/>
          <p:cNvSpPr/>
          <p:nvPr/>
        </p:nvSpPr>
        <p:spPr>
          <a:xfrm>
            <a:off x="1801368" y="1508760"/>
            <a:ext cx="1143000" cy="502920"/>
          </a:xfrm>
          <a:prstGeom prst="roundRect">
            <a:avLst>
              <a:gd name="adj" fmla="val 14545"/>
            </a:avLst>
          </a:prstGeom>
          <a:solidFill>
            <a:srgbClr val="E3F1EC"/>
          </a:solidFill>
          <a:ln w="15875">
            <a:solidFill>
              <a:srgbClr val="0F6E57"/>
            </a:solidFill>
            <a:prstDash val="solid"/>
          </a:ln>
        </p:spPr>
      </p:sp>
      <p:sp>
        <p:nvSpPr>
          <p:cNvPr id="10" name="Text 8"/>
          <p:cNvSpPr txBox="1"/>
          <p:nvPr/>
        </p:nvSpPr>
        <p:spPr>
          <a:xfrm>
            <a:off x="1801368" y="1508760"/>
            <a:ext cx="1143000" cy="502920"/>
          </a:xfrm>
          <a:prstGeom prst="rect">
            <a:avLst/>
          </a:prstGeom>
          <a:noFill/>
          <a:ln/>
        </p:spPr>
        <p:txBody>
          <a:bodyPr wrap="square" lIns="0" tIns="0" rIns="0" bIns="0" rtlCol="0" anchor="ctr"/>
          <a:lstStyle/>
          <a:p>
            <a:pPr marL="0" indent="0" algn="ctr">
              <a:buNone/>
            </a:pPr>
            <a:r>
              <a:rPr lang="en-US" sz="1150" b="1" dirty="0">
                <a:solidFill>
                  <a:srgbClr val="1F2933"/>
                </a:solidFill>
                <a:latin typeface="Calibri" pitchFamily="34" charset="0"/>
                <a:ea typeface="Calibri" pitchFamily="34" charset="-122"/>
                <a:cs typeface="Calibri" pitchFamily="34" charset="-120"/>
              </a:rPr>
              <a:t>catálogo</a:t>
            </a:r>
            <a:endParaRPr lang="en-US" sz="1150" dirty="0"/>
          </a:p>
        </p:txBody>
      </p:sp>
      <p:sp>
        <p:nvSpPr>
          <p:cNvPr id="11" name="Shape 9"/>
          <p:cNvSpPr/>
          <p:nvPr/>
        </p:nvSpPr>
        <p:spPr>
          <a:xfrm>
            <a:off x="2372868" y="2011680"/>
            <a:ext cx="0" cy="411480"/>
          </a:xfrm>
          <a:prstGeom prst="line">
            <a:avLst/>
          </a:prstGeom>
          <a:noFill/>
          <a:ln w="22225">
            <a:solidFill>
              <a:srgbClr val="5B6670"/>
            </a:solidFill>
            <a:prstDash val="solid"/>
          </a:ln>
        </p:spPr>
      </p:sp>
      <p:sp>
        <p:nvSpPr>
          <p:cNvPr id="12" name="Shape 10"/>
          <p:cNvSpPr/>
          <p:nvPr/>
        </p:nvSpPr>
        <p:spPr>
          <a:xfrm>
            <a:off x="1892808" y="2423160"/>
            <a:ext cx="960120" cy="868680"/>
          </a:xfrm>
          <a:prstGeom prst="can">
            <a:avLst/>
          </a:prstGeom>
          <a:solidFill>
            <a:srgbClr val="EEF1F3"/>
          </a:solidFill>
          <a:ln w="12700">
            <a:solidFill>
              <a:srgbClr val="5B6670"/>
            </a:solidFill>
            <a:prstDash val="solid"/>
          </a:ln>
        </p:spPr>
      </p:sp>
      <p:sp>
        <p:nvSpPr>
          <p:cNvPr id="13" name="Text 11"/>
          <p:cNvSpPr txBox="1"/>
          <p:nvPr/>
        </p:nvSpPr>
        <p:spPr>
          <a:xfrm>
            <a:off x="1755648" y="3337560"/>
            <a:ext cx="1234440" cy="274320"/>
          </a:xfrm>
          <a:prstGeom prst="rect">
            <a:avLst/>
          </a:prstGeom>
          <a:noFill/>
          <a:ln/>
        </p:spPr>
        <p:txBody>
          <a:bodyPr wrap="square" lIns="0" tIns="0" rIns="0" bIns="0" rtlCol="0" anchor="t"/>
          <a:lstStyle/>
          <a:p>
            <a:pPr marL="0" indent="0" algn="ctr">
              <a:buNone/>
            </a:pPr>
            <a:r>
              <a:rPr lang="en-US" sz="900" dirty="0">
                <a:solidFill>
                  <a:srgbClr val="1F2933"/>
                </a:solidFill>
                <a:latin typeface="Courier New" pitchFamily="34" charset="0"/>
                <a:ea typeface="Courier New" pitchFamily="34" charset="-122"/>
                <a:cs typeface="Courier New" pitchFamily="34" charset="-120"/>
              </a:rPr>
              <a:t>pg_catalogo</a:t>
            </a:r>
            <a:endParaRPr lang="en-US" sz="900" dirty="0"/>
          </a:p>
        </p:txBody>
      </p:sp>
      <p:sp>
        <p:nvSpPr>
          <p:cNvPr id="14" name="Shape 12"/>
          <p:cNvSpPr/>
          <p:nvPr/>
        </p:nvSpPr>
        <p:spPr>
          <a:xfrm>
            <a:off x="3054096" y="1508760"/>
            <a:ext cx="1143000" cy="502920"/>
          </a:xfrm>
          <a:prstGeom prst="roundRect">
            <a:avLst>
              <a:gd name="adj" fmla="val 14545"/>
            </a:avLst>
          </a:prstGeom>
          <a:solidFill>
            <a:srgbClr val="E3F1EC"/>
          </a:solidFill>
          <a:ln w="15875">
            <a:solidFill>
              <a:srgbClr val="0F6E57"/>
            </a:solidFill>
            <a:prstDash val="solid"/>
          </a:ln>
        </p:spPr>
      </p:sp>
      <p:sp>
        <p:nvSpPr>
          <p:cNvPr id="15" name="Text 13"/>
          <p:cNvSpPr txBox="1"/>
          <p:nvPr/>
        </p:nvSpPr>
        <p:spPr>
          <a:xfrm>
            <a:off x="3054096" y="1508760"/>
            <a:ext cx="1143000" cy="502920"/>
          </a:xfrm>
          <a:prstGeom prst="rect">
            <a:avLst/>
          </a:prstGeom>
          <a:noFill/>
          <a:ln/>
        </p:spPr>
        <p:txBody>
          <a:bodyPr wrap="square" lIns="0" tIns="0" rIns="0" bIns="0" rtlCol="0" anchor="ctr"/>
          <a:lstStyle/>
          <a:p>
            <a:pPr marL="0" indent="0" algn="ctr">
              <a:buNone/>
            </a:pPr>
            <a:r>
              <a:rPr lang="en-US" sz="1150" b="1" dirty="0">
                <a:solidFill>
                  <a:srgbClr val="1F2933"/>
                </a:solidFill>
                <a:latin typeface="Calibri" pitchFamily="34" charset="0"/>
                <a:ea typeface="Calibri" pitchFamily="34" charset="-122"/>
                <a:cs typeface="Calibri" pitchFamily="34" charset="-120"/>
              </a:rPr>
              <a:t>inventario</a:t>
            </a:r>
            <a:endParaRPr lang="en-US" sz="1150" dirty="0"/>
          </a:p>
        </p:txBody>
      </p:sp>
      <p:sp>
        <p:nvSpPr>
          <p:cNvPr id="16" name="Shape 14"/>
          <p:cNvSpPr/>
          <p:nvPr/>
        </p:nvSpPr>
        <p:spPr>
          <a:xfrm>
            <a:off x="3625596" y="2011680"/>
            <a:ext cx="0" cy="411480"/>
          </a:xfrm>
          <a:prstGeom prst="line">
            <a:avLst/>
          </a:prstGeom>
          <a:noFill/>
          <a:ln w="22225">
            <a:solidFill>
              <a:srgbClr val="5B6670"/>
            </a:solidFill>
            <a:prstDash val="solid"/>
          </a:ln>
        </p:spPr>
      </p:sp>
      <p:sp>
        <p:nvSpPr>
          <p:cNvPr id="17" name="Shape 15"/>
          <p:cNvSpPr/>
          <p:nvPr/>
        </p:nvSpPr>
        <p:spPr>
          <a:xfrm>
            <a:off x="3145536" y="2423160"/>
            <a:ext cx="960120" cy="868680"/>
          </a:xfrm>
          <a:prstGeom prst="can">
            <a:avLst/>
          </a:prstGeom>
          <a:solidFill>
            <a:srgbClr val="EEF1F3"/>
          </a:solidFill>
          <a:ln w="12700">
            <a:solidFill>
              <a:srgbClr val="5B6670"/>
            </a:solidFill>
            <a:prstDash val="solid"/>
          </a:ln>
        </p:spPr>
      </p:sp>
      <p:sp>
        <p:nvSpPr>
          <p:cNvPr id="18" name="Text 16"/>
          <p:cNvSpPr txBox="1"/>
          <p:nvPr/>
        </p:nvSpPr>
        <p:spPr>
          <a:xfrm>
            <a:off x="3008376" y="3337560"/>
            <a:ext cx="1234440" cy="274320"/>
          </a:xfrm>
          <a:prstGeom prst="rect">
            <a:avLst/>
          </a:prstGeom>
          <a:noFill/>
          <a:ln/>
        </p:spPr>
        <p:txBody>
          <a:bodyPr wrap="square" lIns="0" tIns="0" rIns="0" bIns="0" rtlCol="0" anchor="t"/>
          <a:lstStyle/>
          <a:p>
            <a:pPr marL="0" indent="0" algn="ctr">
              <a:buNone/>
            </a:pPr>
            <a:r>
              <a:rPr lang="en-US" sz="900" dirty="0">
                <a:solidFill>
                  <a:srgbClr val="1F2933"/>
                </a:solidFill>
                <a:latin typeface="Courier New" pitchFamily="34" charset="0"/>
                <a:ea typeface="Courier New" pitchFamily="34" charset="-122"/>
                <a:cs typeface="Courier New" pitchFamily="34" charset="-120"/>
              </a:rPr>
              <a:t>pg_inventario</a:t>
            </a:r>
            <a:endParaRPr lang="en-US" sz="900" dirty="0"/>
          </a:p>
        </p:txBody>
      </p:sp>
      <p:sp>
        <p:nvSpPr>
          <p:cNvPr id="19" name="Shape 17"/>
          <p:cNvSpPr/>
          <p:nvPr/>
        </p:nvSpPr>
        <p:spPr>
          <a:xfrm>
            <a:off x="4306824" y="1508760"/>
            <a:ext cx="1143000" cy="502920"/>
          </a:xfrm>
          <a:prstGeom prst="roundRect">
            <a:avLst>
              <a:gd name="adj" fmla="val 14545"/>
            </a:avLst>
          </a:prstGeom>
          <a:solidFill>
            <a:srgbClr val="E3F1EC"/>
          </a:solidFill>
          <a:ln w="15875">
            <a:solidFill>
              <a:srgbClr val="0F6E57"/>
            </a:solidFill>
            <a:prstDash val="solid"/>
          </a:ln>
        </p:spPr>
      </p:sp>
      <p:sp>
        <p:nvSpPr>
          <p:cNvPr id="20" name="Text 18"/>
          <p:cNvSpPr txBox="1"/>
          <p:nvPr/>
        </p:nvSpPr>
        <p:spPr>
          <a:xfrm>
            <a:off x="4306824" y="1508760"/>
            <a:ext cx="1143000" cy="502920"/>
          </a:xfrm>
          <a:prstGeom prst="rect">
            <a:avLst/>
          </a:prstGeom>
          <a:noFill/>
          <a:ln/>
        </p:spPr>
        <p:txBody>
          <a:bodyPr wrap="square" lIns="0" tIns="0" rIns="0" bIns="0" rtlCol="0" anchor="ctr"/>
          <a:lstStyle/>
          <a:p>
            <a:pPr marL="0" indent="0" algn="ctr">
              <a:buNone/>
            </a:pPr>
            <a:r>
              <a:rPr lang="en-US" sz="1150" b="1" dirty="0">
                <a:solidFill>
                  <a:srgbClr val="1F2933"/>
                </a:solidFill>
                <a:latin typeface="Calibri" pitchFamily="34" charset="0"/>
                <a:ea typeface="Calibri" pitchFamily="34" charset="-122"/>
                <a:cs typeface="Calibri" pitchFamily="34" charset="-120"/>
              </a:rPr>
              <a:t>ventas</a:t>
            </a:r>
            <a:endParaRPr lang="en-US" sz="1150" dirty="0"/>
          </a:p>
        </p:txBody>
      </p:sp>
      <p:sp>
        <p:nvSpPr>
          <p:cNvPr id="21" name="Shape 19"/>
          <p:cNvSpPr/>
          <p:nvPr/>
        </p:nvSpPr>
        <p:spPr>
          <a:xfrm>
            <a:off x="4878324" y="2011680"/>
            <a:ext cx="0" cy="411480"/>
          </a:xfrm>
          <a:prstGeom prst="line">
            <a:avLst/>
          </a:prstGeom>
          <a:noFill/>
          <a:ln w="22225">
            <a:solidFill>
              <a:srgbClr val="5B6670"/>
            </a:solidFill>
            <a:prstDash val="solid"/>
          </a:ln>
        </p:spPr>
      </p:sp>
      <p:sp>
        <p:nvSpPr>
          <p:cNvPr id="22" name="Shape 20"/>
          <p:cNvSpPr/>
          <p:nvPr/>
        </p:nvSpPr>
        <p:spPr>
          <a:xfrm>
            <a:off x="4398264" y="2423160"/>
            <a:ext cx="960120" cy="868680"/>
          </a:xfrm>
          <a:prstGeom prst="can">
            <a:avLst/>
          </a:prstGeom>
          <a:solidFill>
            <a:srgbClr val="EEF1F3"/>
          </a:solidFill>
          <a:ln w="12700">
            <a:solidFill>
              <a:srgbClr val="5B6670"/>
            </a:solidFill>
            <a:prstDash val="solid"/>
          </a:ln>
        </p:spPr>
      </p:sp>
      <p:sp>
        <p:nvSpPr>
          <p:cNvPr id="23" name="Text 21"/>
          <p:cNvSpPr txBox="1"/>
          <p:nvPr/>
        </p:nvSpPr>
        <p:spPr>
          <a:xfrm>
            <a:off x="4261104" y="3337560"/>
            <a:ext cx="1234440" cy="274320"/>
          </a:xfrm>
          <a:prstGeom prst="rect">
            <a:avLst/>
          </a:prstGeom>
          <a:noFill/>
          <a:ln/>
        </p:spPr>
        <p:txBody>
          <a:bodyPr wrap="square" lIns="0" tIns="0" rIns="0" bIns="0" rtlCol="0" anchor="t"/>
          <a:lstStyle/>
          <a:p>
            <a:pPr marL="0" indent="0" algn="ctr">
              <a:buNone/>
            </a:pPr>
            <a:r>
              <a:rPr lang="en-US" sz="900" dirty="0">
                <a:solidFill>
                  <a:srgbClr val="1F2933"/>
                </a:solidFill>
                <a:latin typeface="Courier New" pitchFamily="34" charset="0"/>
                <a:ea typeface="Courier New" pitchFamily="34" charset="-122"/>
                <a:cs typeface="Courier New" pitchFamily="34" charset="-120"/>
              </a:rPr>
              <a:t>pg_ventas</a:t>
            </a:r>
            <a:endParaRPr lang="en-US" sz="900" dirty="0"/>
          </a:p>
        </p:txBody>
      </p:sp>
      <p:sp>
        <p:nvSpPr>
          <p:cNvPr id="24" name="Shape 22"/>
          <p:cNvSpPr/>
          <p:nvPr/>
        </p:nvSpPr>
        <p:spPr>
          <a:xfrm>
            <a:off x="5559552" y="1508760"/>
            <a:ext cx="1143000" cy="502920"/>
          </a:xfrm>
          <a:prstGeom prst="roundRect">
            <a:avLst>
              <a:gd name="adj" fmla="val 14545"/>
            </a:avLst>
          </a:prstGeom>
          <a:solidFill>
            <a:srgbClr val="E3F1EC"/>
          </a:solidFill>
          <a:ln w="15875">
            <a:solidFill>
              <a:srgbClr val="0F6E57"/>
            </a:solidFill>
            <a:prstDash val="solid"/>
          </a:ln>
        </p:spPr>
      </p:sp>
      <p:sp>
        <p:nvSpPr>
          <p:cNvPr id="25" name="Text 23"/>
          <p:cNvSpPr txBox="1"/>
          <p:nvPr/>
        </p:nvSpPr>
        <p:spPr>
          <a:xfrm>
            <a:off x="5559552" y="1508760"/>
            <a:ext cx="1143000" cy="502920"/>
          </a:xfrm>
          <a:prstGeom prst="rect">
            <a:avLst/>
          </a:prstGeom>
          <a:noFill/>
          <a:ln/>
        </p:spPr>
        <p:txBody>
          <a:bodyPr wrap="square" lIns="0" tIns="0" rIns="0" bIns="0" rtlCol="0" anchor="ctr"/>
          <a:lstStyle/>
          <a:p>
            <a:pPr marL="0" indent="0" algn="ctr">
              <a:buNone/>
            </a:pPr>
            <a:r>
              <a:rPr lang="en-US" sz="1150" b="1" dirty="0">
                <a:solidFill>
                  <a:srgbClr val="1F2933"/>
                </a:solidFill>
                <a:latin typeface="Calibri" pitchFamily="34" charset="0"/>
                <a:ea typeface="Calibri" pitchFamily="34" charset="-122"/>
                <a:cs typeface="Calibri" pitchFamily="34" charset="-120"/>
              </a:rPr>
              <a:t>clientes</a:t>
            </a:r>
            <a:endParaRPr lang="en-US" sz="1150" dirty="0"/>
          </a:p>
        </p:txBody>
      </p:sp>
      <p:sp>
        <p:nvSpPr>
          <p:cNvPr id="26" name="Shape 24"/>
          <p:cNvSpPr/>
          <p:nvPr/>
        </p:nvSpPr>
        <p:spPr>
          <a:xfrm>
            <a:off x="6131052" y="2011680"/>
            <a:ext cx="0" cy="411480"/>
          </a:xfrm>
          <a:prstGeom prst="line">
            <a:avLst/>
          </a:prstGeom>
          <a:noFill/>
          <a:ln w="22225">
            <a:solidFill>
              <a:srgbClr val="5B6670"/>
            </a:solidFill>
            <a:prstDash val="solid"/>
          </a:ln>
        </p:spPr>
      </p:sp>
      <p:sp>
        <p:nvSpPr>
          <p:cNvPr id="27" name="Shape 25"/>
          <p:cNvSpPr/>
          <p:nvPr/>
        </p:nvSpPr>
        <p:spPr>
          <a:xfrm>
            <a:off x="5650992" y="2423160"/>
            <a:ext cx="960120" cy="868680"/>
          </a:xfrm>
          <a:prstGeom prst="can">
            <a:avLst/>
          </a:prstGeom>
          <a:solidFill>
            <a:srgbClr val="EEF1F3"/>
          </a:solidFill>
          <a:ln w="12700">
            <a:solidFill>
              <a:srgbClr val="5B6670"/>
            </a:solidFill>
            <a:prstDash val="solid"/>
          </a:ln>
        </p:spPr>
      </p:sp>
      <p:sp>
        <p:nvSpPr>
          <p:cNvPr id="28" name="Text 26"/>
          <p:cNvSpPr txBox="1"/>
          <p:nvPr/>
        </p:nvSpPr>
        <p:spPr>
          <a:xfrm>
            <a:off x="5513832" y="3337560"/>
            <a:ext cx="1234440" cy="274320"/>
          </a:xfrm>
          <a:prstGeom prst="rect">
            <a:avLst/>
          </a:prstGeom>
          <a:noFill/>
          <a:ln/>
        </p:spPr>
        <p:txBody>
          <a:bodyPr wrap="square" lIns="0" tIns="0" rIns="0" bIns="0" rtlCol="0" anchor="t"/>
          <a:lstStyle/>
          <a:p>
            <a:pPr marL="0" indent="0" algn="ctr">
              <a:buNone/>
            </a:pPr>
            <a:r>
              <a:rPr lang="en-US" sz="900" dirty="0">
                <a:solidFill>
                  <a:srgbClr val="1F2933"/>
                </a:solidFill>
                <a:latin typeface="Courier New" pitchFamily="34" charset="0"/>
                <a:ea typeface="Courier New" pitchFamily="34" charset="-122"/>
                <a:cs typeface="Courier New" pitchFamily="34" charset="-120"/>
              </a:rPr>
              <a:t>pg_clientes</a:t>
            </a:r>
            <a:endParaRPr lang="en-US" sz="900" dirty="0"/>
          </a:p>
        </p:txBody>
      </p:sp>
      <p:sp>
        <p:nvSpPr>
          <p:cNvPr id="29" name="Shape 27"/>
          <p:cNvSpPr/>
          <p:nvPr/>
        </p:nvSpPr>
        <p:spPr>
          <a:xfrm>
            <a:off x="6812280" y="1508760"/>
            <a:ext cx="1143000" cy="502920"/>
          </a:xfrm>
          <a:prstGeom prst="roundRect">
            <a:avLst>
              <a:gd name="adj" fmla="val 14545"/>
            </a:avLst>
          </a:prstGeom>
          <a:solidFill>
            <a:srgbClr val="E3F1EC"/>
          </a:solidFill>
          <a:ln w="15875">
            <a:solidFill>
              <a:srgbClr val="0F6E57"/>
            </a:solidFill>
            <a:prstDash val="solid"/>
          </a:ln>
        </p:spPr>
      </p:sp>
      <p:sp>
        <p:nvSpPr>
          <p:cNvPr id="30" name="Text 28"/>
          <p:cNvSpPr txBox="1"/>
          <p:nvPr/>
        </p:nvSpPr>
        <p:spPr>
          <a:xfrm>
            <a:off x="6812280" y="1508760"/>
            <a:ext cx="1143000" cy="502920"/>
          </a:xfrm>
          <a:prstGeom prst="rect">
            <a:avLst/>
          </a:prstGeom>
          <a:noFill/>
          <a:ln/>
        </p:spPr>
        <p:txBody>
          <a:bodyPr wrap="square" lIns="0" tIns="0" rIns="0" bIns="0" rtlCol="0" anchor="ctr"/>
          <a:lstStyle/>
          <a:p>
            <a:pPr marL="0" indent="0" algn="ctr">
              <a:buNone/>
            </a:pPr>
            <a:r>
              <a:rPr lang="en-US" sz="1150" b="1" dirty="0">
                <a:solidFill>
                  <a:srgbClr val="1F2933"/>
                </a:solidFill>
                <a:latin typeface="Calibri" pitchFamily="34" charset="0"/>
                <a:ea typeface="Calibri" pitchFamily="34" charset="-122"/>
                <a:cs typeface="Calibri" pitchFamily="34" charset="-120"/>
              </a:rPr>
              <a:t>promociones</a:t>
            </a:r>
            <a:endParaRPr lang="en-US" sz="1150" dirty="0"/>
          </a:p>
        </p:txBody>
      </p:sp>
      <p:sp>
        <p:nvSpPr>
          <p:cNvPr id="31" name="Shape 29"/>
          <p:cNvSpPr/>
          <p:nvPr/>
        </p:nvSpPr>
        <p:spPr>
          <a:xfrm>
            <a:off x="7383780" y="2011680"/>
            <a:ext cx="0" cy="411480"/>
          </a:xfrm>
          <a:prstGeom prst="line">
            <a:avLst/>
          </a:prstGeom>
          <a:noFill/>
          <a:ln w="22225">
            <a:solidFill>
              <a:srgbClr val="5B6670"/>
            </a:solidFill>
            <a:prstDash val="solid"/>
          </a:ln>
        </p:spPr>
      </p:sp>
      <p:sp>
        <p:nvSpPr>
          <p:cNvPr id="32" name="Shape 30"/>
          <p:cNvSpPr/>
          <p:nvPr/>
        </p:nvSpPr>
        <p:spPr>
          <a:xfrm>
            <a:off x="6903720" y="2423160"/>
            <a:ext cx="960120" cy="868680"/>
          </a:xfrm>
          <a:prstGeom prst="can">
            <a:avLst/>
          </a:prstGeom>
          <a:solidFill>
            <a:srgbClr val="EEF1F3"/>
          </a:solidFill>
          <a:ln w="12700">
            <a:solidFill>
              <a:srgbClr val="5B6670"/>
            </a:solidFill>
            <a:prstDash val="solid"/>
          </a:ln>
        </p:spPr>
      </p:sp>
      <p:sp>
        <p:nvSpPr>
          <p:cNvPr id="33" name="Text 31"/>
          <p:cNvSpPr txBox="1"/>
          <p:nvPr/>
        </p:nvSpPr>
        <p:spPr>
          <a:xfrm>
            <a:off x="6766560" y="3337560"/>
            <a:ext cx="1234440" cy="274320"/>
          </a:xfrm>
          <a:prstGeom prst="rect">
            <a:avLst/>
          </a:prstGeom>
          <a:noFill/>
          <a:ln/>
        </p:spPr>
        <p:txBody>
          <a:bodyPr wrap="square" lIns="0" tIns="0" rIns="0" bIns="0" rtlCol="0" anchor="t"/>
          <a:lstStyle/>
          <a:p>
            <a:pPr marL="0" indent="0" algn="ctr">
              <a:buNone/>
            </a:pPr>
            <a:r>
              <a:rPr lang="en-US" sz="900" dirty="0">
                <a:solidFill>
                  <a:srgbClr val="1F2933"/>
                </a:solidFill>
                <a:latin typeface="Courier New" pitchFamily="34" charset="0"/>
                <a:ea typeface="Courier New" pitchFamily="34" charset="-122"/>
                <a:cs typeface="Courier New" pitchFamily="34" charset="-120"/>
              </a:rPr>
              <a:t>pg_promociones</a:t>
            </a:r>
            <a:endParaRPr lang="en-US" sz="900" dirty="0"/>
          </a:p>
        </p:txBody>
      </p:sp>
      <p:sp>
        <p:nvSpPr>
          <p:cNvPr id="34" name="Shape 32"/>
          <p:cNvSpPr/>
          <p:nvPr/>
        </p:nvSpPr>
        <p:spPr>
          <a:xfrm>
            <a:off x="8065008" y="1508760"/>
            <a:ext cx="1143000" cy="502920"/>
          </a:xfrm>
          <a:prstGeom prst="roundRect">
            <a:avLst>
              <a:gd name="adj" fmla="val 14545"/>
            </a:avLst>
          </a:prstGeom>
          <a:solidFill>
            <a:srgbClr val="E3F1EC"/>
          </a:solidFill>
          <a:ln w="15875">
            <a:solidFill>
              <a:srgbClr val="0F6E57"/>
            </a:solidFill>
            <a:prstDash val="solid"/>
          </a:ln>
        </p:spPr>
      </p:sp>
      <p:sp>
        <p:nvSpPr>
          <p:cNvPr id="35" name="Text 33"/>
          <p:cNvSpPr txBox="1"/>
          <p:nvPr/>
        </p:nvSpPr>
        <p:spPr>
          <a:xfrm>
            <a:off x="8065008" y="1508760"/>
            <a:ext cx="1143000" cy="502920"/>
          </a:xfrm>
          <a:prstGeom prst="rect">
            <a:avLst/>
          </a:prstGeom>
          <a:noFill/>
          <a:ln/>
        </p:spPr>
        <p:txBody>
          <a:bodyPr wrap="square" lIns="0" tIns="0" rIns="0" bIns="0" rtlCol="0" anchor="ctr"/>
          <a:lstStyle/>
          <a:p>
            <a:pPr marL="0" indent="0" algn="ctr">
              <a:buNone/>
            </a:pPr>
            <a:r>
              <a:rPr lang="en-US" sz="1150" b="1" dirty="0">
                <a:solidFill>
                  <a:srgbClr val="1F2933"/>
                </a:solidFill>
                <a:latin typeface="Calibri" pitchFamily="34" charset="0"/>
                <a:ea typeface="Calibri" pitchFamily="34" charset="-122"/>
                <a:cs typeface="Calibri" pitchFamily="34" charset="-120"/>
              </a:rPr>
              <a:t>crédito</a:t>
            </a:r>
            <a:endParaRPr lang="en-US" sz="1150" dirty="0"/>
          </a:p>
        </p:txBody>
      </p:sp>
      <p:sp>
        <p:nvSpPr>
          <p:cNvPr id="36" name="Shape 34"/>
          <p:cNvSpPr/>
          <p:nvPr/>
        </p:nvSpPr>
        <p:spPr>
          <a:xfrm>
            <a:off x="8636508" y="2011680"/>
            <a:ext cx="0" cy="411480"/>
          </a:xfrm>
          <a:prstGeom prst="line">
            <a:avLst/>
          </a:prstGeom>
          <a:noFill/>
          <a:ln w="22225">
            <a:solidFill>
              <a:srgbClr val="5B6670"/>
            </a:solidFill>
            <a:prstDash val="solid"/>
          </a:ln>
        </p:spPr>
      </p:sp>
      <p:sp>
        <p:nvSpPr>
          <p:cNvPr id="37" name="Shape 35"/>
          <p:cNvSpPr/>
          <p:nvPr/>
        </p:nvSpPr>
        <p:spPr>
          <a:xfrm>
            <a:off x="8156448" y="2423160"/>
            <a:ext cx="960120" cy="868680"/>
          </a:xfrm>
          <a:prstGeom prst="can">
            <a:avLst/>
          </a:prstGeom>
          <a:solidFill>
            <a:srgbClr val="EEF1F3"/>
          </a:solidFill>
          <a:ln w="12700">
            <a:solidFill>
              <a:srgbClr val="5B6670"/>
            </a:solidFill>
            <a:prstDash val="solid"/>
          </a:ln>
        </p:spPr>
      </p:sp>
      <p:sp>
        <p:nvSpPr>
          <p:cNvPr id="38" name="Text 36"/>
          <p:cNvSpPr txBox="1"/>
          <p:nvPr/>
        </p:nvSpPr>
        <p:spPr>
          <a:xfrm>
            <a:off x="8019288" y="3337560"/>
            <a:ext cx="1234440" cy="274320"/>
          </a:xfrm>
          <a:prstGeom prst="rect">
            <a:avLst/>
          </a:prstGeom>
          <a:noFill/>
          <a:ln/>
        </p:spPr>
        <p:txBody>
          <a:bodyPr wrap="square" lIns="0" tIns="0" rIns="0" bIns="0" rtlCol="0" anchor="t"/>
          <a:lstStyle/>
          <a:p>
            <a:pPr marL="0" indent="0" algn="ctr">
              <a:buNone/>
            </a:pPr>
            <a:r>
              <a:rPr lang="en-US" sz="900" dirty="0">
                <a:solidFill>
                  <a:srgbClr val="1F2933"/>
                </a:solidFill>
                <a:latin typeface="Courier New" pitchFamily="34" charset="0"/>
                <a:ea typeface="Courier New" pitchFamily="34" charset="-122"/>
                <a:cs typeface="Courier New" pitchFamily="34" charset="-120"/>
              </a:rPr>
              <a:t>pg_credito</a:t>
            </a:r>
            <a:endParaRPr lang="en-US" sz="900" dirty="0"/>
          </a:p>
        </p:txBody>
      </p:sp>
      <p:sp>
        <p:nvSpPr>
          <p:cNvPr id="39" name="Shape 37"/>
          <p:cNvSpPr/>
          <p:nvPr/>
        </p:nvSpPr>
        <p:spPr>
          <a:xfrm>
            <a:off x="9317736" y="1508760"/>
            <a:ext cx="1143000" cy="502920"/>
          </a:xfrm>
          <a:prstGeom prst="roundRect">
            <a:avLst>
              <a:gd name="adj" fmla="val 14545"/>
            </a:avLst>
          </a:prstGeom>
          <a:solidFill>
            <a:srgbClr val="E3F1EC"/>
          </a:solidFill>
          <a:ln w="15875">
            <a:solidFill>
              <a:srgbClr val="0F6E57"/>
            </a:solidFill>
            <a:prstDash val="solid"/>
          </a:ln>
        </p:spPr>
      </p:sp>
      <p:sp>
        <p:nvSpPr>
          <p:cNvPr id="40" name="Text 38"/>
          <p:cNvSpPr txBox="1"/>
          <p:nvPr/>
        </p:nvSpPr>
        <p:spPr>
          <a:xfrm>
            <a:off x="9317736" y="1508760"/>
            <a:ext cx="1143000" cy="502920"/>
          </a:xfrm>
          <a:prstGeom prst="rect">
            <a:avLst/>
          </a:prstGeom>
          <a:noFill/>
          <a:ln/>
        </p:spPr>
        <p:txBody>
          <a:bodyPr wrap="square" lIns="0" tIns="0" rIns="0" bIns="0" rtlCol="0" anchor="ctr"/>
          <a:lstStyle/>
          <a:p>
            <a:pPr marL="0" indent="0" algn="ctr">
              <a:buNone/>
            </a:pPr>
            <a:r>
              <a:rPr lang="en-US" sz="1150" b="1" dirty="0">
                <a:solidFill>
                  <a:srgbClr val="1F2933"/>
                </a:solidFill>
                <a:latin typeface="Calibri" pitchFamily="34" charset="0"/>
                <a:ea typeface="Calibri" pitchFamily="34" charset="-122"/>
                <a:cs typeface="Calibri" pitchFamily="34" charset="-120"/>
              </a:rPr>
              <a:t>facturación</a:t>
            </a:r>
            <a:endParaRPr lang="en-US" sz="1150" dirty="0"/>
          </a:p>
        </p:txBody>
      </p:sp>
      <p:sp>
        <p:nvSpPr>
          <p:cNvPr id="41" name="Shape 39"/>
          <p:cNvSpPr/>
          <p:nvPr/>
        </p:nvSpPr>
        <p:spPr>
          <a:xfrm>
            <a:off x="9889236" y="2011680"/>
            <a:ext cx="0" cy="411480"/>
          </a:xfrm>
          <a:prstGeom prst="line">
            <a:avLst/>
          </a:prstGeom>
          <a:noFill/>
          <a:ln w="22225">
            <a:solidFill>
              <a:srgbClr val="5B6670"/>
            </a:solidFill>
            <a:prstDash val="solid"/>
          </a:ln>
        </p:spPr>
      </p:sp>
      <p:sp>
        <p:nvSpPr>
          <p:cNvPr id="42" name="Shape 40"/>
          <p:cNvSpPr/>
          <p:nvPr/>
        </p:nvSpPr>
        <p:spPr>
          <a:xfrm>
            <a:off x="9409176" y="2423160"/>
            <a:ext cx="960120" cy="868680"/>
          </a:xfrm>
          <a:prstGeom prst="can">
            <a:avLst/>
          </a:prstGeom>
          <a:solidFill>
            <a:srgbClr val="EEF1F3"/>
          </a:solidFill>
          <a:ln w="12700">
            <a:solidFill>
              <a:srgbClr val="5B6670"/>
            </a:solidFill>
            <a:prstDash val="solid"/>
          </a:ln>
        </p:spPr>
      </p:sp>
      <p:sp>
        <p:nvSpPr>
          <p:cNvPr id="43" name="Text 41"/>
          <p:cNvSpPr txBox="1"/>
          <p:nvPr/>
        </p:nvSpPr>
        <p:spPr>
          <a:xfrm>
            <a:off x="9272016" y="3337560"/>
            <a:ext cx="1234440" cy="274320"/>
          </a:xfrm>
          <a:prstGeom prst="rect">
            <a:avLst/>
          </a:prstGeom>
          <a:noFill/>
          <a:ln/>
        </p:spPr>
        <p:txBody>
          <a:bodyPr wrap="square" lIns="0" tIns="0" rIns="0" bIns="0" rtlCol="0" anchor="t"/>
          <a:lstStyle/>
          <a:p>
            <a:pPr marL="0" indent="0" algn="ctr">
              <a:buNone/>
            </a:pPr>
            <a:r>
              <a:rPr lang="en-US" sz="900" dirty="0">
                <a:solidFill>
                  <a:srgbClr val="1F2933"/>
                </a:solidFill>
                <a:latin typeface="Courier New" pitchFamily="34" charset="0"/>
                <a:ea typeface="Courier New" pitchFamily="34" charset="-122"/>
                <a:cs typeface="Courier New" pitchFamily="34" charset="-120"/>
              </a:rPr>
              <a:t>pg_facturacion</a:t>
            </a:r>
            <a:endParaRPr lang="en-US" sz="900" dirty="0"/>
          </a:p>
        </p:txBody>
      </p:sp>
      <p:sp>
        <p:nvSpPr>
          <p:cNvPr id="44" name="Shape 42"/>
          <p:cNvSpPr/>
          <p:nvPr/>
        </p:nvSpPr>
        <p:spPr>
          <a:xfrm>
            <a:off x="10570464" y="1508760"/>
            <a:ext cx="1143000" cy="502920"/>
          </a:xfrm>
          <a:prstGeom prst="roundRect">
            <a:avLst>
              <a:gd name="adj" fmla="val 14545"/>
            </a:avLst>
          </a:prstGeom>
          <a:solidFill>
            <a:srgbClr val="E3F1EC"/>
          </a:solidFill>
          <a:ln w="15875">
            <a:solidFill>
              <a:srgbClr val="0F6E57"/>
            </a:solidFill>
            <a:prstDash val="solid"/>
          </a:ln>
        </p:spPr>
      </p:sp>
      <p:sp>
        <p:nvSpPr>
          <p:cNvPr id="45" name="Text 43"/>
          <p:cNvSpPr txBox="1"/>
          <p:nvPr/>
        </p:nvSpPr>
        <p:spPr>
          <a:xfrm>
            <a:off x="10570464" y="1508760"/>
            <a:ext cx="1143000" cy="502920"/>
          </a:xfrm>
          <a:prstGeom prst="rect">
            <a:avLst/>
          </a:prstGeom>
          <a:noFill/>
          <a:ln/>
        </p:spPr>
        <p:txBody>
          <a:bodyPr wrap="square" lIns="0" tIns="0" rIns="0" bIns="0" rtlCol="0" anchor="ctr"/>
          <a:lstStyle/>
          <a:p>
            <a:pPr marL="0" indent="0" algn="ctr">
              <a:buNone/>
            </a:pPr>
            <a:r>
              <a:rPr lang="en-US" sz="1150" b="1" dirty="0">
                <a:solidFill>
                  <a:srgbClr val="1F2933"/>
                </a:solidFill>
                <a:latin typeface="Calibri" pitchFamily="34" charset="0"/>
                <a:ea typeface="Calibri" pitchFamily="34" charset="-122"/>
                <a:cs typeface="Calibri" pitchFamily="34" charset="-120"/>
              </a:rPr>
              <a:t>reportes</a:t>
            </a:r>
            <a:endParaRPr lang="en-US" sz="1150" dirty="0"/>
          </a:p>
        </p:txBody>
      </p:sp>
      <p:sp>
        <p:nvSpPr>
          <p:cNvPr id="46" name="Shape 44"/>
          <p:cNvSpPr/>
          <p:nvPr/>
        </p:nvSpPr>
        <p:spPr>
          <a:xfrm>
            <a:off x="11141964" y="2011680"/>
            <a:ext cx="0" cy="411480"/>
          </a:xfrm>
          <a:prstGeom prst="line">
            <a:avLst/>
          </a:prstGeom>
          <a:noFill/>
          <a:ln w="22225">
            <a:solidFill>
              <a:srgbClr val="5B6670"/>
            </a:solidFill>
            <a:prstDash val="solid"/>
          </a:ln>
        </p:spPr>
      </p:sp>
      <p:sp>
        <p:nvSpPr>
          <p:cNvPr id="47" name="Shape 45"/>
          <p:cNvSpPr/>
          <p:nvPr/>
        </p:nvSpPr>
        <p:spPr>
          <a:xfrm>
            <a:off x="10661904" y="2423160"/>
            <a:ext cx="960120" cy="868680"/>
          </a:xfrm>
          <a:prstGeom prst="can">
            <a:avLst/>
          </a:prstGeom>
          <a:solidFill>
            <a:srgbClr val="EEF1F3"/>
          </a:solidFill>
          <a:ln w="12700">
            <a:solidFill>
              <a:srgbClr val="5B6670"/>
            </a:solidFill>
            <a:prstDash val="solid"/>
          </a:ln>
        </p:spPr>
      </p:sp>
      <p:sp>
        <p:nvSpPr>
          <p:cNvPr id="48" name="Text 46"/>
          <p:cNvSpPr txBox="1"/>
          <p:nvPr/>
        </p:nvSpPr>
        <p:spPr>
          <a:xfrm>
            <a:off x="10524744" y="3337560"/>
            <a:ext cx="1234440" cy="274320"/>
          </a:xfrm>
          <a:prstGeom prst="rect">
            <a:avLst/>
          </a:prstGeom>
          <a:noFill/>
          <a:ln/>
        </p:spPr>
        <p:txBody>
          <a:bodyPr wrap="square" lIns="0" tIns="0" rIns="0" bIns="0" rtlCol="0" anchor="t"/>
          <a:lstStyle/>
          <a:p>
            <a:pPr marL="0" indent="0" algn="ctr">
              <a:buNone/>
            </a:pPr>
            <a:r>
              <a:rPr lang="en-US" sz="900" dirty="0">
                <a:solidFill>
                  <a:srgbClr val="1F2933"/>
                </a:solidFill>
                <a:latin typeface="Courier New" pitchFamily="34" charset="0"/>
                <a:ea typeface="Courier New" pitchFamily="34" charset="-122"/>
                <a:cs typeface="Courier New" pitchFamily="34" charset="-120"/>
              </a:rPr>
              <a:t>pg_reportes</a:t>
            </a:r>
            <a:endParaRPr lang="en-US" sz="900" dirty="0"/>
          </a:p>
        </p:txBody>
      </p:sp>
      <p:sp>
        <p:nvSpPr>
          <p:cNvPr id="49" name="Shape 47"/>
          <p:cNvSpPr/>
          <p:nvPr/>
        </p:nvSpPr>
        <p:spPr>
          <a:xfrm>
            <a:off x="3520440" y="2011680"/>
            <a:ext cx="914400" cy="457200"/>
          </a:xfrm>
          <a:prstGeom prst="line">
            <a:avLst/>
          </a:prstGeom>
          <a:noFill/>
          <a:ln w="25400">
            <a:solidFill>
              <a:srgbClr val="B83A0E"/>
            </a:solidFill>
            <a:prstDash val="dash"/>
            <a:tailEnd type="triangle"/>
          </a:ln>
        </p:spPr>
      </p:sp>
      <p:sp>
        <p:nvSpPr>
          <p:cNvPr id="50" name="Text 48"/>
          <p:cNvSpPr txBox="1"/>
          <p:nvPr/>
        </p:nvSpPr>
        <p:spPr>
          <a:xfrm>
            <a:off x="3840480" y="2029968"/>
            <a:ext cx="274320" cy="274320"/>
          </a:xfrm>
          <a:prstGeom prst="rect">
            <a:avLst/>
          </a:prstGeom>
          <a:noFill/>
          <a:ln/>
        </p:spPr>
        <p:txBody>
          <a:bodyPr wrap="square" lIns="0" tIns="0" rIns="0" bIns="0" rtlCol="0" anchor="t"/>
          <a:lstStyle/>
          <a:p>
            <a:pPr marL="0" indent="0">
              <a:buNone/>
            </a:pPr>
            <a:r>
              <a:rPr lang="en-US" sz="1600" b="1" dirty="0">
                <a:solidFill>
                  <a:srgbClr val="B83A0E"/>
                </a:solidFill>
                <a:latin typeface="Calibri" pitchFamily="34" charset="0"/>
                <a:ea typeface="Calibri" pitchFamily="34" charset="-122"/>
                <a:cs typeface="Calibri" pitchFamily="34" charset="-120"/>
              </a:rPr>
              <a:t>X</a:t>
            </a:r>
            <a:endParaRPr lang="en-US" sz="1600" dirty="0"/>
          </a:p>
        </p:txBody>
      </p:sp>
      <p:sp>
        <p:nvSpPr>
          <p:cNvPr id="51" name="Shape 49"/>
          <p:cNvSpPr/>
          <p:nvPr/>
        </p:nvSpPr>
        <p:spPr>
          <a:xfrm>
            <a:off x="548640" y="3886200"/>
            <a:ext cx="5760720" cy="1234440"/>
          </a:xfrm>
          <a:prstGeom prst="roundRect">
            <a:avLst>
              <a:gd name="adj" fmla="val 5926"/>
            </a:avLst>
          </a:prstGeom>
          <a:solidFill>
            <a:srgbClr val="EEF1F3"/>
          </a:solidFill>
          <a:ln/>
        </p:spPr>
      </p:sp>
      <p:sp>
        <p:nvSpPr>
          <p:cNvPr id="52" name="Text 50"/>
          <p:cNvSpPr txBox="1"/>
          <p:nvPr/>
        </p:nvSpPr>
        <p:spPr>
          <a:xfrm>
            <a:off x="731520" y="4023360"/>
            <a:ext cx="5394960" cy="1005840"/>
          </a:xfrm>
          <a:prstGeom prst="rect">
            <a:avLst/>
          </a:prstGeom>
          <a:noFill/>
          <a:ln/>
        </p:spPr>
        <p:txBody>
          <a:bodyPr wrap="square" lIns="0" tIns="0" rIns="0" bIns="0" rtlCol="0" anchor="t"/>
          <a:lstStyle/>
          <a:p>
            <a:pPr marL="0" indent="0">
              <a:buNone/>
            </a:pPr>
            <a:r>
              <a:rPr lang="en-US" sz="1200" dirty="0">
                <a:solidFill>
                  <a:srgbClr val="1F2933"/>
                </a:solidFill>
                <a:latin typeface="Courier New" pitchFamily="34" charset="0"/>
                <a:ea typeface="Courier New" pitchFamily="34" charset="-122"/>
                <a:cs typeface="Courier New" pitchFamily="34" charset="-120"/>
              </a:rPr>
              <a:t>CREATE DATABASE pg_ventas OWNER u_ventas;</a:t>
            </a:r>
            <a:endParaRPr lang="en-US" sz="1200" dirty="0"/>
          </a:p>
          <a:p>
            <a:pPr marL="0" indent="0">
              <a:buNone/>
            </a:pPr>
            <a:r>
              <a:rPr lang="en-US" sz="1200" dirty="0">
                <a:solidFill>
                  <a:srgbClr val="1F2933"/>
                </a:solidFill>
                <a:latin typeface="Courier New" pitchFamily="34" charset="0"/>
                <a:ea typeface="Courier New" pitchFamily="34" charset="-122"/>
                <a:cs typeface="Courier New" pitchFamily="34" charset="-120"/>
              </a:rPr>
              <a:t>REVOKE CONNECT ON DATABASE pg_ventas FROM PUBLIC;</a:t>
            </a:r>
            <a:endParaRPr lang="en-US" sz="1200" dirty="0"/>
          </a:p>
          <a:p>
            <a:pPr marL="0" indent="0">
              <a:buNone/>
            </a:pPr>
            <a:r>
              <a:rPr lang="en-US" sz="1200" dirty="0">
                <a:solidFill>
                  <a:srgbClr val="1F2933"/>
                </a:solidFill>
                <a:latin typeface="Courier New" pitchFamily="34" charset="0"/>
                <a:ea typeface="Courier New" pitchFamily="34" charset="-122"/>
                <a:cs typeface="Courier New" pitchFamily="34" charset="-120"/>
              </a:rPr>
              <a:t>-- el usuario de inventario ni puede conectarse</a:t>
            </a:r>
            <a:endParaRPr lang="en-US" sz="1200" dirty="0"/>
          </a:p>
        </p:txBody>
      </p:sp>
      <p:sp>
        <p:nvSpPr>
          <p:cNvPr id="53" name="Shape 51"/>
          <p:cNvSpPr/>
          <p:nvPr/>
        </p:nvSpPr>
        <p:spPr>
          <a:xfrm>
            <a:off x="6583680" y="3886200"/>
            <a:ext cx="5029200" cy="1234440"/>
          </a:xfrm>
          <a:prstGeom prst="roundRect">
            <a:avLst>
              <a:gd name="adj" fmla="val 5926"/>
            </a:avLst>
          </a:prstGeom>
          <a:solidFill>
            <a:srgbClr val="E3F1EC"/>
          </a:solidFill>
          <a:ln/>
        </p:spPr>
      </p:sp>
      <p:sp>
        <p:nvSpPr>
          <p:cNvPr id="54" name="Text 52"/>
          <p:cNvSpPr txBox="1"/>
          <p:nvPr/>
        </p:nvSpPr>
        <p:spPr>
          <a:xfrm>
            <a:off x="6812280" y="4023360"/>
            <a:ext cx="4572000" cy="1005840"/>
          </a:xfrm>
          <a:prstGeom prst="rect">
            <a:avLst/>
          </a:prstGeom>
          <a:noFill/>
          <a:ln/>
        </p:spPr>
        <p:txBody>
          <a:bodyPr wrap="square" lIns="0" tIns="0" rIns="0" bIns="0" rtlCol="0" anchor="t"/>
          <a:lstStyle/>
          <a:p>
            <a:pPr marL="0" indent="0">
              <a:buNone/>
            </a:pPr>
            <a:r>
              <a:rPr lang="en-US" sz="1400" b="1" dirty="0">
                <a:solidFill>
                  <a:srgbClr val="1F2933"/>
                </a:solidFill>
                <a:latin typeface="Calibri" pitchFamily="34" charset="0"/>
                <a:ea typeface="Calibri" pitchFamily="34" charset="-122"/>
                <a:cs typeface="Calibri" pitchFamily="34" charset="-120"/>
              </a:rPr>
              <a:t>Se pierde el JOIN entre servicios.</a:t>
            </a:r>
            <a:endParaRPr lang="en-US" sz="1400" dirty="0"/>
          </a:p>
          <a:p>
            <a:pPr marL="0" indent="0">
              <a:buNone/>
            </a:pPr>
            <a:r>
              <a:rPr lang="en-US" sz="1400" dirty="0">
                <a:solidFill>
                  <a:srgbClr val="5B6670"/>
                </a:solidFill>
                <a:latin typeface="Calibri" pitchFamily="34" charset="0"/>
                <a:ea typeface="Calibri" pitchFamily="34" charset="-122"/>
                <a:cs typeface="Calibri" pitchFamily="34" charset="-120"/>
              </a:rPr>
              <a:t>Se recupera con una llamada HTTP o con una copia del dato que llega por evento.</a:t>
            </a:r>
            <a:endParaRPr lang="en-US" sz="1400" dirty="0"/>
          </a:p>
        </p:txBody>
      </p:sp>
      <p:sp>
        <p:nvSpPr>
          <p:cNvPr id="55" name="Shape 53"/>
          <p:cNvSpPr/>
          <p:nvPr/>
        </p:nvSpPr>
        <p:spPr>
          <a:xfrm>
            <a:off x="548640" y="5349240"/>
            <a:ext cx="11064240" cy="960120"/>
          </a:xfrm>
          <a:prstGeom prst="roundRect">
            <a:avLst>
              <a:gd name="adj" fmla="val 7619"/>
            </a:avLst>
          </a:prstGeom>
          <a:solidFill>
            <a:srgbClr val="FBF1D9"/>
          </a:solidFill>
          <a:ln/>
        </p:spPr>
      </p:sp>
      <p:sp>
        <p:nvSpPr>
          <p:cNvPr id="56" name="Text 54"/>
          <p:cNvSpPr txBox="1"/>
          <p:nvPr/>
        </p:nvSpPr>
        <p:spPr>
          <a:xfrm>
            <a:off x="731520" y="5458968"/>
            <a:ext cx="10698480" cy="777240"/>
          </a:xfrm>
          <a:prstGeom prst="rect">
            <a:avLst/>
          </a:prstGeom>
          <a:noFill/>
          <a:ln/>
        </p:spPr>
        <p:txBody>
          <a:bodyPr wrap="square" lIns="0" tIns="0" rIns="0" bIns="0" rtlCol="0" anchor="ctr"/>
          <a:lstStyle/>
          <a:p>
            <a:pPr marL="0" indent="0">
              <a:buNone/>
            </a:pPr>
            <a:r>
              <a:rPr lang="en-US" sz="1400" b="1" dirty="0">
                <a:solidFill>
                  <a:srgbClr val="9A6A0C"/>
                </a:solidFill>
                <a:latin typeface="Calibri" pitchFamily="34" charset="0"/>
                <a:ea typeface="Calibri" pitchFamily="34" charset="-122"/>
                <a:cs typeface="Calibri" pitchFamily="34" charset="-120"/>
              </a:rPr>
              <a:t>Para entenderlo: </a:t>
            </a:r>
            <a:r>
              <a:rPr lang="en-US" sz="1400" dirty="0">
                <a:solidFill>
                  <a:srgbClr val="1F2933"/>
                </a:solidFill>
                <a:latin typeface="Calibri" pitchFamily="34" charset="0"/>
                <a:ea typeface="Calibri" pitchFamily="34" charset="-122"/>
                <a:cs typeface="Calibri" pitchFamily="34" charset="-120"/>
              </a:rPr>
              <a:t>cada área de la botica tiene su archivador con llave. Si caja necesita un dato de almacén, se lo pide a almacén; no abre su archivador.</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972800" cy="274320"/>
          </a:xfrm>
          <a:prstGeom prst="rect">
            <a:avLst/>
          </a:prstGeom>
          <a:noFill/>
          <a:ln/>
        </p:spPr>
        <p:txBody>
          <a:bodyPr wrap="square" lIns="0" tIns="0" rIns="0" bIns="0" rtlCol="0" anchor="t"/>
          <a:lstStyle/>
          <a:p>
            <a:pPr marL="0" indent="0">
              <a:buNone/>
            </a:pPr>
            <a:r>
              <a:rPr lang="en-US" sz="1100" b="1" kern="0" spc="200" dirty="0">
                <a:solidFill>
                  <a:srgbClr val="0F6E57"/>
                </a:solidFill>
                <a:latin typeface="Calibri" pitchFamily="34" charset="0"/>
                <a:ea typeface="Calibri" pitchFamily="34" charset="-122"/>
                <a:cs typeface="Calibri" pitchFamily="34" charset="-120"/>
              </a:rPr>
              <a:t>BLOQUE 2, JAVIER</a:t>
            </a:r>
            <a:endParaRPr lang="en-US" sz="1100" dirty="0"/>
          </a:p>
        </p:txBody>
      </p:sp>
      <p:sp>
        <p:nvSpPr>
          <p:cNvPr id="3" name="Text 1"/>
          <p:cNvSpPr txBox="1"/>
          <p:nvPr/>
        </p:nvSpPr>
        <p:spPr>
          <a:xfrm>
            <a:off x="548640" y="594360"/>
            <a:ext cx="11064240" cy="685800"/>
          </a:xfrm>
          <a:prstGeom prst="rect">
            <a:avLst/>
          </a:prstGeom>
          <a:noFill/>
          <a:ln/>
        </p:spPr>
        <p:txBody>
          <a:bodyPr wrap="square" lIns="0" tIns="0" rIns="0" bIns="0" rtlCol="0" anchor="t"/>
          <a:lstStyle/>
          <a:p>
            <a:pPr marL="0" indent="0">
              <a:buNone/>
            </a:pPr>
            <a:r>
              <a:rPr lang="en-US" sz="3000" b="1" dirty="0">
                <a:solidFill>
                  <a:srgbClr val="1F2933"/>
                </a:solidFill>
                <a:latin typeface="Cambria" pitchFamily="34" charset="0"/>
                <a:ea typeface="Cambria" pitchFamily="34" charset="-122"/>
                <a:cs typeface="Cambria" pitchFamily="34" charset="-120"/>
              </a:rPr>
              <a:t>Dentro de cada servicio: capas con un guardia</a:t>
            </a:r>
            <a:endParaRPr lang="en-US" sz="3000" dirty="0"/>
          </a:p>
        </p:txBody>
      </p:sp>
      <p:sp>
        <p:nvSpPr>
          <p:cNvPr id="4" name="Shape 2"/>
          <p:cNvSpPr/>
          <p:nvPr/>
        </p:nvSpPr>
        <p:spPr>
          <a:xfrm>
            <a:off x="457200" y="1576426"/>
            <a:ext cx="5120640" cy="4710989"/>
          </a:xfrm>
          <a:prstGeom prst="ellipse">
            <a:avLst/>
          </a:prstGeom>
          <a:solidFill>
            <a:srgbClr val="F4F6F7"/>
          </a:solidFill>
          <a:ln w="15875">
            <a:solidFill>
              <a:srgbClr val="5B6670"/>
            </a:solidFill>
            <a:prstDash val="solid"/>
          </a:ln>
        </p:spPr>
      </p:sp>
      <p:sp>
        <p:nvSpPr>
          <p:cNvPr id="5" name="Text 3"/>
          <p:cNvSpPr txBox="1"/>
          <p:nvPr/>
        </p:nvSpPr>
        <p:spPr>
          <a:xfrm>
            <a:off x="1645920" y="1649578"/>
            <a:ext cx="2743200" cy="274320"/>
          </a:xfrm>
          <a:prstGeom prst="rect">
            <a:avLst/>
          </a:prstGeom>
          <a:noFill/>
          <a:ln/>
        </p:spPr>
        <p:txBody>
          <a:bodyPr wrap="square" lIns="0" tIns="0" rIns="0" bIns="0" rtlCol="0" anchor="t"/>
          <a:lstStyle/>
          <a:p>
            <a:pPr marL="0" indent="0" algn="ctr">
              <a:buNone/>
            </a:pPr>
            <a:r>
              <a:rPr lang="en-US" sz="1300" b="1" dirty="0">
                <a:solidFill>
                  <a:srgbClr val="1F2933"/>
                </a:solidFill>
                <a:latin typeface="Courier New" pitchFamily="34" charset="0"/>
                <a:ea typeface="Courier New" pitchFamily="34" charset="-122"/>
                <a:cs typeface="Courier New" pitchFamily="34" charset="-120"/>
              </a:rPr>
              <a:t>infrastructure</a:t>
            </a:r>
            <a:endParaRPr lang="en-US" sz="1300" dirty="0"/>
          </a:p>
        </p:txBody>
      </p:sp>
      <p:sp>
        <p:nvSpPr>
          <p:cNvPr id="6" name="Text 4"/>
          <p:cNvSpPr txBox="1"/>
          <p:nvPr/>
        </p:nvSpPr>
        <p:spPr>
          <a:xfrm>
            <a:off x="1645920" y="1905610"/>
            <a:ext cx="2743200" cy="274320"/>
          </a:xfrm>
          <a:prstGeom prst="rect">
            <a:avLst/>
          </a:prstGeom>
          <a:noFill/>
          <a:ln/>
        </p:spPr>
        <p:txBody>
          <a:bodyPr wrap="square" lIns="0" tIns="0" rIns="0" bIns="0" rtlCol="0" anchor="t"/>
          <a:lstStyle/>
          <a:p>
            <a:pPr marL="0" indent="0" algn="ctr">
              <a:buNone/>
            </a:pPr>
            <a:r>
              <a:rPr lang="en-US" sz="1050" dirty="0">
                <a:solidFill>
                  <a:srgbClr val="5B6670"/>
                </a:solidFill>
                <a:latin typeface="Calibri" pitchFamily="34" charset="0"/>
                <a:ea typeface="Calibri" pitchFamily="34" charset="-122"/>
                <a:cs typeface="Calibri" pitchFamily="34" charset="-120"/>
              </a:rPr>
              <a:t>configuración de Spring</a:t>
            </a:r>
            <a:endParaRPr lang="en-US" sz="1050" dirty="0"/>
          </a:p>
        </p:txBody>
      </p:sp>
      <p:sp>
        <p:nvSpPr>
          <p:cNvPr id="7" name="Shape 5"/>
          <p:cNvSpPr/>
          <p:nvPr/>
        </p:nvSpPr>
        <p:spPr>
          <a:xfrm>
            <a:off x="1097280" y="2165299"/>
            <a:ext cx="3840480" cy="3533242"/>
          </a:xfrm>
          <a:prstGeom prst="ellipse">
            <a:avLst/>
          </a:prstGeom>
          <a:solidFill>
            <a:srgbClr val="FBF1D9"/>
          </a:solidFill>
          <a:ln w="15875">
            <a:solidFill>
              <a:srgbClr val="9A6A0C"/>
            </a:solidFill>
            <a:prstDash val="solid"/>
          </a:ln>
        </p:spPr>
      </p:sp>
      <p:sp>
        <p:nvSpPr>
          <p:cNvPr id="8" name="Text 6"/>
          <p:cNvSpPr txBox="1"/>
          <p:nvPr/>
        </p:nvSpPr>
        <p:spPr>
          <a:xfrm>
            <a:off x="1645920" y="2238451"/>
            <a:ext cx="2743200" cy="274320"/>
          </a:xfrm>
          <a:prstGeom prst="rect">
            <a:avLst/>
          </a:prstGeom>
          <a:noFill/>
          <a:ln/>
        </p:spPr>
        <p:txBody>
          <a:bodyPr wrap="square" lIns="0" tIns="0" rIns="0" bIns="0" rtlCol="0" anchor="t"/>
          <a:lstStyle/>
          <a:p>
            <a:pPr marL="0" indent="0" algn="ctr">
              <a:buNone/>
            </a:pPr>
            <a:r>
              <a:rPr lang="en-US" sz="1300" b="1" dirty="0">
                <a:solidFill>
                  <a:srgbClr val="1F2933"/>
                </a:solidFill>
                <a:latin typeface="Courier New" pitchFamily="34" charset="0"/>
                <a:ea typeface="Courier New" pitchFamily="34" charset="-122"/>
                <a:cs typeface="Courier New" pitchFamily="34" charset="-120"/>
              </a:rPr>
              <a:t>adapters</a:t>
            </a:r>
            <a:endParaRPr lang="en-US" sz="1300" dirty="0"/>
          </a:p>
        </p:txBody>
      </p:sp>
      <p:sp>
        <p:nvSpPr>
          <p:cNvPr id="9" name="Text 7"/>
          <p:cNvSpPr txBox="1"/>
          <p:nvPr/>
        </p:nvSpPr>
        <p:spPr>
          <a:xfrm>
            <a:off x="1645920" y="2494483"/>
            <a:ext cx="2743200" cy="274320"/>
          </a:xfrm>
          <a:prstGeom prst="rect">
            <a:avLst/>
          </a:prstGeom>
          <a:noFill/>
          <a:ln/>
        </p:spPr>
        <p:txBody>
          <a:bodyPr wrap="square" lIns="0" tIns="0" rIns="0" bIns="0" rtlCol="0" anchor="t"/>
          <a:lstStyle/>
          <a:p>
            <a:pPr marL="0" indent="0" algn="ctr">
              <a:buNone/>
            </a:pPr>
            <a:r>
              <a:rPr lang="en-US" sz="1050" dirty="0">
                <a:solidFill>
                  <a:srgbClr val="5B6670"/>
                </a:solidFill>
                <a:latin typeface="Calibri" pitchFamily="34" charset="0"/>
                <a:ea typeface="Calibri" pitchFamily="34" charset="-122"/>
                <a:cs typeface="Calibri" pitchFamily="34" charset="-120"/>
              </a:rPr>
              <a:t>web, SQL, HTTP, Kafka</a:t>
            </a:r>
            <a:endParaRPr lang="en-US" sz="1050" dirty="0"/>
          </a:p>
        </p:txBody>
      </p:sp>
      <p:sp>
        <p:nvSpPr>
          <p:cNvPr id="10" name="Shape 8"/>
          <p:cNvSpPr/>
          <p:nvPr/>
        </p:nvSpPr>
        <p:spPr>
          <a:xfrm>
            <a:off x="1737360" y="2754173"/>
            <a:ext cx="2560320" cy="2355494"/>
          </a:xfrm>
          <a:prstGeom prst="ellipse">
            <a:avLst/>
          </a:prstGeom>
          <a:solidFill>
            <a:srgbClr val="E6EEF9"/>
          </a:solidFill>
          <a:ln w="15875">
            <a:solidFill>
              <a:srgbClr val="1D5FA8"/>
            </a:solidFill>
            <a:prstDash val="solid"/>
          </a:ln>
        </p:spPr>
      </p:sp>
      <p:sp>
        <p:nvSpPr>
          <p:cNvPr id="11" name="Text 9"/>
          <p:cNvSpPr txBox="1"/>
          <p:nvPr/>
        </p:nvSpPr>
        <p:spPr>
          <a:xfrm>
            <a:off x="1645920" y="2827325"/>
            <a:ext cx="2743200" cy="274320"/>
          </a:xfrm>
          <a:prstGeom prst="rect">
            <a:avLst/>
          </a:prstGeom>
          <a:noFill/>
          <a:ln/>
        </p:spPr>
        <p:txBody>
          <a:bodyPr wrap="square" lIns="0" tIns="0" rIns="0" bIns="0" rtlCol="0" anchor="t"/>
          <a:lstStyle/>
          <a:p>
            <a:pPr marL="0" indent="0" algn="ctr">
              <a:buNone/>
            </a:pPr>
            <a:r>
              <a:rPr lang="en-US" sz="1300" b="1" dirty="0">
                <a:solidFill>
                  <a:srgbClr val="1F2933"/>
                </a:solidFill>
                <a:latin typeface="Courier New" pitchFamily="34" charset="0"/>
                <a:ea typeface="Courier New" pitchFamily="34" charset="-122"/>
                <a:cs typeface="Courier New" pitchFamily="34" charset="-120"/>
              </a:rPr>
              <a:t>usecases</a:t>
            </a:r>
            <a:endParaRPr lang="en-US" sz="1300" dirty="0"/>
          </a:p>
        </p:txBody>
      </p:sp>
      <p:sp>
        <p:nvSpPr>
          <p:cNvPr id="12" name="Text 10"/>
          <p:cNvSpPr txBox="1"/>
          <p:nvPr/>
        </p:nvSpPr>
        <p:spPr>
          <a:xfrm>
            <a:off x="1645920" y="3083357"/>
            <a:ext cx="2743200" cy="274320"/>
          </a:xfrm>
          <a:prstGeom prst="rect">
            <a:avLst/>
          </a:prstGeom>
          <a:noFill/>
          <a:ln/>
        </p:spPr>
        <p:txBody>
          <a:bodyPr wrap="square" lIns="0" tIns="0" rIns="0" bIns="0" rtlCol="0" anchor="t"/>
          <a:lstStyle/>
          <a:p>
            <a:pPr marL="0" indent="0" algn="ctr">
              <a:buNone/>
            </a:pPr>
            <a:r>
              <a:rPr lang="en-US" sz="1050" dirty="0">
                <a:solidFill>
                  <a:srgbClr val="5B6670"/>
                </a:solidFill>
                <a:latin typeface="Calibri" pitchFamily="34" charset="0"/>
                <a:ea typeface="Calibri" pitchFamily="34" charset="-122"/>
                <a:cs typeface="Calibri" pitchFamily="34" charset="-120"/>
              </a:rPr>
              <a:t>confirmar, anular, puertos</a:t>
            </a:r>
            <a:endParaRPr lang="en-US" sz="1050" dirty="0"/>
          </a:p>
        </p:txBody>
      </p:sp>
      <p:sp>
        <p:nvSpPr>
          <p:cNvPr id="13" name="Shape 11"/>
          <p:cNvSpPr/>
          <p:nvPr/>
        </p:nvSpPr>
        <p:spPr>
          <a:xfrm>
            <a:off x="2286000" y="3258922"/>
            <a:ext cx="1463040" cy="1345997"/>
          </a:xfrm>
          <a:prstGeom prst="ellipse">
            <a:avLst/>
          </a:prstGeom>
          <a:solidFill>
            <a:srgbClr val="E3F1EC"/>
          </a:solidFill>
          <a:ln w="15875">
            <a:solidFill>
              <a:srgbClr val="0F6E57"/>
            </a:solidFill>
            <a:prstDash val="solid"/>
          </a:ln>
        </p:spPr>
      </p:sp>
      <p:sp>
        <p:nvSpPr>
          <p:cNvPr id="14" name="Text 12"/>
          <p:cNvSpPr txBox="1"/>
          <p:nvPr/>
        </p:nvSpPr>
        <p:spPr>
          <a:xfrm>
            <a:off x="1645920" y="3657600"/>
            <a:ext cx="2743200" cy="274320"/>
          </a:xfrm>
          <a:prstGeom prst="rect">
            <a:avLst/>
          </a:prstGeom>
          <a:noFill/>
          <a:ln/>
        </p:spPr>
        <p:txBody>
          <a:bodyPr wrap="square" lIns="0" tIns="0" rIns="0" bIns="0" rtlCol="0" anchor="t"/>
          <a:lstStyle/>
          <a:p>
            <a:pPr marL="0" indent="0" algn="ctr">
              <a:buNone/>
            </a:pPr>
            <a:r>
              <a:rPr lang="en-US" sz="1300" b="1" dirty="0">
                <a:solidFill>
                  <a:srgbClr val="1F2933"/>
                </a:solidFill>
                <a:latin typeface="Courier New" pitchFamily="34" charset="0"/>
                <a:ea typeface="Courier New" pitchFamily="34" charset="-122"/>
                <a:cs typeface="Courier New" pitchFamily="34" charset="-120"/>
              </a:rPr>
              <a:t>domain</a:t>
            </a:r>
            <a:endParaRPr lang="en-US" sz="1300" dirty="0"/>
          </a:p>
        </p:txBody>
      </p:sp>
      <p:sp>
        <p:nvSpPr>
          <p:cNvPr id="15" name="Text 13"/>
          <p:cNvSpPr txBox="1"/>
          <p:nvPr/>
        </p:nvSpPr>
        <p:spPr>
          <a:xfrm>
            <a:off x="1645920" y="3913632"/>
            <a:ext cx="2743200" cy="274320"/>
          </a:xfrm>
          <a:prstGeom prst="rect">
            <a:avLst/>
          </a:prstGeom>
          <a:noFill/>
          <a:ln/>
        </p:spPr>
        <p:txBody>
          <a:bodyPr wrap="square" lIns="0" tIns="0" rIns="0" bIns="0" rtlCol="0" anchor="t"/>
          <a:lstStyle/>
          <a:p>
            <a:pPr marL="0" indent="0" algn="ctr">
              <a:buNone/>
            </a:pPr>
            <a:r>
              <a:rPr lang="en-US" sz="1050" dirty="0">
                <a:solidFill>
                  <a:srgbClr val="5B6670"/>
                </a:solidFill>
                <a:latin typeface="Calibri" pitchFamily="34" charset="0"/>
                <a:ea typeface="Calibri" pitchFamily="34" charset="-122"/>
                <a:cs typeface="Calibri" pitchFamily="34" charset="-120"/>
              </a:rPr>
              <a:t>reglas puras, sin Spring</a:t>
            </a:r>
            <a:endParaRPr lang="en-US" sz="1050" dirty="0"/>
          </a:p>
        </p:txBody>
      </p:sp>
      <p:sp>
        <p:nvSpPr>
          <p:cNvPr id="16" name="Text 14"/>
          <p:cNvSpPr txBox="1"/>
          <p:nvPr/>
        </p:nvSpPr>
        <p:spPr>
          <a:xfrm>
            <a:off x="457200" y="6355080"/>
            <a:ext cx="5120640" cy="320040"/>
          </a:xfrm>
          <a:prstGeom prst="rect">
            <a:avLst/>
          </a:prstGeom>
          <a:noFill/>
          <a:ln/>
        </p:spPr>
        <p:txBody>
          <a:bodyPr wrap="square" lIns="0" tIns="0" rIns="0" bIns="0" rtlCol="0" anchor="t"/>
          <a:lstStyle/>
          <a:p>
            <a:pPr marL="0" indent="0" algn="ctr">
              <a:buNone/>
            </a:pPr>
            <a:r>
              <a:rPr lang="en-US" sz="1250" i="1" dirty="0">
                <a:solidFill>
                  <a:srgbClr val="5B6670"/>
                </a:solidFill>
                <a:latin typeface="Calibri" pitchFamily="34" charset="0"/>
                <a:ea typeface="Calibri" pitchFamily="34" charset="-122"/>
                <a:cs typeface="Calibri" pitchFamily="34" charset="-120"/>
              </a:rPr>
              <a:t>Las dependencias apuntan hacia adentro: el dominio no conoce a nadie.</a:t>
            </a:r>
            <a:endParaRPr lang="en-US" sz="1250" dirty="0"/>
          </a:p>
        </p:txBody>
      </p:sp>
      <p:sp>
        <p:nvSpPr>
          <p:cNvPr id="17" name="Shape 15"/>
          <p:cNvSpPr/>
          <p:nvPr/>
        </p:nvSpPr>
        <p:spPr>
          <a:xfrm>
            <a:off x="5760720" y="1417320"/>
            <a:ext cx="5852160" cy="1051560"/>
          </a:xfrm>
          <a:prstGeom prst="roundRect">
            <a:avLst>
              <a:gd name="adj" fmla="val 6957"/>
            </a:avLst>
          </a:prstGeom>
          <a:solidFill>
            <a:srgbClr val="E3F1EC"/>
          </a:solidFill>
          <a:ln/>
        </p:spPr>
      </p:sp>
      <p:sp>
        <p:nvSpPr>
          <p:cNvPr id="18" name="Text 16"/>
          <p:cNvSpPr txBox="1"/>
          <p:nvPr/>
        </p:nvSpPr>
        <p:spPr>
          <a:xfrm>
            <a:off x="5989320" y="1536192"/>
            <a:ext cx="5394960" cy="868680"/>
          </a:xfrm>
          <a:prstGeom prst="rect">
            <a:avLst/>
          </a:prstGeom>
          <a:noFill/>
          <a:ln/>
        </p:spPr>
        <p:txBody>
          <a:bodyPr wrap="square" lIns="0" tIns="0" rIns="0" bIns="0" rtlCol="0" anchor="t"/>
          <a:lstStyle/>
          <a:p>
            <a:pPr marL="0" indent="0">
              <a:buNone/>
            </a:pPr>
            <a:r>
              <a:rPr lang="en-US" sz="1400" b="1" dirty="0">
                <a:solidFill>
                  <a:srgbClr val="0F6E57"/>
                </a:solidFill>
                <a:latin typeface="Calibri" pitchFamily="34" charset="0"/>
                <a:ea typeface="Calibri" pitchFamily="34" charset="-122"/>
                <a:cs typeface="Calibri" pitchFamily="34" charset="-120"/>
              </a:rPr>
              <a:t>ArchUnit </a:t>
            </a:r>
            <a:r>
              <a:rPr lang="en-US" sz="1400" dirty="0">
                <a:solidFill>
                  <a:srgbClr val="1F2933"/>
                </a:solidFill>
                <a:latin typeface="Calibri" pitchFamily="34" charset="0"/>
                <a:ea typeface="Calibri" pitchFamily="34" charset="-122"/>
                <a:cs typeface="Calibri" pitchFamily="34" charset="-120"/>
              </a:rPr>
              <a:t>es una prueba que lee el código compilado y revisa quién importa a quién. Si una capa de adentro usa una de afuera, la prueba falla.</a:t>
            </a:r>
            <a:endParaRPr lang="en-US" sz="1400" dirty="0"/>
          </a:p>
        </p:txBody>
      </p:sp>
      <p:sp>
        <p:nvSpPr>
          <p:cNvPr id="19" name="Shape 17"/>
          <p:cNvSpPr/>
          <p:nvPr/>
        </p:nvSpPr>
        <p:spPr>
          <a:xfrm>
            <a:off x="5760720" y="2651760"/>
            <a:ext cx="5852160" cy="1828800"/>
          </a:xfrm>
          <a:prstGeom prst="roundRect">
            <a:avLst>
              <a:gd name="adj" fmla="val 4000"/>
            </a:avLst>
          </a:prstGeom>
          <a:solidFill>
            <a:srgbClr val="EEF1F3"/>
          </a:solidFill>
          <a:ln/>
        </p:spPr>
      </p:sp>
      <p:sp>
        <p:nvSpPr>
          <p:cNvPr id="20" name="Text 18"/>
          <p:cNvSpPr txBox="1"/>
          <p:nvPr/>
        </p:nvSpPr>
        <p:spPr>
          <a:xfrm>
            <a:off x="5943600" y="2788920"/>
            <a:ext cx="5486400" cy="1600200"/>
          </a:xfrm>
          <a:prstGeom prst="rect">
            <a:avLst/>
          </a:prstGeom>
          <a:noFill/>
          <a:ln/>
        </p:spPr>
        <p:txBody>
          <a:bodyPr wrap="square" lIns="0" tIns="0" rIns="0" bIns="0" rtlCol="0" anchor="t"/>
          <a:lstStyle/>
          <a:p>
            <a:pPr marL="0" indent="0">
              <a:buNone/>
            </a:pPr>
            <a:r>
              <a:rPr lang="en-US" sz="1100" dirty="0">
                <a:solidFill>
                  <a:srgbClr val="1F2933"/>
                </a:solidFill>
                <a:latin typeface="Courier New" pitchFamily="34" charset="0"/>
                <a:ea typeface="Courier New" pitchFamily="34" charset="-122"/>
                <a:cs typeface="Courier New" pitchFamily="34" charset="-120"/>
              </a:rPr>
              <a:t>layeredArchitecture()</a:t>
            </a:r>
            <a:endParaRPr lang="en-US" sz="1100" dirty="0"/>
          </a:p>
          <a:p>
            <a:pPr marL="0" indent="0">
              <a:buNone/>
            </a:pPr>
            <a:r>
              <a:rPr lang="en-US" sz="1100" dirty="0">
                <a:solidFill>
                  <a:srgbClr val="1F2933"/>
                </a:solidFill>
                <a:latin typeface="Courier New" pitchFamily="34" charset="0"/>
                <a:ea typeface="Courier New" pitchFamily="34" charset="-122"/>
                <a:cs typeface="Courier New" pitchFamily="34" charset="-120"/>
              </a:rPr>
              <a:t>  .layer("dominio").definedBy("..domain..")</a:t>
            </a:r>
            <a:endParaRPr lang="en-US" sz="1100" dirty="0"/>
          </a:p>
          <a:p>
            <a:pPr marL="0" indent="0">
              <a:buNone/>
            </a:pPr>
            <a:r>
              <a:rPr lang="en-US" sz="1100" dirty="0">
                <a:solidFill>
                  <a:srgbClr val="1F2933"/>
                </a:solidFill>
                <a:latin typeface="Courier New" pitchFamily="34" charset="0"/>
                <a:ea typeface="Courier New" pitchFamily="34" charset="-122"/>
                <a:cs typeface="Courier New" pitchFamily="34" charset="-120"/>
              </a:rPr>
              <a:t>  .layer("casos de uso").definedBy("..usecases..")</a:t>
            </a:r>
            <a:endParaRPr lang="en-US" sz="1100" dirty="0"/>
          </a:p>
          <a:p>
            <a:pPr marL="0" indent="0">
              <a:buNone/>
            </a:pPr>
            <a:r>
              <a:rPr lang="en-US" sz="1100" dirty="0">
                <a:solidFill>
                  <a:srgbClr val="1F2933"/>
                </a:solidFill>
                <a:latin typeface="Courier New" pitchFamily="34" charset="0"/>
                <a:ea typeface="Courier New" pitchFamily="34" charset="-122"/>
                <a:cs typeface="Courier New" pitchFamily="34" charset="-120"/>
              </a:rPr>
              <a:t>  .layer("adaptadores").definedBy("..adapters..")</a:t>
            </a:r>
            <a:endParaRPr lang="en-US" sz="1100" dirty="0"/>
          </a:p>
          <a:p>
            <a:pPr marL="0" indent="0">
              <a:buNone/>
            </a:pPr>
            <a:r>
              <a:rPr lang="en-US" sz="1100" dirty="0">
                <a:solidFill>
                  <a:srgbClr val="1F2933"/>
                </a:solidFill>
                <a:latin typeface="Courier New" pitchFamily="34" charset="0"/>
                <a:ea typeface="Courier New" pitchFamily="34" charset="-122"/>
                <a:cs typeface="Courier New" pitchFamily="34" charset="-120"/>
              </a:rPr>
              <a:t>  .whereLayer("adaptadores")</a:t>
            </a:r>
            <a:endParaRPr lang="en-US" sz="1100" dirty="0"/>
          </a:p>
          <a:p>
            <a:pPr marL="0" indent="0">
              <a:buNone/>
            </a:pPr>
            <a:r>
              <a:rPr lang="en-US" sz="1100" dirty="0">
                <a:solidFill>
                  <a:srgbClr val="1F2933"/>
                </a:solidFill>
                <a:latin typeface="Courier New" pitchFamily="34" charset="0"/>
                <a:ea typeface="Courier New" pitchFamily="34" charset="-122"/>
                <a:cs typeface="Courier New" pitchFamily="34" charset="-120"/>
              </a:rPr>
              <a:t>      .mayOnlyBeAccessedByLayers("infraestructura")</a:t>
            </a:r>
            <a:endParaRPr lang="en-US" sz="1100" dirty="0"/>
          </a:p>
          <a:p>
            <a:pPr marL="0" indent="0">
              <a:buNone/>
            </a:pPr>
            <a:r>
              <a:rPr lang="en-US" sz="1100" dirty="0">
                <a:solidFill>
                  <a:srgbClr val="1F2933"/>
                </a:solidFill>
                <a:latin typeface="Courier New" pitchFamily="34" charset="0"/>
                <a:ea typeface="Courier New" pitchFamily="34" charset="-122"/>
                <a:cs typeface="Courier New" pitchFamily="34" charset="-120"/>
              </a:rPr>
              <a:t>  .check(clases);   // falla si alguien rompe la regla</a:t>
            </a:r>
            <a:endParaRPr lang="en-US" sz="1100" dirty="0"/>
          </a:p>
        </p:txBody>
      </p:sp>
      <p:sp>
        <p:nvSpPr>
          <p:cNvPr id="21" name="Shape 19"/>
          <p:cNvSpPr/>
          <p:nvPr/>
        </p:nvSpPr>
        <p:spPr>
          <a:xfrm>
            <a:off x="5760720" y="4663440"/>
            <a:ext cx="5852160" cy="914400"/>
          </a:xfrm>
          <a:prstGeom prst="roundRect">
            <a:avLst>
              <a:gd name="adj" fmla="val 8000"/>
            </a:avLst>
          </a:prstGeom>
          <a:solidFill>
            <a:srgbClr val="FBE7DD"/>
          </a:solidFill>
          <a:ln/>
        </p:spPr>
      </p:sp>
      <p:sp>
        <p:nvSpPr>
          <p:cNvPr id="22" name="Text 20"/>
          <p:cNvSpPr txBox="1"/>
          <p:nvPr/>
        </p:nvSpPr>
        <p:spPr>
          <a:xfrm>
            <a:off x="5989320" y="4754880"/>
            <a:ext cx="5394960" cy="777240"/>
          </a:xfrm>
          <a:prstGeom prst="rect">
            <a:avLst/>
          </a:prstGeom>
          <a:noFill/>
          <a:ln/>
        </p:spPr>
        <p:txBody>
          <a:bodyPr wrap="square" lIns="0" tIns="0" rIns="0" bIns="0" rtlCol="0" anchor="t"/>
          <a:lstStyle/>
          <a:p>
            <a:pPr marL="0" indent="0">
              <a:buNone/>
            </a:pPr>
            <a:r>
              <a:rPr lang="en-US" sz="1300" b="1" dirty="0">
                <a:solidFill>
                  <a:srgbClr val="B83A0E"/>
                </a:solidFill>
                <a:latin typeface="Calibri" pitchFamily="34" charset="0"/>
                <a:ea typeface="Calibri" pitchFamily="34" charset="-122"/>
                <a:cs typeface="Calibri" pitchFamily="34" charset="-120"/>
              </a:rPr>
              <a:t>La primera vez que corrió, falló: </a:t>
            </a:r>
            <a:r>
              <a:rPr lang="en-US" sz="1300" dirty="0">
                <a:solidFill>
                  <a:srgbClr val="1F2933"/>
                </a:solidFill>
                <a:latin typeface="Calibri" pitchFamily="34" charset="0"/>
                <a:ea typeface="Calibri" pitchFamily="34" charset="-122"/>
                <a:cs typeface="Calibri" pitchFamily="34" charset="-120"/>
              </a:rPr>
              <a:t>un caso de uso de ventas importaba su cliente HTTP. Se corrigió con un puerto (ServiciosExternosPort).</a:t>
            </a:r>
            <a:endParaRPr lang="en-US" sz="1300" dirty="0"/>
          </a:p>
        </p:txBody>
      </p:sp>
      <p:sp>
        <p:nvSpPr>
          <p:cNvPr id="23" name="Shape 21"/>
          <p:cNvSpPr/>
          <p:nvPr/>
        </p:nvSpPr>
        <p:spPr>
          <a:xfrm>
            <a:off x="5760720" y="5715000"/>
            <a:ext cx="5852160" cy="777240"/>
          </a:xfrm>
          <a:prstGeom prst="roundRect">
            <a:avLst>
              <a:gd name="adj" fmla="val 9412"/>
            </a:avLst>
          </a:prstGeom>
          <a:solidFill>
            <a:srgbClr val="FBF1D9"/>
          </a:solidFill>
          <a:ln/>
        </p:spPr>
      </p:sp>
      <p:sp>
        <p:nvSpPr>
          <p:cNvPr id="24" name="Text 22"/>
          <p:cNvSpPr txBox="1"/>
          <p:nvPr/>
        </p:nvSpPr>
        <p:spPr>
          <a:xfrm>
            <a:off x="5943600" y="5824728"/>
            <a:ext cx="5486400" cy="594360"/>
          </a:xfrm>
          <a:prstGeom prst="rect">
            <a:avLst/>
          </a:prstGeom>
          <a:noFill/>
          <a:ln/>
        </p:spPr>
        <p:txBody>
          <a:bodyPr wrap="square" lIns="0" tIns="0" rIns="0" bIns="0" rtlCol="0" anchor="ctr"/>
          <a:lstStyle/>
          <a:p>
            <a:pPr marL="0" indent="0">
              <a:buNone/>
            </a:pPr>
            <a:r>
              <a:rPr lang="en-US" sz="1400" b="1" dirty="0">
                <a:solidFill>
                  <a:srgbClr val="9A6A0C"/>
                </a:solidFill>
                <a:latin typeface="Calibri" pitchFamily="34" charset="0"/>
                <a:ea typeface="Calibri" pitchFamily="34" charset="-122"/>
                <a:cs typeface="Calibri" pitchFamily="34" charset="-120"/>
              </a:rPr>
              <a:t>Para entenderlo: </a:t>
            </a:r>
            <a:r>
              <a:rPr lang="en-US" sz="1400" dirty="0">
                <a:solidFill>
                  <a:srgbClr val="1F2933"/>
                </a:solidFill>
                <a:latin typeface="Calibri" pitchFamily="34" charset="0"/>
                <a:ea typeface="Calibri" pitchFamily="34" charset="-122"/>
                <a:cs typeface="Calibri" pitchFamily="34" charset="-120"/>
              </a:rPr>
              <a:t>es un guardia en la puerta de cada capa que revisa a quién conoce cada clase.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972800" cy="274320"/>
          </a:xfrm>
          <a:prstGeom prst="rect">
            <a:avLst/>
          </a:prstGeom>
          <a:noFill/>
          <a:ln/>
        </p:spPr>
        <p:txBody>
          <a:bodyPr wrap="square" lIns="0" tIns="0" rIns="0" bIns="0" rtlCol="0" anchor="t"/>
          <a:lstStyle/>
          <a:p>
            <a:pPr marL="0" indent="0">
              <a:buNone/>
            </a:pPr>
            <a:r>
              <a:rPr lang="en-US" sz="1100" b="1" kern="0" spc="200" dirty="0">
                <a:solidFill>
                  <a:srgbClr val="0F6E57"/>
                </a:solidFill>
                <a:latin typeface="Calibri" pitchFamily="34" charset="0"/>
                <a:ea typeface="Calibri" pitchFamily="34" charset="-122"/>
                <a:cs typeface="Calibri" pitchFamily="34" charset="-120"/>
              </a:rPr>
              <a:t>BLOQUE 2, JAVIER</a:t>
            </a:r>
            <a:endParaRPr lang="en-US" sz="1100" dirty="0"/>
          </a:p>
        </p:txBody>
      </p:sp>
      <p:sp>
        <p:nvSpPr>
          <p:cNvPr id="3" name="Text 1"/>
          <p:cNvSpPr txBox="1"/>
          <p:nvPr/>
        </p:nvSpPr>
        <p:spPr>
          <a:xfrm>
            <a:off x="548640" y="594360"/>
            <a:ext cx="11064240" cy="685800"/>
          </a:xfrm>
          <a:prstGeom prst="rect">
            <a:avLst/>
          </a:prstGeom>
          <a:noFill/>
          <a:ln/>
        </p:spPr>
        <p:txBody>
          <a:bodyPr wrap="square" lIns="0" tIns="0" rIns="0" bIns="0" rtlCol="0" anchor="t"/>
          <a:lstStyle/>
          <a:p>
            <a:pPr marL="0" indent="0">
              <a:buNone/>
            </a:pPr>
            <a:r>
              <a:rPr lang="en-US" sz="3000" b="1" dirty="0">
                <a:solidFill>
                  <a:srgbClr val="1F2933"/>
                </a:solidFill>
                <a:latin typeface="Cambria" pitchFamily="34" charset="0"/>
                <a:ea typeface="Cambria" pitchFamily="34" charset="-122"/>
                <a:cs typeface="Cambria" pitchFamily="34" charset="-120"/>
              </a:rPr>
              <a:t>El viaje de una venta, en dos tiempos</a:t>
            </a:r>
            <a:endParaRPr lang="en-US" sz="3000" dirty="0"/>
          </a:p>
        </p:txBody>
      </p:sp>
      <p:sp>
        <p:nvSpPr>
          <p:cNvPr id="4" name="Shape 2"/>
          <p:cNvSpPr/>
          <p:nvPr/>
        </p:nvSpPr>
        <p:spPr>
          <a:xfrm>
            <a:off x="548640" y="1417320"/>
            <a:ext cx="5394960" cy="3246120"/>
          </a:xfrm>
          <a:prstGeom prst="roundRect">
            <a:avLst>
              <a:gd name="adj" fmla="val 2254"/>
            </a:avLst>
          </a:prstGeom>
          <a:solidFill>
            <a:srgbClr val="E3F1EC"/>
          </a:solidFill>
          <a:ln/>
        </p:spPr>
      </p:sp>
      <p:sp>
        <p:nvSpPr>
          <p:cNvPr id="5" name="Shape 3"/>
          <p:cNvSpPr/>
          <p:nvPr/>
        </p:nvSpPr>
        <p:spPr>
          <a:xfrm>
            <a:off x="6217920" y="1417320"/>
            <a:ext cx="5394960" cy="3246120"/>
          </a:xfrm>
          <a:prstGeom prst="roundRect">
            <a:avLst>
              <a:gd name="adj" fmla="val 2254"/>
            </a:avLst>
          </a:prstGeom>
          <a:solidFill>
            <a:srgbClr val="EEF1F3"/>
          </a:solidFill>
          <a:ln/>
        </p:spPr>
      </p:sp>
      <p:sp>
        <p:nvSpPr>
          <p:cNvPr id="6" name="Text 4"/>
          <p:cNvSpPr txBox="1"/>
          <p:nvPr/>
        </p:nvSpPr>
        <p:spPr>
          <a:xfrm>
            <a:off x="777240" y="1554480"/>
            <a:ext cx="4937760" cy="274320"/>
          </a:xfrm>
          <a:prstGeom prst="rect">
            <a:avLst/>
          </a:prstGeom>
          <a:noFill/>
          <a:ln/>
        </p:spPr>
        <p:txBody>
          <a:bodyPr wrap="square" lIns="0" tIns="0" rIns="0" bIns="0" rtlCol="0" anchor="t"/>
          <a:lstStyle/>
          <a:p>
            <a:pPr marL="0" indent="0">
              <a:buNone/>
            </a:pPr>
            <a:r>
              <a:rPr lang="en-US" sz="1200" b="1" kern="0" spc="100" dirty="0">
                <a:solidFill>
                  <a:srgbClr val="0F6E57"/>
                </a:solidFill>
                <a:latin typeface="Calibri" pitchFamily="34" charset="0"/>
                <a:ea typeface="Calibri" pitchFamily="34" charset="-122"/>
                <a:cs typeface="Calibri" pitchFamily="34" charset="-120"/>
              </a:rPr>
              <a:t>MIENTRAS EL CLIENTE ESPERA</a:t>
            </a:r>
            <a:endParaRPr lang="en-US" sz="1200" dirty="0"/>
          </a:p>
        </p:txBody>
      </p:sp>
      <p:sp>
        <p:nvSpPr>
          <p:cNvPr id="7" name="Text 5"/>
          <p:cNvSpPr txBox="1"/>
          <p:nvPr/>
        </p:nvSpPr>
        <p:spPr>
          <a:xfrm>
            <a:off x="6446520" y="1554480"/>
            <a:ext cx="4937760" cy="274320"/>
          </a:xfrm>
          <a:prstGeom prst="rect">
            <a:avLst/>
          </a:prstGeom>
          <a:noFill/>
          <a:ln/>
        </p:spPr>
        <p:txBody>
          <a:bodyPr wrap="square" lIns="0" tIns="0" rIns="0" bIns="0" rtlCol="0" anchor="t"/>
          <a:lstStyle/>
          <a:p>
            <a:pPr marL="0" indent="0">
              <a:buNone/>
            </a:pPr>
            <a:r>
              <a:rPr lang="en-US" sz="1200" b="1" kern="0" spc="100" dirty="0">
                <a:solidFill>
                  <a:srgbClr val="5B6670"/>
                </a:solidFill>
                <a:latin typeface="Calibri" pitchFamily="34" charset="0"/>
                <a:ea typeface="Calibri" pitchFamily="34" charset="-122"/>
                <a:cs typeface="Calibri" pitchFamily="34" charset="-120"/>
              </a:rPr>
              <a:t>CUANDO EL CLIENTE YA SE FUE</a:t>
            </a:r>
            <a:endParaRPr lang="en-US" sz="1200" dirty="0"/>
          </a:p>
        </p:txBody>
      </p:sp>
      <p:sp>
        <p:nvSpPr>
          <p:cNvPr id="8" name="Shape 6"/>
          <p:cNvSpPr/>
          <p:nvPr/>
        </p:nvSpPr>
        <p:spPr>
          <a:xfrm>
            <a:off x="777240" y="2011680"/>
            <a:ext cx="502920" cy="502920"/>
          </a:xfrm>
          <a:prstGeom prst="ellipse">
            <a:avLst/>
          </a:prstGeom>
          <a:solidFill>
            <a:srgbClr val="0F6E57"/>
          </a:solidFill>
          <a:ln/>
        </p:spPr>
      </p:sp>
      <p:sp>
        <p:nvSpPr>
          <p:cNvPr id="9" name="Text 7"/>
          <p:cNvSpPr txBox="1"/>
          <p:nvPr/>
        </p:nvSpPr>
        <p:spPr>
          <a:xfrm>
            <a:off x="777240" y="201168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Text 8"/>
          <p:cNvSpPr txBox="1"/>
          <p:nvPr/>
        </p:nvSpPr>
        <p:spPr>
          <a:xfrm>
            <a:off x="1463040" y="1993392"/>
            <a:ext cx="4297680" cy="274320"/>
          </a:xfrm>
          <a:prstGeom prst="rect">
            <a:avLst/>
          </a:prstGeom>
          <a:noFill/>
          <a:ln/>
        </p:spPr>
        <p:txBody>
          <a:bodyPr wrap="square" lIns="0" tIns="0" rIns="0" bIns="0" rtlCol="0" anchor="t"/>
          <a:lstStyle/>
          <a:p>
            <a:pPr marL="0" indent="0">
              <a:buNone/>
            </a:pPr>
            <a:r>
              <a:rPr lang="en-US" sz="1600" b="1" dirty="0">
                <a:solidFill>
                  <a:srgbClr val="1F2933"/>
                </a:solidFill>
                <a:latin typeface="Calibri" pitchFamily="34" charset="0"/>
                <a:ea typeface="Calibri" pitchFamily="34" charset="-122"/>
                <a:cs typeface="Calibri" pitchFamily="34" charset="-120"/>
              </a:rPr>
              <a:t>Escanear</a:t>
            </a:r>
            <a:endParaRPr lang="en-US" sz="1600" dirty="0"/>
          </a:p>
        </p:txBody>
      </p:sp>
      <p:sp>
        <p:nvSpPr>
          <p:cNvPr id="11" name="Text 9"/>
          <p:cNvSpPr txBox="1"/>
          <p:nvPr/>
        </p:nvSpPr>
        <p:spPr>
          <a:xfrm>
            <a:off x="1463040" y="2286000"/>
            <a:ext cx="4297680" cy="274320"/>
          </a:xfrm>
          <a:prstGeom prst="rect">
            <a:avLst/>
          </a:prstGeom>
          <a:noFill/>
          <a:ln/>
        </p:spPr>
        <p:txBody>
          <a:bodyPr wrap="square" lIns="0" tIns="0" rIns="0" bIns="0" rtlCol="0" anchor="t"/>
          <a:lstStyle/>
          <a:p>
            <a:pPr marL="0" indent="0">
              <a:buNone/>
            </a:pPr>
            <a:r>
              <a:rPr lang="en-US" sz="1300" dirty="0">
                <a:solidFill>
                  <a:srgbClr val="5B6670"/>
                </a:solidFill>
                <a:latin typeface="Calibri" pitchFamily="34" charset="0"/>
                <a:ea typeface="Calibri" pitchFamily="34" charset="-122"/>
                <a:cs typeface="Calibri" pitchFamily="34" charset="-120"/>
              </a:rPr>
              <a:t>precio, stock y descuento por HTTP</a:t>
            </a:r>
            <a:endParaRPr lang="en-US" sz="1300" dirty="0"/>
          </a:p>
        </p:txBody>
      </p:sp>
      <p:sp>
        <p:nvSpPr>
          <p:cNvPr id="12" name="Shape 10"/>
          <p:cNvSpPr/>
          <p:nvPr/>
        </p:nvSpPr>
        <p:spPr>
          <a:xfrm>
            <a:off x="777240" y="2880360"/>
            <a:ext cx="502920" cy="502920"/>
          </a:xfrm>
          <a:prstGeom prst="ellipse">
            <a:avLst/>
          </a:prstGeom>
          <a:solidFill>
            <a:srgbClr val="0F6E57"/>
          </a:solidFill>
          <a:ln/>
        </p:spPr>
      </p:sp>
      <p:sp>
        <p:nvSpPr>
          <p:cNvPr id="13" name="Text 11"/>
          <p:cNvSpPr txBox="1"/>
          <p:nvPr/>
        </p:nvSpPr>
        <p:spPr>
          <a:xfrm>
            <a:off x="777240" y="288036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4" name="Text 12"/>
          <p:cNvSpPr txBox="1"/>
          <p:nvPr/>
        </p:nvSpPr>
        <p:spPr>
          <a:xfrm>
            <a:off x="1463040" y="2862072"/>
            <a:ext cx="4297680" cy="274320"/>
          </a:xfrm>
          <a:prstGeom prst="rect">
            <a:avLst/>
          </a:prstGeom>
          <a:noFill/>
          <a:ln/>
        </p:spPr>
        <p:txBody>
          <a:bodyPr wrap="square" lIns="0" tIns="0" rIns="0" bIns="0" rtlCol="0" anchor="t"/>
          <a:lstStyle/>
          <a:p>
            <a:pPr marL="0" indent="0">
              <a:buNone/>
            </a:pPr>
            <a:r>
              <a:rPr lang="en-US" sz="1600" b="1" dirty="0">
                <a:solidFill>
                  <a:srgbClr val="1F2933"/>
                </a:solidFill>
                <a:latin typeface="Calibri" pitchFamily="34" charset="0"/>
                <a:ea typeface="Calibri" pitchFamily="34" charset="-122"/>
                <a:cs typeface="Calibri" pitchFamily="34" charset="-120"/>
              </a:rPr>
              <a:t>Identificar cliente</a:t>
            </a:r>
            <a:endParaRPr lang="en-US" sz="1600" dirty="0"/>
          </a:p>
        </p:txBody>
      </p:sp>
      <p:sp>
        <p:nvSpPr>
          <p:cNvPr id="15" name="Text 13"/>
          <p:cNvSpPr txBox="1"/>
          <p:nvPr/>
        </p:nvSpPr>
        <p:spPr>
          <a:xfrm>
            <a:off x="1463040" y="3154680"/>
            <a:ext cx="4297680" cy="274320"/>
          </a:xfrm>
          <a:prstGeom prst="rect">
            <a:avLst/>
          </a:prstGeom>
          <a:noFill/>
          <a:ln/>
        </p:spPr>
        <p:txBody>
          <a:bodyPr wrap="square" lIns="0" tIns="0" rIns="0" bIns="0" rtlCol="0" anchor="t"/>
          <a:lstStyle/>
          <a:p>
            <a:pPr marL="0" indent="0">
              <a:buNone/>
            </a:pPr>
            <a:r>
              <a:rPr lang="en-US" sz="1300" dirty="0">
                <a:solidFill>
                  <a:srgbClr val="5B6670"/>
                </a:solidFill>
                <a:latin typeface="Calibri" pitchFamily="34" charset="0"/>
                <a:ea typeface="Calibri" pitchFamily="34" charset="-122"/>
                <a:cs typeface="Calibri" pitchFamily="34" charset="-120"/>
              </a:rPr>
              <a:t>datos y convenio por HTTP</a:t>
            </a:r>
            <a:endParaRPr lang="en-US" sz="1300" dirty="0"/>
          </a:p>
        </p:txBody>
      </p:sp>
      <p:sp>
        <p:nvSpPr>
          <p:cNvPr id="16" name="Shape 14"/>
          <p:cNvSpPr/>
          <p:nvPr/>
        </p:nvSpPr>
        <p:spPr>
          <a:xfrm>
            <a:off x="777240" y="3749040"/>
            <a:ext cx="502920" cy="502920"/>
          </a:xfrm>
          <a:prstGeom prst="ellipse">
            <a:avLst/>
          </a:prstGeom>
          <a:solidFill>
            <a:srgbClr val="0F6E57"/>
          </a:solidFill>
          <a:ln/>
        </p:spPr>
      </p:sp>
      <p:sp>
        <p:nvSpPr>
          <p:cNvPr id="17" name="Text 15"/>
          <p:cNvSpPr txBox="1"/>
          <p:nvPr/>
        </p:nvSpPr>
        <p:spPr>
          <a:xfrm>
            <a:off x="777240" y="374904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8" name="Text 16"/>
          <p:cNvSpPr txBox="1"/>
          <p:nvPr/>
        </p:nvSpPr>
        <p:spPr>
          <a:xfrm>
            <a:off x="1463040" y="3730752"/>
            <a:ext cx="4297680" cy="274320"/>
          </a:xfrm>
          <a:prstGeom prst="rect">
            <a:avLst/>
          </a:prstGeom>
          <a:noFill/>
          <a:ln/>
        </p:spPr>
        <p:txBody>
          <a:bodyPr wrap="square" lIns="0" tIns="0" rIns="0" bIns="0" rtlCol="0" anchor="t"/>
          <a:lstStyle/>
          <a:p>
            <a:pPr marL="0" indent="0">
              <a:buNone/>
            </a:pPr>
            <a:r>
              <a:rPr lang="en-US" sz="1600" b="1" dirty="0">
                <a:solidFill>
                  <a:srgbClr val="1F2933"/>
                </a:solidFill>
                <a:latin typeface="Calibri" pitchFamily="34" charset="0"/>
                <a:ea typeface="Calibri" pitchFamily="34" charset="-122"/>
                <a:cs typeface="Calibri" pitchFamily="34" charset="-120"/>
              </a:rPr>
              <a:t>Confirmar</a:t>
            </a:r>
            <a:endParaRPr lang="en-US" sz="1600" dirty="0"/>
          </a:p>
        </p:txBody>
      </p:sp>
      <p:sp>
        <p:nvSpPr>
          <p:cNvPr id="19" name="Text 17"/>
          <p:cNvSpPr txBox="1"/>
          <p:nvPr/>
        </p:nvSpPr>
        <p:spPr>
          <a:xfrm>
            <a:off x="1463040" y="4023360"/>
            <a:ext cx="4297680" cy="274320"/>
          </a:xfrm>
          <a:prstGeom prst="rect">
            <a:avLst/>
          </a:prstGeom>
          <a:noFill/>
          <a:ln/>
        </p:spPr>
        <p:txBody>
          <a:bodyPr wrap="square" lIns="0" tIns="0" rIns="0" bIns="0" rtlCol="0" anchor="t"/>
          <a:lstStyle/>
          <a:p>
            <a:pPr marL="0" indent="0">
              <a:buNone/>
            </a:pPr>
            <a:r>
              <a:rPr lang="en-US" sz="1300" dirty="0">
                <a:solidFill>
                  <a:srgbClr val="5B6670"/>
                </a:solidFill>
                <a:latin typeface="Calibri" pitchFamily="34" charset="0"/>
                <a:ea typeface="Calibri" pitchFamily="34" charset="-122"/>
                <a:cs typeface="Calibri" pitchFamily="34" charset="-120"/>
              </a:rPr>
              <a:t>una transacción local, sin llamar a nadie</a:t>
            </a:r>
            <a:endParaRPr lang="en-US" sz="1300" dirty="0"/>
          </a:p>
        </p:txBody>
      </p:sp>
      <p:sp>
        <p:nvSpPr>
          <p:cNvPr id="20" name="Shape 18"/>
          <p:cNvSpPr/>
          <p:nvPr/>
        </p:nvSpPr>
        <p:spPr>
          <a:xfrm>
            <a:off x="6446520" y="2011680"/>
            <a:ext cx="502920" cy="502920"/>
          </a:xfrm>
          <a:prstGeom prst="ellipse">
            <a:avLst/>
          </a:prstGeom>
          <a:solidFill>
            <a:srgbClr val="5B6670"/>
          </a:solidFill>
          <a:ln/>
        </p:spPr>
      </p:sp>
      <p:sp>
        <p:nvSpPr>
          <p:cNvPr id="21" name="Text 19"/>
          <p:cNvSpPr txBox="1"/>
          <p:nvPr/>
        </p:nvSpPr>
        <p:spPr>
          <a:xfrm>
            <a:off x="6446520" y="201168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2" name="Text 20"/>
          <p:cNvSpPr txBox="1"/>
          <p:nvPr/>
        </p:nvSpPr>
        <p:spPr>
          <a:xfrm>
            <a:off x="7132320" y="1993392"/>
            <a:ext cx="4297680" cy="274320"/>
          </a:xfrm>
          <a:prstGeom prst="rect">
            <a:avLst/>
          </a:prstGeom>
          <a:noFill/>
          <a:ln/>
        </p:spPr>
        <p:txBody>
          <a:bodyPr wrap="square" lIns="0" tIns="0" rIns="0" bIns="0" rtlCol="0" anchor="t"/>
          <a:lstStyle/>
          <a:p>
            <a:pPr marL="0" indent="0">
              <a:buNone/>
            </a:pPr>
            <a:r>
              <a:rPr lang="en-US" sz="1600" b="1" dirty="0">
                <a:solidFill>
                  <a:srgbClr val="1F2933"/>
                </a:solidFill>
                <a:latin typeface="Calibri" pitchFamily="34" charset="0"/>
                <a:ea typeface="Calibri" pitchFamily="34" charset="-122"/>
                <a:cs typeface="Calibri" pitchFamily="34" charset="-120"/>
              </a:rPr>
              <a:t>Publicador</a:t>
            </a:r>
            <a:endParaRPr lang="en-US" sz="1600" dirty="0"/>
          </a:p>
        </p:txBody>
      </p:sp>
      <p:sp>
        <p:nvSpPr>
          <p:cNvPr id="23" name="Text 21"/>
          <p:cNvSpPr txBox="1"/>
          <p:nvPr/>
        </p:nvSpPr>
        <p:spPr>
          <a:xfrm>
            <a:off x="7132320" y="2286000"/>
            <a:ext cx="4297680" cy="274320"/>
          </a:xfrm>
          <a:prstGeom prst="rect">
            <a:avLst/>
          </a:prstGeom>
          <a:noFill/>
          <a:ln/>
        </p:spPr>
        <p:txBody>
          <a:bodyPr wrap="square" lIns="0" tIns="0" rIns="0" bIns="0" rtlCol="0" anchor="t"/>
          <a:lstStyle/>
          <a:p>
            <a:pPr marL="0" indent="0">
              <a:buNone/>
            </a:pPr>
            <a:r>
              <a:rPr lang="en-US" sz="1300" dirty="0">
                <a:solidFill>
                  <a:srgbClr val="5B6670"/>
                </a:solidFill>
                <a:latin typeface="Calibri" pitchFamily="34" charset="0"/>
                <a:ea typeface="Calibri" pitchFamily="34" charset="-122"/>
                <a:cs typeface="Calibri" pitchFamily="34" charset="-120"/>
              </a:rPr>
              <a:t>saca el aviso de la outbox cada 200 ms</a:t>
            </a:r>
            <a:endParaRPr lang="en-US" sz="1300" dirty="0"/>
          </a:p>
        </p:txBody>
      </p:sp>
      <p:sp>
        <p:nvSpPr>
          <p:cNvPr id="24" name="Shape 22"/>
          <p:cNvSpPr/>
          <p:nvPr/>
        </p:nvSpPr>
        <p:spPr>
          <a:xfrm>
            <a:off x="6446520" y="2880360"/>
            <a:ext cx="502920" cy="502920"/>
          </a:xfrm>
          <a:prstGeom prst="ellipse">
            <a:avLst/>
          </a:prstGeom>
          <a:solidFill>
            <a:srgbClr val="5B6670"/>
          </a:solidFill>
          <a:ln/>
        </p:spPr>
      </p:sp>
      <p:sp>
        <p:nvSpPr>
          <p:cNvPr id="25" name="Text 23"/>
          <p:cNvSpPr txBox="1"/>
          <p:nvPr/>
        </p:nvSpPr>
        <p:spPr>
          <a:xfrm>
            <a:off x="6446520" y="288036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26" name="Text 24"/>
          <p:cNvSpPr txBox="1"/>
          <p:nvPr/>
        </p:nvSpPr>
        <p:spPr>
          <a:xfrm>
            <a:off x="7132320" y="2862072"/>
            <a:ext cx="4297680" cy="274320"/>
          </a:xfrm>
          <a:prstGeom prst="rect">
            <a:avLst/>
          </a:prstGeom>
          <a:noFill/>
          <a:ln/>
        </p:spPr>
        <p:txBody>
          <a:bodyPr wrap="square" lIns="0" tIns="0" rIns="0" bIns="0" rtlCol="0" anchor="t"/>
          <a:lstStyle/>
          <a:p>
            <a:pPr marL="0" indent="0">
              <a:buNone/>
            </a:pPr>
            <a:r>
              <a:rPr lang="en-US" sz="1600" b="1" dirty="0">
                <a:solidFill>
                  <a:srgbClr val="1F2933"/>
                </a:solidFill>
                <a:latin typeface="Calibri" pitchFamily="34" charset="0"/>
                <a:ea typeface="Calibri" pitchFamily="34" charset="-122"/>
                <a:cs typeface="Calibri" pitchFamily="34" charset="-120"/>
              </a:rPr>
              <a:t>Kafka</a:t>
            </a:r>
            <a:endParaRPr lang="en-US" sz="1600" dirty="0"/>
          </a:p>
        </p:txBody>
      </p:sp>
      <p:sp>
        <p:nvSpPr>
          <p:cNvPr id="27" name="Text 25"/>
          <p:cNvSpPr txBox="1"/>
          <p:nvPr/>
        </p:nvSpPr>
        <p:spPr>
          <a:xfrm>
            <a:off x="7132320" y="3154680"/>
            <a:ext cx="4297680" cy="274320"/>
          </a:xfrm>
          <a:prstGeom prst="rect">
            <a:avLst/>
          </a:prstGeom>
          <a:noFill/>
          <a:ln/>
        </p:spPr>
        <p:txBody>
          <a:bodyPr wrap="square" lIns="0" tIns="0" rIns="0" bIns="0" rtlCol="0" anchor="t"/>
          <a:lstStyle/>
          <a:p>
            <a:pPr marL="0" indent="0">
              <a:buNone/>
            </a:pPr>
            <a:r>
              <a:rPr lang="en-US" sz="1300" dirty="0">
                <a:solidFill>
                  <a:srgbClr val="5B6670"/>
                </a:solidFill>
                <a:latin typeface="Calibri" pitchFamily="34" charset="0"/>
                <a:ea typeface="Calibri" pitchFamily="34" charset="-122"/>
                <a:cs typeface="Calibri" pitchFamily="34" charset="-120"/>
              </a:rPr>
              <a:t>reparte el aviso a quien le interese</a:t>
            </a:r>
            <a:endParaRPr lang="en-US" sz="1300" dirty="0"/>
          </a:p>
        </p:txBody>
      </p:sp>
      <p:sp>
        <p:nvSpPr>
          <p:cNvPr id="28" name="Shape 26"/>
          <p:cNvSpPr/>
          <p:nvPr/>
        </p:nvSpPr>
        <p:spPr>
          <a:xfrm>
            <a:off x="6446520" y="3749040"/>
            <a:ext cx="502920" cy="502920"/>
          </a:xfrm>
          <a:prstGeom prst="ellipse">
            <a:avLst/>
          </a:prstGeom>
          <a:solidFill>
            <a:srgbClr val="5B6670"/>
          </a:solidFill>
          <a:ln/>
        </p:spPr>
      </p:sp>
      <p:sp>
        <p:nvSpPr>
          <p:cNvPr id="29" name="Text 27"/>
          <p:cNvSpPr txBox="1"/>
          <p:nvPr/>
        </p:nvSpPr>
        <p:spPr>
          <a:xfrm>
            <a:off x="6446520" y="374904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30" name="Text 28"/>
          <p:cNvSpPr txBox="1"/>
          <p:nvPr/>
        </p:nvSpPr>
        <p:spPr>
          <a:xfrm>
            <a:off x="7132320" y="3730752"/>
            <a:ext cx="4297680" cy="274320"/>
          </a:xfrm>
          <a:prstGeom prst="rect">
            <a:avLst/>
          </a:prstGeom>
          <a:noFill/>
          <a:ln/>
        </p:spPr>
        <p:txBody>
          <a:bodyPr wrap="square" lIns="0" tIns="0" rIns="0" bIns="0" rtlCol="0" anchor="t"/>
          <a:lstStyle/>
          <a:p>
            <a:pPr marL="0" indent="0">
              <a:buNone/>
            </a:pPr>
            <a:r>
              <a:rPr lang="en-US" sz="1600" b="1" dirty="0">
                <a:solidFill>
                  <a:srgbClr val="1F2933"/>
                </a:solidFill>
                <a:latin typeface="Calibri" pitchFamily="34" charset="0"/>
                <a:ea typeface="Calibri" pitchFamily="34" charset="-122"/>
                <a:cs typeface="Calibri" pitchFamily="34" charset="-120"/>
              </a:rPr>
              <a:t>Inventario y facturación</a:t>
            </a:r>
            <a:endParaRPr lang="en-US" sz="1600" dirty="0"/>
          </a:p>
        </p:txBody>
      </p:sp>
      <p:sp>
        <p:nvSpPr>
          <p:cNvPr id="31" name="Text 29"/>
          <p:cNvSpPr txBox="1"/>
          <p:nvPr/>
        </p:nvSpPr>
        <p:spPr>
          <a:xfrm>
            <a:off x="7132320" y="4023360"/>
            <a:ext cx="4297680" cy="274320"/>
          </a:xfrm>
          <a:prstGeom prst="rect">
            <a:avLst/>
          </a:prstGeom>
          <a:noFill/>
          <a:ln/>
        </p:spPr>
        <p:txBody>
          <a:bodyPr wrap="square" lIns="0" tIns="0" rIns="0" bIns="0" rtlCol="0" anchor="t"/>
          <a:lstStyle/>
          <a:p>
            <a:pPr marL="0" indent="0">
              <a:buNone/>
            </a:pPr>
            <a:r>
              <a:rPr lang="en-US" sz="1300" dirty="0">
                <a:solidFill>
                  <a:srgbClr val="5B6670"/>
                </a:solidFill>
                <a:latin typeface="Calibri" pitchFamily="34" charset="0"/>
                <a:ea typeface="Calibri" pitchFamily="34" charset="-122"/>
                <a:cs typeface="Calibri" pitchFamily="34" charset="-120"/>
              </a:rPr>
              <a:t>eligen lotes y emiten el comprobante</a:t>
            </a:r>
            <a:endParaRPr lang="en-US" sz="1300" dirty="0"/>
          </a:p>
        </p:txBody>
      </p:sp>
      <p:sp>
        <p:nvSpPr>
          <p:cNvPr id="32" name="Shape 30"/>
          <p:cNvSpPr/>
          <p:nvPr/>
        </p:nvSpPr>
        <p:spPr>
          <a:xfrm>
            <a:off x="5943600" y="3044952"/>
            <a:ext cx="274320" cy="0"/>
          </a:xfrm>
          <a:prstGeom prst="line">
            <a:avLst/>
          </a:prstGeom>
          <a:noFill/>
          <a:ln w="22225">
            <a:solidFill>
              <a:srgbClr val="9A6A0C"/>
            </a:solidFill>
            <a:prstDash val="dash"/>
            <a:tailEnd type="triangle"/>
          </a:ln>
        </p:spPr>
      </p:sp>
      <p:sp>
        <p:nvSpPr>
          <p:cNvPr id="33" name="Shape 31"/>
          <p:cNvSpPr/>
          <p:nvPr/>
        </p:nvSpPr>
        <p:spPr>
          <a:xfrm>
            <a:off x="548640" y="4846320"/>
            <a:ext cx="3657600" cy="1463040"/>
          </a:xfrm>
          <a:prstGeom prst="roundRect">
            <a:avLst>
              <a:gd name="adj" fmla="val 5000"/>
            </a:avLst>
          </a:prstGeom>
          <a:solidFill>
            <a:srgbClr val="0F6E57"/>
          </a:solidFill>
          <a:ln/>
        </p:spPr>
      </p:sp>
      <p:sp>
        <p:nvSpPr>
          <p:cNvPr id="34" name="Text 32"/>
          <p:cNvSpPr txBox="1"/>
          <p:nvPr/>
        </p:nvSpPr>
        <p:spPr>
          <a:xfrm>
            <a:off x="777240" y="4983480"/>
            <a:ext cx="3200400" cy="1234440"/>
          </a:xfrm>
          <a:prstGeom prst="rect">
            <a:avLst/>
          </a:prstGeom>
          <a:noFill/>
          <a:ln/>
        </p:spPr>
        <p:txBody>
          <a:bodyPr wrap="square" lIns="0" tIns="0" rIns="0" bIns="0" rtlCol="0" anchor="t"/>
          <a:lstStyle/>
          <a:p>
            <a:pPr marL="0" indent="0">
              <a:buNone/>
            </a:pPr>
            <a:r>
              <a:rPr lang="en-US" sz="3200" b="1" dirty="0">
                <a:solidFill>
                  <a:srgbClr val="FFFFFF"/>
                </a:solidFill>
                <a:latin typeface="Cambria" pitchFamily="34" charset="0"/>
                <a:ea typeface="Cambria" pitchFamily="34" charset="-122"/>
                <a:cs typeface="Cambria" pitchFamily="34" charset="-120"/>
              </a:rPr>
              <a:t>&lt; 500 ms</a:t>
            </a:r>
            <a:endParaRPr lang="en-US" sz="1500" dirty="0"/>
          </a:p>
          <a:p>
            <a:pPr marL="0" indent="0">
              <a:buNone/>
            </a:pPr>
            <a:r>
              <a:rPr lang="en-US" sz="1300" dirty="0">
                <a:solidFill>
                  <a:srgbClr val="C9E6DB"/>
                </a:solidFill>
                <a:latin typeface="Calibri" pitchFamily="34" charset="0"/>
                <a:ea typeface="Calibri" pitchFamily="34" charset="-122"/>
                <a:cs typeface="Calibri" pitchFamily="34" charset="-120"/>
              </a:rPr>
              <a:t>confirmar responde rápido porque no espera a nadie</a:t>
            </a:r>
            <a:endParaRPr lang="en-US" sz="1500" dirty="0"/>
          </a:p>
        </p:txBody>
      </p:sp>
      <p:sp>
        <p:nvSpPr>
          <p:cNvPr id="35" name="Shape 33"/>
          <p:cNvSpPr/>
          <p:nvPr/>
        </p:nvSpPr>
        <p:spPr>
          <a:xfrm>
            <a:off x="4480560" y="4846320"/>
            <a:ext cx="7132320" cy="1463040"/>
          </a:xfrm>
          <a:prstGeom prst="roundRect">
            <a:avLst>
              <a:gd name="adj" fmla="val 5000"/>
            </a:avLst>
          </a:prstGeom>
          <a:solidFill>
            <a:srgbClr val="FBF1D9"/>
          </a:solidFill>
          <a:ln/>
        </p:spPr>
      </p:sp>
      <p:sp>
        <p:nvSpPr>
          <p:cNvPr id="36" name="Text 34"/>
          <p:cNvSpPr txBox="1"/>
          <p:nvPr/>
        </p:nvSpPr>
        <p:spPr>
          <a:xfrm>
            <a:off x="4663440" y="4956048"/>
            <a:ext cx="6766560" cy="1280160"/>
          </a:xfrm>
          <a:prstGeom prst="rect">
            <a:avLst/>
          </a:prstGeom>
          <a:noFill/>
          <a:ln/>
        </p:spPr>
        <p:txBody>
          <a:bodyPr wrap="square" lIns="0" tIns="0" rIns="0" bIns="0" rtlCol="0" anchor="ctr"/>
          <a:lstStyle/>
          <a:p>
            <a:pPr marL="0" indent="0">
              <a:buNone/>
            </a:pPr>
            <a:r>
              <a:rPr lang="en-US" sz="1400" b="1" dirty="0">
                <a:solidFill>
                  <a:srgbClr val="9A6A0C"/>
                </a:solidFill>
                <a:latin typeface="Calibri" pitchFamily="34" charset="0"/>
                <a:ea typeface="Calibri" pitchFamily="34" charset="-122"/>
                <a:cs typeface="Calibri" pitchFamily="34" charset="-120"/>
              </a:rPr>
              <a:t>Para entenderlo: </a:t>
            </a:r>
            <a:r>
              <a:rPr lang="en-US" sz="1400" dirty="0">
                <a:solidFill>
                  <a:srgbClr val="1F2933"/>
                </a:solidFill>
                <a:latin typeface="Calibri" pitchFamily="34" charset="0"/>
                <a:ea typeface="Calibri" pitchFamily="34" charset="-122"/>
                <a:cs typeface="Calibri" pitchFamily="34" charset="-120"/>
              </a:rPr>
              <a:t>en un restaurante el mozo anota el pedido en la comanda y te atiende al toque. La cocina lo prepara después. Si la cocina se atrasa, tú ya pediste.</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972800" cy="274320"/>
          </a:xfrm>
          <a:prstGeom prst="rect">
            <a:avLst/>
          </a:prstGeom>
          <a:noFill/>
          <a:ln/>
        </p:spPr>
        <p:txBody>
          <a:bodyPr wrap="square" lIns="0" tIns="0" rIns="0" bIns="0" rtlCol="0" anchor="t"/>
          <a:lstStyle/>
          <a:p>
            <a:pPr marL="0" indent="0">
              <a:buNone/>
            </a:pPr>
            <a:r>
              <a:rPr lang="en-US" sz="1100" b="1" kern="0" spc="200" dirty="0">
                <a:solidFill>
                  <a:srgbClr val="0F6E57"/>
                </a:solidFill>
                <a:latin typeface="Calibri" pitchFamily="34" charset="0"/>
                <a:ea typeface="Calibri" pitchFamily="34" charset="-122"/>
                <a:cs typeface="Calibri" pitchFamily="34" charset="-120"/>
              </a:rPr>
              <a:t>BLOQUE 2, JAVIER: PROBLEMA 1 DE 3</a:t>
            </a:r>
            <a:endParaRPr lang="en-US" sz="1100" dirty="0"/>
          </a:p>
        </p:txBody>
      </p:sp>
      <p:sp>
        <p:nvSpPr>
          <p:cNvPr id="3" name="Text 1"/>
          <p:cNvSpPr txBox="1"/>
          <p:nvPr/>
        </p:nvSpPr>
        <p:spPr>
          <a:xfrm>
            <a:off x="548640" y="594360"/>
            <a:ext cx="11064240" cy="685800"/>
          </a:xfrm>
          <a:prstGeom prst="rect">
            <a:avLst/>
          </a:prstGeom>
          <a:noFill/>
          <a:ln/>
        </p:spPr>
        <p:txBody>
          <a:bodyPr wrap="square" lIns="0" tIns="0" rIns="0" bIns="0" rtlCol="0" anchor="t"/>
          <a:lstStyle/>
          <a:p>
            <a:pPr marL="0" indent="0">
              <a:buNone/>
            </a:pPr>
            <a:r>
              <a:rPr lang="en-US" sz="3000" b="1" dirty="0">
                <a:solidFill>
                  <a:srgbClr val="1F2933"/>
                </a:solidFill>
                <a:latin typeface="Cambria" pitchFamily="34" charset="0"/>
                <a:ea typeface="Cambria" pitchFamily="34" charset="-122"/>
                <a:cs typeface="Cambria" pitchFamily="34" charset="-120"/>
              </a:rPr>
              <a:t>Dos cajas venden la última caja de paracetamol</a:t>
            </a:r>
            <a:endParaRPr lang="en-US" sz="3000" dirty="0"/>
          </a:p>
        </p:txBody>
      </p:sp>
      <p:sp>
        <p:nvSpPr>
          <p:cNvPr id="4" name="Shape 2"/>
          <p:cNvSpPr/>
          <p:nvPr/>
        </p:nvSpPr>
        <p:spPr>
          <a:xfrm>
            <a:off x="548640" y="1463040"/>
            <a:ext cx="5212080" cy="1554480"/>
          </a:xfrm>
          <a:prstGeom prst="roundRect">
            <a:avLst>
              <a:gd name="adj" fmla="val 4706"/>
            </a:avLst>
          </a:prstGeom>
          <a:solidFill>
            <a:srgbClr val="FBE7DD"/>
          </a:solidFill>
          <a:ln/>
        </p:spPr>
      </p:sp>
      <p:sp>
        <p:nvSpPr>
          <p:cNvPr id="5" name="Text 3"/>
          <p:cNvSpPr txBox="1"/>
          <p:nvPr/>
        </p:nvSpPr>
        <p:spPr>
          <a:xfrm>
            <a:off x="777240" y="1600200"/>
            <a:ext cx="4754880" cy="274320"/>
          </a:xfrm>
          <a:prstGeom prst="rect">
            <a:avLst/>
          </a:prstGeom>
          <a:noFill/>
          <a:ln/>
        </p:spPr>
        <p:txBody>
          <a:bodyPr wrap="square" lIns="0" tIns="0" rIns="0" bIns="0" rtlCol="0" anchor="t"/>
          <a:lstStyle/>
          <a:p>
            <a:pPr marL="0" indent="0">
              <a:buNone/>
            </a:pPr>
            <a:r>
              <a:rPr lang="en-US" sz="1200" b="1" kern="0" spc="100" dirty="0">
                <a:solidFill>
                  <a:srgbClr val="B83A0E"/>
                </a:solidFill>
                <a:latin typeface="Calibri" pitchFamily="34" charset="0"/>
                <a:ea typeface="Calibri" pitchFamily="34" charset="-122"/>
                <a:cs typeface="Calibri" pitchFamily="34" charset="-120"/>
              </a:rPr>
              <a:t>QUÉ PASARÍA</a:t>
            </a:r>
            <a:endParaRPr lang="en-US" sz="1200" dirty="0"/>
          </a:p>
        </p:txBody>
      </p:sp>
      <p:sp>
        <p:nvSpPr>
          <p:cNvPr id="6" name="Text 4"/>
          <p:cNvSpPr txBox="1"/>
          <p:nvPr/>
        </p:nvSpPr>
        <p:spPr>
          <a:xfrm>
            <a:off x="777240" y="1920240"/>
            <a:ext cx="4754880" cy="1005840"/>
          </a:xfrm>
          <a:prstGeom prst="rect">
            <a:avLst/>
          </a:prstGeom>
          <a:noFill/>
          <a:ln/>
        </p:spPr>
        <p:txBody>
          <a:bodyPr wrap="square" lIns="0" tIns="0" rIns="0" bIns="0" rtlCol="0" anchor="t"/>
          <a:lstStyle/>
          <a:p>
            <a:pPr marL="0" indent="0">
              <a:buNone/>
            </a:pPr>
            <a:r>
              <a:rPr lang="en-US" sz="1500" dirty="0">
                <a:solidFill>
                  <a:srgbClr val="1F2933"/>
                </a:solidFill>
                <a:latin typeface="Calibri" pitchFamily="34" charset="0"/>
                <a:ea typeface="Calibri" pitchFamily="34" charset="-122"/>
                <a:cs typeface="Calibri" pitchFamily="34" charset="-120"/>
              </a:rPr>
              <a:t>Las dos cajas leen "queda 1", las dos venden y el sistema queda con menos uno. Vendimos algo que no existe.</a:t>
            </a:r>
            <a:endParaRPr lang="en-US" sz="1500" dirty="0"/>
          </a:p>
        </p:txBody>
      </p:sp>
      <p:sp>
        <p:nvSpPr>
          <p:cNvPr id="7" name="Shape 5"/>
          <p:cNvSpPr/>
          <p:nvPr/>
        </p:nvSpPr>
        <p:spPr>
          <a:xfrm>
            <a:off x="5852160" y="2240280"/>
            <a:ext cx="457200" cy="0"/>
          </a:xfrm>
          <a:prstGeom prst="line">
            <a:avLst/>
          </a:prstGeom>
          <a:noFill/>
          <a:ln w="22225">
            <a:solidFill>
              <a:srgbClr val="5B6670"/>
            </a:solidFill>
            <a:prstDash val="solid"/>
            <a:tailEnd type="triangle"/>
          </a:ln>
        </p:spPr>
      </p:sp>
      <p:sp>
        <p:nvSpPr>
          <p:cNvPr id="8" name="Shape 6"/>
          <p:cNvSpPr/>
          <p:nvPr/>
        </p:nvSpPr>
        <p:spPr>
          <a:xfrm>
            <a:off x="6400800" y="1463040"/>
            <a:ext cx="5212080" cy="1554480"/>
          </a:xfrm>
          <a:prstGeom prst="roundRect">
            <a:avLst>
              <a:gd name="adj" fmla="val 4706"/>
            </a:avLst>
          </a:prstGeom>
          <a:solidFill>
            <a:srgbClr val="E3F1EC"/>
          </a:solidFill>
          <a:ln/>
        </p:spPr>
      </p:sp>
      <p:sp>
        <p:nvSpPr>
          <p:cNvPr id="9" name="Text 7"/>
          <p:cNvSpPr txBox="1"/>
          <p:nvPr/>
        </p:nvSpPr>
        <p:spPr>
          <a:xfrm>
            <a:off x="6629400" y="1600200"/>
            <a:ext cx="4754880" cy="274320"/>
          </a:xfrm>
          <a:prstGeom prst="rect">
            <a:avLst/>
          </a:prstGeom>
          <a:noFill/>
          <a:ln/>
        </p:spPr>
        <p:txBody>
          <a:bodyPr wrap="square" lIns="0" tIns="0" rIns="0" bIns="0" rtlCol="0" anchor="t"/>
          <a:lstStyle/>
          <a:p>
            <a:pPr marL="0" indent="0">
              <a:buNone/>
            </a:pPr>
            <a:r>
              <a:rPr lang="en-US" sz="1200" b="1" kern="0" spc="100" dirty="0">
                <a:solidFill>
                  <a:srgbClr val="0F6E57"/>
                </a:solidFill>
                <a:latin typeface="Calibri" pitchFamily="34" charset="0"/>
                <a:ea typeface="Calibri" pitchFamily="34" charset="-122"/>
                <a:cs typeface="Calibri" pitchFamily="34" charset="-120"/>
              </a:rPr>
              <a:t>CÓMO LO EVITAMOS</a:t>
            </a:r>
            <a:endParaRPr lang="en-US" sz="1200" dirty="0"/>
          </a:p>
        </p:txBody>
      </p:sp>
      <p:sp>
        <p:nvSpPr>
          <p:cNvPr id="10" name="Text 8"/>
          <p:cNvSpPr txBox="1"/>
          <p:nvPr/>
        </p:nvSpPr>
        <p:spPr>
          <a:xfrm>
            <a:off x="6629400" y="1920240"/>
            <a:ext cx="4754880" cy="1005840"/>
          </a:xfrm>
          <a:prstGeom prst="rect">
            <a:avLst/>
          </a:prstGeom>
          <a:noFill/>
          <a:ln/>
        </p:spPr>
        <p:txBody>
          <a:bodyPr wrap="square" lIns="0" tIns="0" rIns="0" bIns="0" rtlCol="0" anchor="t"/>
          <a:lstStyle/>
          <a:p>
            <a:pPr marL="0" indent="0">
              <a:buNone/>
            </a:pPr>
            <a:r>
              <a:rPr lang="en-US" sz="1500" dirty="0">
                <a:solidFill>
                  <a:srgbClr val="1F2933"/>
                </a:solidFill>
                <a:latin typeface="Calibri" pitchFamily="34" charset="0"/>
                <a:ea typeface="Calibri" pitchFamily="34" charset="-122"/>
                <a:cs typeface="Calibri" pitchFamily="34" charset="-120"/>
              </a:rPr>
              <a:t>Postgres resta solo si alcanza, en una sola sentencia. La caja que llega segunda no cambia ninguna fila y el cajero ve "Solo quedan 0".</a:t>
            </a:r>
            <a:endParaRPr lang="en-US" sz="1500" dirty="0"/>
          </a:p>
        </p:txBody>
      </p:sp>
      <p:sp>
        <p:nvSpPr>
          <p:cNvPr id="11" name="Shape 9"/>
          <p:cNvSpPr/>
          <p:nvPr/>
        </p:nvSpPr>
        <p:spPr>
          <a:xfrm>
            <a:off x="548640" y="3246120"/>
            <a:ext cx="11064240" cy="1965960"/>
          </a:xfrm>
          <a:prstGeom prst="roundRect">
            <a:avLst>
              <a:gd name="adj" fmla="val 3721"/>
            </a:avLst>
          </a:prstGeom>
          <a:solidFill>
            <a:srgbClr val="EEF1F3"/>
          </a:solidFill>
          <a:ln/>
        </p:spPr>
      </p:sp>
      <p:sp>
        <p:nvSpPr>
          <p:cNvPr id="12" name="Text 10"/>
          <p:cNvSpPr txBox="1"/>
          <p:nvPr/>
        </p:nvSpPr>
        <p:spPr>
          <a:xfrm>
            <a:off x="731520" y="3383280"/>
            <a:ext cx="10698480" cy="1737360"/>
          </a:xfrm>
          <a:prstGeom prst="rect">
            <a:avLst/>
          </a:prstGeom>
          <a:noFill/>
          <a:ln/>
        </p:spPr>
        <p:txBody>
          <a:bodyPr wrap="square" lIns="0" tIns="0" rIns="0" bIns="0" rtlCol="0" anchor="t"/>
          <a:lstStyle/>
          <a:p>
            <a:pPr marL="0" indent="0">
              <a:buNone/>
            </a:pPr>
            <a:r>
              <a:rPr lang="en-US" sz="1350" dirty="0">
                <a:solidFill>
                  <a:srgbClr val="1F2933"/>
                </a:solidFill>
                <a:latin typeface="Courier New" pitchFamily="34" charset="0"/>
                <a:ea typeface="Courier New" pitchFamily="34" charset="-122"/>
                <a:cs typeface="Courier New" pitchFamily="34" charset="-120"/>
              </a:rPr>
              <a:t>UPDATE stock_local</a:t>
            </a:r>
            <a:endParaRPr lang="en-US" sz="1350" dirty="0"/>
          </a:p>
          <a:p>
            <a:pPr marL="0" indent="0">
              <a:buNone/>
            </a:pPr>
            <a:r>
              <a:rPr lang="en-US" sz="1350" dirty="0">
                <a:solidFill>
                  <a:srgbClr val="1F2933"/>
                </a:solidFill>
                <a:latin typeface="Courier New" pitchFamily="34" charset="0"/>
                <a:ea typeface="Courier New" pitchFamily="34" charset="-122"/>
                <a:cs typeface="Courier New" pitchFamily="34" charset="-120"/>
              </a:rPr>
              <a:t>   SET reservado = reservado + ?</a:t>
            </a:r>
            <a:endParaRPr lang="en-US" sz="1350" dirty="0"/>
          </a:p>
          <a:p>
            <a:pPr marL="0" indent="0">
              <a:buNone/>
            </a:pPr>
            <a:r>
              <a:rPr lang="en-US" sz="1350" dirty="0">
                <a:solidFill>
                  <a:srgbClr val="1F2933"/>
                </a:solidFill>
                <a:latin typeface="Courier New" pitchFamily="34" charset="0"/>
                <a:ea typeface="Courier New" pitchFamily="34" charset="-122"/>
                <a:cs typeface="Courier New" pitchFamily="34" charset="-120"/>
              </a:rPr>
              <a:t> WHERE producto_id = ? AND local_id = ?</a:t>
            </a:r>
            <a:endParaRPr lang="en-US" sz="1350" dirty="0"/>
          </a:p>
          <a:p>
            <a:pPr marL="0" indent="0">
              <a:buNone/>
            </a:pPr>
            <a:r>
              <a:rPr lang="en-US" sz="1350" dirty="0">
                <a:solidFill>
                  <a:srgbClr val="1F2933"/>
                </a:solidFill>
                <a:latin typeface="Courier New" pitchFamily="34" charset="0"/>
                <a:ea typeface="Courier New" pitchFamily="34" charset="-122"/>
                <a:cs typeface="Courier New" pitchFamily="34" charset="-120"/>
              </a:rPr>
              <a:t>   AND disponible - reservado &gt;= ?      -- 0 filas afectadas: no hay stock</a:t>
            </a:r>
            <a:endParaRPr lang="en-US" sz="1350" dirty="0"/>
          </a:p>
        </p:txBody>
      </p:sp>
      <p:sp>
        <p:nvSpPr>
          <p:cNvPr id="13" name="Shape 11"/>
          <p:cNvSpPr/>
          <p:nvPr/>
        </p:nvSpPr>
        <p:spPr>
          <a:xfrm>
            <a:off x="548640" y="5486400"/>
            <a:ext cx="11064240" cy="868680"/>
          </a:xfrm>
          <a:prstGeom prst="roundRect">
            <a:avLst>
              <a:gd name="adj" fmla="val 8421"/>
            </a:avLst>
          </a:prstGeom>
          <a:solidFill>
            <a:srgbClr val="FBF1D9"/>
          </a:solidFill>
          <a:ln/>
        </p:spPr>
      </p:sp>
      <p:sp>
        <p:nvSpPr>
          <p:cNvPr id="14" name="Text 12"/>
          <p:cNvSpPr txBox="1"/>
          <p:nvPr/>
        </p:nvSpPr>
        <p:spPr>
          <a:xfrm>
            <a:off x="731520" y="5596128"/>
            <a:ext cx="10698480" cy="685800"/>
          </a:xfrm>
          <a:prstGeom prst="rect">
            <a:avLst/>
          </a:prstGeom>
          <a:noFill/>
          <a:ln/>
        </p:spPr>
        <p:txBody>
          <a:bodyPr wrap="square" lIns="0" tIns="0" rIns="0" bIns="0" rtlCol="0" anchor="ctr"/>
          <a:lstStyle/>
          <a:p>
            <a:pPr marL="0" indent="0">
              <a:buNone/>
            </a:pPr>
            <a:r>
              <a:rPr lang="en-US" sz="1400" b="1" dirty="0">
                <a:solidFill>
                  <a:srgbClr val="9A6A0C"/>
                </a:solidFill>
                <a:latin typeface="Calibri" pitchFamily="34" charset="0"/>
                <a:ea typeface="Calibri" pitchFamily="34" charset="-122"/>
                <a:cs typeface="Calibri" pitchFamily="34" charset="-120"/>
              </a:rPr>
              <a:t>Para entenderlo: </a:t>
            </a:r>
            <a:r>
              <a:rPr lang="en-US" sz="1400" dirty="0">
                <a:solidFill>
                  <a:srgbClr val="1F2933"/>
                </a:solidFill>
                <a:latin typeface="Calibri" pitchFamily="34" charset="0"/>
                <a:ea typeface="Calibri" pitchFamily="34" charset="-122"/>
                <a:cs typeface="Calibri" pitchFamily="34" charset="-120"/>
              </a:rPr>
              <a:t>dos manos van por el último producto del anaquel. El anaquel solo deja que una lo saque; la otra encuentra el espacio vacío.</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972800" cy="274320"/>
          </a:xfrm>
          <a:prstGeom prst="rect">
            <a:avLst/>
          </a:prstGeom>
          <a:noFill/>
          <a:ln/>
        </p:spPr>
        <p:txBody>
          <a:bodyPr wrap="square" lIns="0" tIns="0" rIns="0" bIns="0" rtlCol="0" anchor="t"/>
          <a:lstStyle/>
          <a:p>
            <a:pPr marL="0" indent="0">
              <a:buNone/>
            </a:pPr>
            <a:r>
              <a:rPr lang="en-US" sz="1100" b="1" kern="0" spc="200" dirty="0">
                <a:solidFill>
                  <a:srgbClr val="0F6E57"/>
                </a:solidFill>
                <a:latin typeface="Calibri" pitchFamily="34" charset="0"/>
                <a:ea typeface="Calibri" pitchFamily="34" charset="-122"/>
                <a:cs typeface="Calibri" pitchFamily="34" charset="-120"/>
              </a:rPr>
              <a:t>BLOQUE 2, JAVIER: PROBLEMA 2 DE 3</a:t>
            </a:r>
            <a:endParaRPr lang="en-US" sz="1100" dirty="0"/>
          </a:p>
        </p:txBody>
      </p:sp>
      <p:sp>
        <p:nvSpPr>
          <p:cNvPr id="3" name="Text 1"/>
          <p:cNvSpPr txBox="1"/>
          <p:nvPr/>
        </p:nvSpPr>
        <p:spPr>
          <a:xfrm>
            <a:off x="548640" y="594360"/>
            <a:ext cx="11064240" cy="685800"/>
          </a:xfrm>
          <a:prstGeom prst="rect">
            <a:avLst/>
          </a:prstGeom>
          <a:noFill/>
          <a:ln/>
        </p:spPr>
        <p:txBody>
          <a:bodyPr wrap="square" lIns="0" tIns="0" rIns="0" bIns="0" rtlCol="0" anchor="t"/>
          <a:lstStyle/>
          <a:p>
            <a:pPr marL="0" indent="0">
              <a:buNone/>
            </a:pPr>
            <a:r>
              <a:rPr lang="en-US" sz="3000" b="1" dirty="0">
                <a:solidFill>
                  <a:srgbClr val="1F2933"/>
                </a:solidFill>
                <a:latin typeface="Cambria" pitchFamily="34" charset="0"/>
                <a:ea typeface="Cambria" pitchFamily="34" charset="-122"/>
                <a:cs typeface="Cambria" pitchFamily="34" charset="-120"/>
              </a:rPr>
              <a:t>Se cobró, pero el aviso nunca salió</a:t>
            </a:r>
            <a:endParaRPr lang="en-US" sz="3000" dirty="0"/>
          </a:p>
        </p:txBody>
      </p:sp>
      <p:sp>
        <p:nvSpPr>
          <p:cNvPr id="4" name="Shape 2"/>
          <p:cNvSpPr/>
          <p:nvPr/>
        </p:nvSpPr>
        <p:spPr>
          <a:xfrm>
            <a:off x="548640" y="1463040"/>
            <a:ext cx="5212080" cy="1554480"/>
          </a:xfrm>
          <a:prstGeom prst="roundRect">
            <a:avLst>
              <a:gd name="adj" fmla="val 4706"/>
            </a:avLst>
          </a:prstGeom>
          <a:solidFill>
            <a:srgbClr val="FBE7DD"/>
          </a:solidFill>
          <a:ln/>
        </p:spPr>
      </p:sp>
      <p:sp>
        <p:nvSpPr>
          <p:cNvPr id="5" name="Text 3"/>
          <p:cNvSpPr txBox="1"/>
          <p:nvPr/>
        </p:nvSpPr>
        <p:spPr>
          <a:xfrm>
            <a:off x="777240" y="1600200"/>
            <a:ext cx="4754880" cy="274320"/>
          </a:xfrm>
          <a:prstGeom prst="rect">
            <a:avLst/>
          </a:prstGeom>
          <a:noFill/>
          <a:ln/>
        </p:spPr>
        <p:txBody>
          <a:bodyPr wrap="square" lIns="0" tIns="0" rIns="0" bIns="0" rtlCol="0" anchor="t"/>
          <a:lstStyle/>
          <a:p>
            <a:pPr marL="0" indent="0">
              <a:buNone/>
            </a:pPr>
            <a:r>
              <a:rPr lang="en-US" sz="1200" b="1" kern="0" spc="100" dirty="0">
                <a:solidFill>
                  <a:srgbClr val="B83A0E"/>
                </a:solidFill>
                <a:latin typeface="Calibri" pitchFamily="34" charset="0"/>
                <a:ea typeface="Calibri" pitchFamily="34" charset="-122"/>
                <a:cs typeface="Calibri" pitchFamily="34" charset="-120"/>
              </a:rPr>
              <a:t>QUÉ PASARÍA</a:t>
            </a:r>
            <a:endParaRPr lang="en-US" sz="1200" dirty="0"/>
          </a:p>
        </p:txBody>
      </p:sp>
      <p:sp>
        <p:nvSpPr>
          <p:cNvPr id="6" name="Text 4"/>
          <p:cNvSpPr txBox="1"/>
          <p:nvPr/>
        </p:nvSpPr>
        <p:spPr>
          <a:xfrm>
            <a:off x="777240" y="1920240"/>
            <a:ext cx="4754880" cy="1005840"/>
          </a:xfrm>
          <a:prstGeom prst="rect">
            <a:avLst/>
          </a:prstGeom>
          <a:noFill/>
          <a:ln/>
        </p:spPr>
        <p:txBody>
          <a:bodyPr wrap="square" lIns="0" tIns="0" rIns="0" bIns="0" rtlCol="0" anchor="t"/>
          <a:lstStyle/>
          <a:p>
            <a:pPr marL="0" indent="0">
              <a:buNone/>
            </a:pPr>
            <a:r>
              <a:rPr lang="en-US" sz="1500" dirty="0">
                <a:solidFill>
                  <a:srgbClr val="1F2933"/>
                </a:solidFill>
                <a:latin typeface="Calibri" pitchFamily="34" charset="0"/>
                <a:ea typeface="Calibri" pitchFamily="34" charset="-122"/>
                <a:cs typeface="Calibri" pitchFamily="34" charset="-120"/>
              </a:rPr>
              <a:t>Se guarda la venta y el servidor se reinicia antes de avisar a Kafka. Esa venta nunca tendrá comprobante, y nadie se entera.</a:t>
            </a:r>
            <a:endParaRPr lang="en-US" sz="1500" dirty="0"/>
          </a:p>
        </p:txBody>
      </p:sp>
      <p:sp>
        <p:nvSpPr>
          <p:cNvPr id="7" name="Shape 5"/>
          <p:cNvSpPr/>
          <p:nvPr/>
        </p:nvSpPr>
        <p:spPr>
          <a:xfrm>
            <a:off x="5852160" y="2240280"/>
            <a:ext cx="457200" cy="0"/>
          </a:xfrm>
          <a:prstGeom prst="line">
            <a:avLst/>
          </a:prstGeom>
          <a:noFill/>
          <a:ln w="22225">
            <a:solidFill>
              <a:srgbClr val="5B6670"/>
            </a:solidFill>
            <a:prstDash val="solid"/>
            <a:tailEnd type="triangle"/>
          </a:ln>
        </p:spPr>
      </p:sp>
      <p:sp>
        <p:nvSpPr>
          <p:cNvPr id="8" name="Shape 6"/>
          <p:cNvSpPr/>
          <p:nvPr/>
        </p:nvSpPr>
        <p:spPr>
          <a:xfrm>
            <a:off x="6400800" y="1463040"/>
            <a:ext cx="5212080" cy="1554480"/>
          </a:xfrm>
          <a:prstGeom prst="roundRect">
            <a:avLst>
              <a:gd name="adj" fmla="val 4706"/>
            </a:avLst>
          </a:prstGeom>
          <a:solidFill>
            <a:srgbClr val="E3F1EC"/>
          </a:solidFill>
          <a:ln/>
        </p:spPr>
      </p:sp>
      <p:sp>
        <p:nvSpPr>
          <p:cNvPr id="9" name="Text 7"/>
          <p:cNvSpPr txBox="1"/>
          <p:nvPr/>
        </p:nvSpPr>
        <p:spPr>
          <a:xfrm>
            <a:off x="6629400" y="1600200"/>
            <a:ext cx="4754880" cy="274320"/>
          </a:xfrm>
          <a:prstGeom prst="rect">
            <a:avLst/>
          </a:prstGeom>
          <a:noFill/>
          <a:ln/>
        </p:spPr>
        <p:txBody>
          <a:bodyPr wrap="square" lIns="0" tIns="0" rIns="0" bIns="0" rtlCol="0" anchor="t"/>
          <a:lstStyle/>
          <a:p>
            <a:pPr marL="0" indent="0">
              <a:buNone/>
            </a:pPr>
            <a:r>
              <a:rPr lang="en-US" sz="1200" b="1" kern="0" spc="100" dirty="0">
                <a:solidFill>
                  <a:srgbClr val="0F6E57"/>
                </a:solidFill>
                <a:latin typeface="Calibri" pitchFamily="34" charset="0"/>
                <a:ea typeface="Calibri" pitchFamily="34" charset="-122"/>
                <a:cs typeface="Calibri" pitchFamily="34" charset="-120"/>
              </a:rPr>
              <a:t>CÓMO LO EVITAMOS</a:t>
            </a:r>
            <a:endParaRPr lang="en-US" sz="1200" dirty="0"/>
          </a:p>
        </p:txBody>
      </p:sp>
      <p:sp>
        <p:nvSpPr>
          <p:cNvPr id="10" name="Text 8"/>
          <p:cNvSpPr txBox="1"/>
          <p:nvPr/>
        </p:nvSpPr>
        <p:spPr>
          <a:xfrm>
            <a:off x="6629400" y="1920240"/>
            <a:ext cx="4754880" cy="1005840"/>
          </a:xfrm>
          <a:prstGeom prst="rect">
            <a:avLst/>
          </a:prstGeom>
          <a:noFill/>
          <a:ln/>
        </p:spPr>
        <p:txBody>
          <a:bodyPr wrap="square" lIns="0" tIns="0" rIns="0" bIns="0" rtlCol="0" anchor="t"/>
          <a:lstStyle/>
          <a:p>
            <a:pPr marL="0" indent="0">
              <a:buNone/>
            </a:pPr>
            <a:r>
              <a:rPr lang="en-US" sz="1500" dirty="0">
                <a:solidFill>
                  <a:srgbClr val="1F2933"/>
                </a:solidFill>
                <a:latin typeface="Calibri" pitchFamily="34" charset="0"/>
                <a:ea typeface="Calibri" pitchFamily="34" charset="-122"/>
                <a:cs typeface="Calibri" pitchFamily="34" charset="-120"/>
              </a:rPr>
              <a:t>El aviso se escribe en la tabla outbox, en la misma transacción que la venta. O se guardan los dos o ninguno. Un publicador lo manda a Kafka después.</a:t>
            </a:r>
            <a:endParaRPr lang="en-US" sz="1500" dirty="0"/>
          </a:p>
        </p:txBody>
      </p:sp>
      <p:sp>
        <p:nvSpPr>
          <p:cNvPr id="11" name="Shape 9"/>
          <p:cNvSpPr/>
          <p:nvPr/>
        </p:nvSpPr>
        <p:spPr>
          <a:xfrm>
            <a:off x="548640" y="3246120"/>
            <a:ext cx="11064240" cy="1965960"/>
          </a:xfrm>
          <a:prstGeom prst="roundRect">
            <a:avLst>
              <a:gd name="adj" fmla="val 3721"/>
            </a:avLst>
          </a:prstGeom>
          <a:solidFill>
            <a:srgbClr val="EEF1F3"/>
          </a:solidFill>
          <a:ln/>
        </p:spPr>
      </p:sp>
      <p:sp>
        <p:nvSpPr>
          <p:cNvPr id="12" name="Text 10"/>
          <p:cNvSpPr txBox="1"/>
          <p:nvPr/>
        </p:nvSpPr>
        <p:spPr>
          <a:xfrm>
            <a:off x="731520" y="3383280"/>
            <a:ext cx="10698480" cy="1737360"/>
          </a:xfrm>
          <a:prstGeom prst="rect">
            <a:avLst/>
          </a:prstGeom>
          <a:noFill/>
          <a:ln/>
        </p:spPr>
        <p:txBody>
          <a:bodyPr wrap="square" lIns="0" tIns="0" rIns="0" bIns="0" rtlCol="0" anchor="t"/>
          <a:lstStyle/>
          <a:p>
            <a:pPr marL="0" indent="0">
              <a:buNone/>
            </a:pPr>
            <a:r>
              <a:rPr lang="en-US" sz="1350" dirty="0">
                <a:solidFill>
                  <a:srgbClr val="1F2933"/>
                </a:solidFill>
                <a:latin typeface="Courier New" pitchFamily="34" charset="0"/>
                <a:ea typeface="Courier New" pitchFamily="34" charset="-122"/>
                <a:cs typeface="Courier New" pitchFamily="34" charset="-120"/>
              </a:rPr>
              <a:t>@Transactional</a:t>
            </a:r>
            <a:endParaRPr lang="en-US" sz="1350" dirty="0"/>
          </a:p>
          <a:p>
            <a:pPr marL="0" indent="0">
              <a:buNone/>
            </a:pPr>
            <a:r>
              <a:rPr lang="en-US" sz="1350" dirty="0">
                <a:solidFill>
                  <a:srgbClr val="1F2933"/>
                </a:solidFill>
                <a:latin typeface="Courier New" pitchFamily="34" charset="0"/>
                <a:ea typeface="Courier New" pitchFamily="34" charset="-122"/>
                <a:cs typeface="Courier New" pitchFamily="34" charset="-120"/>
              </a:rPr>
              <a:t>public Venta confirmar(UUID ventaId, String tipoComprobante) {</a:t>
            </a:r>
            <a:endParaRPr lang="en-US" sz="1350" dirty="0"/>
          </a:p>
          <a:p>
            <a:pPr marL="0" indent="0">
              <a:buNone/>
            </a:pPr>
            <a:r>
              <a:rPr lang="en-US" sz="1350" dirty="0">
                <a:solidFill>
                  <a:srgbClr val="1F2933"/>
                </a:solidFill>
                <a:latin typeface="Courier New" pitchFamily="34" charset="0"/>
                <a:ea typeface="Courier New" pitchFamily="34" charset="-122"/>
                <a:cs typeface="Courier New" pitchFamily="34" charset="-120"/>
              </a:rPr>
              <a:t>    venta.confirmar();   ventas.guardar(venta);   sagas.abrir(venta.id());</a:t>
            </a:r>
            <a:endParaRPr lang="en-US" sz="1350" dirty="0"/>
          </a:p>
          <a:p>
            <a:pPr marL="0" indent="0">
              <a:buNone/>
            </a:pPr>
            <a:r>
              <a:rPr lang="en-US" sz="1350" dirty="0">
                <a:solidFill>
                  <a:srgbClr val="1F2933"/>
                </a:solidFill>
                <a:latin typeface="Courier New" pitchFamily="34" charset="0"/>
                <a:ea typeface="Courier New" pitchFamily="34" charset="-122"/>
                <a:cs typeface="Courier New" pitchFamily="34" charset="-120"/>
              </a:rPr>
              <a:t>    eventos.publicar(..., Topicos.VENTAS_CONFIRMADAS, ...);   // escribe en outbox, no en Kafka</a:t>
            </a:r>
            <a:endParaRPr lang="en-US" sz="1350" dirty="0"/>
          </a:p>
          <a:p>
            <a:pPr marL="0" indent="0">
              <a:buNone/>
            </a:pPr>
            <a:r>
              <a:rPr lang="en-US" sz="1350" dirty="0">
                <a:solidFill>
                  <a:srgbClr val="1F2933"/>
                </a:solidFill>
                <a:latin typeface="Courier New" pitchFamily="34" charset="0"/>
                <a:ea typeface="Courier New" pitchFamily="34" charset="-122"/>
                <a:cs typeface="Courier New" pitchFamily="34" charset="-120"/>
              </a:rPr>
              <a:t>}</a:t>
            </a:r>
            <a:endParaRPr lang="en-US" sz="1350" dirty="0"/>
          </a:p>
        </p:txBody>
      </p:sp>
      <p:sp>
        <p:nvSpPr>
          <p:cNvPr id="13" name="Shape 11"/>
          <p:cNvSpPr/>
          <p:nvPr/>
        </p:nvSpPr>
        <p:spPr>
          <a:xfrm>
            <a:off x="548640" y="5486400"/>
            <a:ext cx="11064240" cy="868680"/>
          </a:xfrm>
          <a:prstGeom prst="roundRect">
            <a:avLst>
              <a:gd name="adj" fmla="val 8421"/>
            </a:avLst>
          </a:prstGeom>
          <a:solidFill>
            <a:srgbClr val="FBF1D9"/>
          </a:solidFill>
          <a:ln/>
        </p:spPr>
      </p:sp>
      <p:sp>
        <p:nvSpPr>
          <p:cNvPr id="14" name="Text 12"/>
          <p:cNvSpPr txBox="1"/>
          <p:nvPr/>
        </p:nvSpPr>
        <p:spPr>
          <a:xfrm>
            <a:off x="731520" y="5596128"/>
            <a:ext cx="10698480" cy="685800"/>
          </a:xfrm>
          <a:prstGeom prst="rect">
            <a:avLst/>
          </a:prstGeom>
          <a:noFill/>
          <a:ln/>
        </p:spPr>
        <p:txBody>
          <a:bodyPr wrap="square" lIns="0" tIns="0" rIns="0" bIns="0" rtlCol="0" anchor="ctr"/>
          <a:lstStyle/>
          <a:p>
            <a:pPr marL="0" indent="0">
              <a:buNone/>
            </a:pPr>
            <a:r>
              <a:rPr lang="en-US" sz="1400" b="1" dirty="0">
                <a:solidFill>
                  <a:srgbClr val="9A6A0C"/>
                </a:solidFill>
                <a:latin typeface="Calibri" pitchFamily="34" charset="0"/>
                <a:ea typeface="Calibri" pitchFamily="34" charset="-122"/>
                <a:cs typeface="Calibri" pitchFamily="34" charset="-120"/>
              </a:rPr>
              <a:t>Para entenderlo: </a:t>
            </a:r>
            <a:r>
              <a:rPr lang="en-US" sz="1400" dirty="0">
                <a:solidFill>
                  <a:srgbClr val="1F2933"/>
                </a:solidFill>
                <a:latin typeface="Calibri" pitchFamily="34" charset="0"/>
                <a:ea typeface="Calibri" pitchFamily="34" charset="-122"/>
                <a:cs typeface="Calibri" pitchFamily="34" charset="-120"/>
              </a:rPr>
              <a:t>es la bandeja de salida de una oficina: la carta se deja en la bandeja junto con el expediente, y el mensajero pasa cada 200 ms a recogerla.</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972800" cy="274320"/>
          </a:xfrm>
          <a:prstGeom prst="rect">
            <a:avLst/>
          </a:prstGeom>
          <a:noFill/>
          <a:ln/>
        </p:spPr>
        <p:txBody>
          <a:bodyPr wrap="square" lIns="0" tIns="0" rIns="0" bIns="0" rtlCol="0" anchor="t"/>
          <a:lstStyle/>
          <a:p>
            <a:pPr marL="0" indent="0">
              <a:buNone/>
            </a:pPr>
            <a:r>
              <a:rPr lang="en-US" sz="1100" b="1" kern="0" spc="200" dirty="0">
                <a:solidFill>
                  <a:srgbClr val="0F6E57"/>
                </a:solidFill>
                <a:latin typeface="Calibri" pitchFamily="34" charset="0"/>
                <a:ea typeface="Calibri" pitchFamily="34" charset="-122"/>
                <a:cs typeface="Calibri" pitchFamily="34" charset="-120"/>
              </a:rPr>
              <a:t>BLOQUE 2, JAVIER: PROBLEMA 3 DE 3</a:t>
            </a:r>
            <a:endParaRPr lang="en-US" sz="1100" dirty="0"/>
          </a:p>
        </p:txBody>
      </p:sp>
      <p:sp>
        <p:nvSpPr>
          <p:cNvPr id="3" name="Text 1"/>
          <p:cNvSpPr txBox="1"/>
          <p:nvPr/>
        </p:nvSpPr>
        <p:spPr>
          <a:xfrm>
            <a:off x="548640" y="594360"/>
            <a:ext cx="11064240" cy="685800"/>
          </a:xfrm>
          <a:prstGeom prst="rect">
            <a:avLst/>
          </a:prstGeom>
          <a:noFill/>
          <a:ln/>
        </p:spPr>
        <p:txBody>
          <a:bodyPr wrap="square" lIns="0" tIns="0" rIns="0" bIns="0" rtlCol="0" anchor="t"/>
          <a:lstStyle/>
          <a:p>
            <a:pPr marL="0" indent="0">
              <a:buNone/>
            </a:pPr>
            <a:r>
              <a:rPr lang="en-US" sz="3000" b="1" dirty="0">
                <a:solidFill>
                  <a:srgbClr val="1F2933"/>
                </a:solidFill>
                <a:latin typeface="Cambria" pitchFamily="34" charset="0"/>
                <a:ea typeface="Cambria" pitchFamily="34" charset="-122"/>
                <a:cs typeface="Cambria" pitchFamily="34" charset="-120"/>
              </a:rPr>
              <a:t>Kafka entrega el mismo aviso dos veces</a:t>
            </a:r>
            <a:endParaRPr lang="en-US" sz="3000" dirty="0"/>
          </a:p>
        </p:txBody>
      </p:sp>
      <p:sp>
        <p:nvSpPr>
          <p:cNvPr id="4" name="Shape 2"/>
          <p:cNvSpPr/>
          <p:nvPr/>
        </p:nvSpPr>
        <p:spPr>
          <a:xfrm>
            <a:off x="548640" y="1463040"/>
            <a:ext cx="5212080" cy="1554480"/>
          </a:xfrm>
          <a:prstGeom prst="roundRect">
            <a:avLst>
              <a:gd name="adj" fmla="val 4706"/>
            </a:avLst>
          </a:prstGeom>
          <a:solidFill>
            <a:srgbClr val="FBE7DD"/>
          </a:solidFill>
          <a:ln/>
        </p:spPr>
      </p:sp>
      <p:sp>
        <p:nvSpPr>
          <p:cNvPr id="5" name="Text 3"/>
          <p:cNvSpPr txBox="1"/>
          <p:nvPr/>
        </p:nvSpPr>
        <p:spPr>
          <a:xfrm>
            <a:off x="777240" y="1600200"/>
            <a:ext cx="4754880" cy="274320"/>
          </a:xfrm>
          <a:prstGeom prst="rect">
            <a:avLst/>
          </a:prstGeom>
          <a:noFill/>
          <a:ln/>
        </p:spPr>
        <p:txBody>
          <a:bodyPr wrap="square" lIns="0" tIns="0" rIns="0" bIns="0" rtlCol="0" anchor="t"/>
          <a:lstStyle/>
          <a:p>
            <a:pPr marL="0" indent="0">
              <a:buNone/>
            </a:pPr>
            <a:r>
              <a:rPr lang="en-US" sz="1200" b="1" kern="0" spc="100" dirty="0">
                <a:solidFill>
                  <a:srgbClr val="B83A0E"/>
                </a:solidFill>
                <a:latin typeface="Calibri" pitchFamily="34" charset="0"/>
                <a:ea typeface="Calibri" pitchFamily="34" charset="-122"/>
                <a:cs typeface="Calibri" pitchFamily="34" charset="-120"/>
              </a:rPr>
              <a:t>QUÉ PASARÍA</a:t>
            </a:r>
            <a:endParaRPr lang="en-US" sz="1200" dirty="0"/>
          </a:p>
        </p:txBody>
      </p:sp>
      <p:sp>
        <p:nvSpPr>
          <p:cNvPr id="6" name="Text 4"/>
          <p:cNvSpPr txBox="1"/>
          <p:nvPr/>
        </p:nvSpPr>
        <p:spPr>
          <a:xfrm>
            <a:off x="777240" y="1920240"/>
            <a:ext cx="4754880" cy="1005840"/>
          </a:xfrm>
          <a:prstGeom prst="rect">
            <a:avLst/>
          </a:prstGeom>
          <a:noFill/>
          <a:ln/>
        </p:spPr>
        <p:txBody>
          <a:bodyPr wrap="square" lIns="0" tIns="0" rIns="0" bIns="0" rtlCol="0" anchor="t"/>
          <a:lstStyle/>
          <a:p>
            <a:pPr marL="0" indent="0">
              <a:buNone/>
            </a:pPr>
            <a:r>
              <a:rPr lang="en-US" sz="1500" dirty="0">
                <a:solidFill>
                  <a:srgbClr val="1F2933"/>
                </a:solidFill>
                <a:latin typeface="Calibri" pitchFamily="34" charset="0"/>
                <a:ea typeface="Calibri" pitchFamily="34" charset="-122"/>
                <a:cs typeface="Calibri" pitchFamily="34" charset="-120"/>
              </a:rPr>
              <a:t>Facturación recibe la misma venta dos veces y emite dos comprobantes ante SUNAT por un solo cobro.</a:t>
            </a:r>
            <a:endParaRPr lang="en-US" sz="1500" dirty="0"/>
          </a:p>
        </p:txBody>
      </p:sp>
      <p:sp>
        <p:nvSpPr>
          <p:cNvPr id="7" name="Shape 5"/>
          <p:cNvSpPr/>
          <p:nvPr/>
        </p:nvSpPr>
        <p:spPr>
          <a:xfrm>
            <a:off x="5852160" y="2240280"/>
            <a:ext cx="457200" cy="0"/>
          </a:xfrm>
          <a:prstGeom prst="line">
            <a:avLst/>
          </a:prstGeom>
          <a:noFill/>
          <a:ln w="22225">
            <a:solidFill>
              <a:srgbClr val="5B6670"/>
            </a:solidFill>
            <a:prstDash val="solid"/>
            <a:tailEnd type="triangle"/>
          </a:ln>
        </p:spPr>
      </p:sp>
      <p:sp>
        <p:nvSpPr>
          <p:cNvPr id="8" name="Shape 6"/>
          <p:cNvSpPr/>
          <p:nvPr/>
        </p:nvSpPr>
        <p:spPr>
          <a:xfrm>
            <a:off x="6400800" y="1463040"/>
            <a:ext cx="5212080" cy="1554480"/>
          </a:xfrm>
          <a:prstGeom prst="roundRect">
            <a:avLst>
              <a:gd name="adj" fmla="val 4706"/>
            </a:avLst>
          </a:prstGeom>
          <a:solidFill>
            <a:srgbClr val="E3F1EC"/>
          </a:solidFill>
          <a:ln/>
        </p:spPr>
      </p:sp>
      <p:sp>
        <p:nvSpPr>
          <p:cNvPr id="9" name="Text 7"/>
          <p:cNvSpPr txBox="1"/>
          <p:nvPr/>
        </p:nvSpPr>
        <p:spPr>
          <a:xfrm>
            <a:off x="6629400" y="1600200"/>
            <a:ext cx="4754880" cy="274320"/>
          </a:xfrm>
          <a:prstGeom prst="rect">
            <a:avLst/>
          </a:prstGeom>
          <a:noFill/>
          <a:ln/>
        </p:spPr>
        <p:txBody>
          <a:bodyPr wrap="square" lIns="0" tIns="0" rIns="0" bIns="0" rtlCol="0" anchor="t"/>
          <a:lstStyle/>
          <a:p>
            <a:pPr marL="0" indent="0">
              <a:buNone/>
            </a:pPr>
            <a:r>
              <a:rPr lang="en-US" sz="1200" b="1" kern="0" spc="100" dirty="0">
                <a:solidFill>
                  <a:srgbClr val="0F6E57"/>
                </a:solidFill>
                <a:latin typeface="Calibri" pitchFamily="34" charset="0"/>
                <a:ea typeface="Calibri" pitchFamily="34" charset="-122"/>
                <a:cs typeface="Calibri" pitchFamily="34" charset="-120"/>
              </a:rPr>
              <a:t>CÓMO LO EVITAMOS</a:t>
            </a:r>
            <a:endParaRPr lang="en-US" sz="1200" dirty="0"/>
          </a:p>
        </p:txBody>
      </p:sp>
      <p:sp>
        <p:nvSpPr>
          <p:cNvPr id="10" name="Text 8"/>
          <p:cNvSpPr txBox="1"/>
          <p:nvPr/>
        </p:nvSpPr>
        <p:spPr>
          <a:xfrm>
            <a:off x="6629400" y="1920240"/>
            <a:ext cx="4754880" cy="1005840"/>
          </a:xfrm>
          <a:prstGeom prst="rect">
            <a:avLst/>
          </a:prstGeom>
          <a:noFill/>
          <a:ln/>
        </p:spPr>
        <p:txBody>
          <a:bodyPr wrap="square" lIns="0" tIns="0" rIns="0" bIns="0" rtlCol="0" anchor="t"/>
          <a:lstStyle/>
          <a:p>
            <a:pPr marL="0" indent="0">
              <a:buNone/>
            </a:pPr>
            <a:r>
              <a:rPr lang="en-US" sz="1500" dirty="0">
                <a:solidFill>
                  <a:srgbClr val="1F2933"/>
                </a:solidFill>
                <a:latin typeface="Calibri" pitchFamily="34" charset="0"/>
                <a:ea typeface="Calibri" pitchFamily="34" charset="-122"/>
                <a:cs typeface="Calibri" pitchFamily="34" charset="-120"/>
              </a:rPr>
              <a:t>Cada aviso trae un id único. El consumidor lo anota en evento_procesado; si ya estaba anotado, no hace nada.</a:t>
            </a:r>
            <a:endParaRPr lang="en-US" sz="1500" dirty="0"/>
          </a:p>
        </p:txBody>
      </p:sp>
      <p:sp>
        <p:nvSpPr>
          <p:cNvPr id="11" name="Shape 9"/>
          <p:cNvSpPr/>
          <p:nvPr/>
        </p:nvSpPr>
        <p:spPr>
          <a:xfrm>
            <a:off x="548640" y="3246120"/>
            <a:ext cx="11064240" cy="1965960"/>
          </a:xfrm>
          <a:prstGeom prst="roundRect">
            <a:avLst>
              <a:gd name="adj" fmla="val 3721"/>
            </a:avLst>
          </a:prstGeom>
          <a:solidFill>
            <a:srgbClr val="EEF1F3"/>
          </a:solidFill>
          <a:ln/>
        </p:spPr>
      </p:sp>
      <p:sp>
        <p:nvSpPr>
          <p:cNvPr id="12" name="Text 10"/>
          <p:cNvSpPr txBox="1"/>
          <p:nvPr/>
        </p:nvSpPr>
        <p:spPr>
          <a:xfrm>
            <a:off x="731520" y="3383280"/>
            <a:ext cx="10698480" cy="1737360"/>
          </a:xfrm>
          <a:prstGeom prst="rect">
            <a:avLst/>
          </a:prstGeom>
          <a:noFill/>
          <a:ln/>
        </p:spPr>
        <p:txBody>
          <a:bodyPr wrap="square" lIns="0" tIns="0" rIns="0" bIns="0" rtlCol="0" anchor="t"/>
          <a:lstStyle/>
          <a:p>
            <a:pPr marL="0" indent="0">
              <a:buNone/>
            </a:pPr>
            <a:r>
              <a:rPr lang="en-US" sz="1350" dirty="0">
                <a:solidFill>
                  <a:srgbClr val="1F2933"/>
                </a:solidFill>
                <a:latin typeface="Courier New" pitchFamily="34" charset="0"/>
                <a:ea typeface="Courier New" pitchFamily="34" charset="-122"/>
                <a:cs typeface="Courier New" pitchFamily="34" charset="-120"/>
              </a:rPr>
              <a:t>@KafkaListener(topics = Topicos.VENTAS_CONFIRMADAS, groupId = "ms-facturacion")</a:t>
            </a:r>
            <a:endParaRPr lang="en-US" sz="1350" dirty="0"/>
          </a:p>
          <a:p>
            <a:pPr marL="0" indent="0">
              <a:buNone/>
            </a:pPr>
            <a:r>
              <a:rPr lang="en-US" sz="1350" dirty="0">
                <a:solidFill>
                  <a:srgbClr val="1F2933"/>
                </a:solidFill>
                <a:latin typeface="Courier New" pitchFamily="34" charset="0"/>
                <a:ea typeface="Courier New" pitchFamily="34" charset="-122"/>
                <a:cs typeface="Courier New" pitchFamily="34" charset="-120"/>
              </a:rPr>
              <a:t>public void recibir(String mensaje, Acknowledgment ack) {</a:t>
            </a:r>
            <a:endParaRPr lang="en-US" sz="1350" dirty="0"/>
          </a:p>
          <a:p>
            <a:pPr marL="0" indent="0">
              <a:buNone/>
            </a:pPr>
            <a:r>
              <a:rPr lang="en-US" sz="1350" dirty="0">
                <a:solidFill>
                  <a:srgbClr val="1F2933"/>
                </a:solidFill>
                <a:latin typeface="Courier New" pitchFamily="34" charset="0"/>
                <a:ea typeface="Courier New" pitchFamily="34" charset="-122"/>
                <a:cs typeface="Courier New" pitchFamily="34" charset="-120"/>
              </a:rPr>
              <a:t>    idempotencia.unaVez(sobre.eventoId(), "ms-facturacion.venta-confirmada",</a:t>
            </a:r>
            <a:endParaRPr lang="en-US" sz="1350" dirty="0"/>
          </a:p>
          <a:p>
            <a:pPr marL="0" indent="0">
              <a:buNone/>
            </a:pPr>
            <a:r>
              <a:rPr lang="en-US" sz="1350" dirty="0">
                <a:solidFill>
                  <a:srgbClr val="1F2933"/>
                </a:solidFill>
                <a:latin typeface="Courier New" pitchFamily="34" charset="0"/>
                <a:ea typeface="Courier New" pitchFamily="34" charset="-122"/>
                <a:cs typeface="Courier New" pitchFamily="34" charset="-120"/>
              </a:rPr>
              <a:t>            () -&gt; emitir.registrar(sobre.datos()));   // la segunda vez no hace nada</a:t>
            </a:r>
            <a:endParaRPr lang="en-US" sz="1350" dirty="0"/>
          </a:p>
          <a:p>
            <a:pPr marL="0" indent="0">
              <a:buNone/>
            </a:pPr>
            <a:r>
              <a:rPr lang="en-US" sz="1350" dirty="0">
                <a:solidFill>
                  <a:srgbClr val="1F2933"/>
                </a:solidFill>
                <a:latin typeface="Courier New" pitchFamily="34" charset="0"/>
                <a:ea typeface="Courier New" pitchFamily="34" charset="-122"/>
                <a:cs typeface="Courier New" pitchFamily="34" charset="-120"/>
              </a:rPr>
              <a:t>    ack.acknowledge();</a:t>
            </a:r>
            <a:endParaRPr lang="en-US" sz="1350" dirty="0"/>
          </a:p>
          <a:p>
            <a:pPr marL="0" indent="0">
              <a:buNone/>
            </a:pPr>
            <a:r>
              <a:rPr lang="en-US" sz="1350" dirty="0">
                <a:solidFill>
                  <a:srgbClr val="1F2933"/>
                </a:solidFill>
                <a:latin typeface="Courier New" pitchFamily="34" charset="0"/>
                <a:ea typeface="Courier New" pitchFamily="34" charset="-122"/>
                <a:cs typeface="Courier New" pitchFamily="34" charset="-120"/>
              </a:rPr>
              <a:t>}</a:t>
            </a:r>
            <a:endParaRPr lang="en-US" sz="1350" dirty="0"/>
          </a:p>
        </p:txBody>
      </p:sp>
      <p:sp>
        <p:nvSpPr>
          <p:cNvPr id="13" name="Shape 11"/>
          <p:cNvSpPr/>
          <p:nvPr/>
        </p:nvSpPr>
        <p:spPr>
          <a:xfrm>
            <a:off x="548640" y="5486400"/>
            <a:ext cx="11064240" cy="868680"/>
          </a:xfrm>
          <a:prstGeom prst="roundRect">
            <a:avLst>
              <a:gd name="adj" fmla="val 8421"/>
            </a:avLst>
          </a:prstGeom>
          <a:solidFill>
            <a:srgbClr val="FBF1D9"/>
          </a:solidFill>
          <a:ln/>
        </p:spPr>
      </p:sp>
      <p:sp>
        <p:nvSpPr>
          <p:cNvPr id="14" name="Text 12"/>
          <p:cNvSpPr txBox="1"/>
          <p:nvPr/>
        </p:nvSpPr>
        <p:spPr>
          <a:xfrm>
            <a:off x="731520" y="5596128"/>
            <a:ext cx="10698480" cy="685800"/>
          </a:xfrm>
          <a:prstGeom prst="rect">
            <a:avLst/>
          </a:prstGeom>
          <a:noFill/>
          <a:ln/>
        </p:spPr>
        <p:txBody>
          <a:bodyPr wrap="square" lIns="0" tIns="0" rIns="0" bIns="0" rtlCol="0" anchor="ctr"/>
          <a:lstStyle/>
          <a:p>
            <a:pPr marL="0" indent="0">
              <a:buNone/>
            </a:pPr>
            <a:r>
              <a:rPr lang="en-US" sz="1400" b="1" dirty="0">
                <a:solidFill>
                  <a:srgbClr val="9A6A0C"/>
                </a:solidFill>
                <a:latin typeface="Calibri" pitchFamily="34" charset="0"/>
                <a:ea typeface="Calibri" pitchFamily="34" charset="-122"/>
                <a:cs typeface="Calibri" pitchFamily="34" charset="-120"/>
              </a:rPr>
              <a:t>Para entenderlo: </a:t>
            </a:r>
            <a:r>
              <a:rPr lang="en-US" sz="1400" dirty="0">
                <a:solidFill>
                  <a:srgbClr val="1F2933"/>
                </a:solidFill>
                <a:latin typeface="Calibri" pitchFamily="34" charset="0"/>
                <a:ea typeface="Calibri" pitchFamily="34" charset="-122"/>
                <a:cs typeface="Calibri" pitchFamily="34" charset="-120"/>
              </a:rPr>
              <a:t>es el sello de "recibido" en mesa de partes: si llega el mismo documento otra vez, ven el sello y no lo tramitan de nuevo.</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972800" cy="274320"/>
          </a:xfrm>
          <a:prstGeom prst="rect">
            <a:avLst/>
          </a:prstGeom>
          <a:noFill/>
          <a:ln/>
        </p:spPr>
        <p:txBody>
          <a:bodyPr wrap="square" lIns="0" tIns="0" rIns="0" bIns="0" rtlCol="0" anchor="t"/>
          <a:lstStyle/>
          <a:p>
            <a:pPr marL="0" indent="0">
              <a:buNone/>
            </a:pPr>
            <a:r>
              <a:rPr lang="en-US" sz="1100" b="1" kern="0" spc="200" dirty="0">
                <a:solidFill>
                  <a:srgbClr val="0F6E57"/>
                </a:solidFill>
                <a:latin typeface="Calibri" pitchFamily="34" charset="0"/>
                <a:ea typeface="Calibri" pitchFamily="34" charset="-122"/>
                <a:cs typeface="Calibri" pitchFamily="34" charset="-120"/>
              </a:rPr>
              <a:t>BLOQUE 2, JAVIER</a:t>
            </a:r>
            <a:endParaRPr lang="en-US" sz="1100" dirty="0"/>
          </a:p>
        </p:txBody>
      </p:sp>
      <p:sp>
        <p:nvSpPr>
          <p:cNvPr id="3" name="Text 1"/>
          <p:cNvSpPr txBox="1"/>
          <p:nvPr/>
        </p:nvSpPr>
        <p:spPr>
          <a:xfrm>
            <a:off x="548640" y="594360"/>
            <a:ext cx="11064240" cy="685800"/>
          </a:xfrm>
          <a:prstGeom prst="rect">
            <a:avLst/>
          </a:prstGeom>
          <a:noFill/>
          <a:ln/>
        </p:spPr>
        <p:txBody>
          <a:bodyPr wrap="square" lIns="0" tIns="0" rIns="0" bIns="0" rtlCol="0" anchor="t"/>
          <a:lstStyle/>
          <a:p>
            <a:pPr marL="0" indent="0">
              <a:buNone/>
            </a:pPr>
            <a:r>
              <a:rPr lang="en-US" sz="3000" b="1" dirty="0">
                <a:solidFill>
                  <a:srgbClr val="1F2933"/>
                </a:solidFill>
                <a:latin typeface="Cambria" pitchFamily="34" charset="0"/>
                <a:ea typeface="Cambria" pitchFamily="34" charset="-122"/>
                <a:cs typeface="Cambria" pitchFamily="34" charset="-120"/>
              </a:rPr>
              <a:t>La saga: una ficha con casillas por cada venta</a:t>
            </a:r>
            <a:endParaRPr lang="en-US" sz="3000" dirty="0"/>
          </a:p>
        </p:txBody>
      </p:sp>
      <p:sp>
        <p:nvSpPr>
          <p:cNvPr id="4" name="Text 2"/>
          <p:cNvSpPr txBox="1"/>
          <p:nvPr/>
        </p:nvSpPr>
        <p:spPr>
          <a:xfrm>
            <a:off x="548640" y="1463040"/>
            <a:ext cx="3383280" cy="274320"/>
          </a:xfrm>
          <a:prstGeom prst="rect">
            <a:avLst/>
          </a:prstGeom>
          <a:noFill/>
          <a:ln/>
        </p:spPr>
        <p:txBody>
          <a:bodyPr wrap="square" lIns="0" tIns="0" rIns="0" bIns="0" rtlCol="0" anchor="t"/>
          <a:lstStyle/>
          <a:p>
            <a:pPr marL="0" indent="0">
              <a:buNone/>
            </a:pPr>
            <a:r>
              <a:rPr lang="en-US" sz="1200" b="1" kern="0" spc="100" dirty="0">
                <a:solidFill>
                  <a:srgbClr val="5B6670"/>
                </a:solidFill>
                <a:latin typeface="Calibri" pitchFamily="34" charset="0"/>
                <a:ea typeface="Calibri" pitchFamily="34" charset="-122"/>
                <a:cs typeface="Calibri" pitchFamily="34" charset="-120"/>
              </a:rPr>
              <a:t>AL COBRAR</a:t>
            </a:r>
            <a:endParaRPr lang="en-US" sz="1200" dirty="0"/>
          </a:p>
        </p:txBody>
      </p:sp>
      <p:sp>
        <p:nvSpPr>
          <p:cNvPr id="5" name="Shape 3"/>
          <p:cNvSpPr/>
          <p:nvPr/>
        </p:nvSpPr>
        <p:spPr>
          <a:xfrm>
            <a:off x="548640" y="1783080"/>
            <a:ext cx="3383280" cy="2240280"/>
          </a:xfrm>
          <a:prstGeom prst="roundRect">
            <a:avLst>
              <a:gd name="adj" fmla="val 3265"/>
            </a:avLst>
          </a:prstGeom>
          <a:solidFill>
            <a:srgbClr val="FBF1D9"/>
          </a:solidFill>
          <a:ln w="15875">
            <a:solidFill>
              <a:srgbClr val="9A6A0C"/>
            </a:solidFill>
            <a:prstDash val="solid"/>
          </a:ln>
        </p:spPr>
      </p:sp>
      <p:sp>
        <p:nvSpPr>
          <p:cNvPr id="6" name="Text 4"/>
          <p:cNvSpPr txBox="1"/>
          <p:nvPr/>
        </p:nvSpPr>
        <p:spPr>
          <a:xfrm>
            <a:off x="777240" y="1920240"/>
            <a:ext cx="2926080" cy="274320"/>
          </a:xfrm>
          <a:prstGeom prst="rect">
            <a:avLst/>
          </a:prstGeom>
          <a:noFill/>
          <a:ln/>
        </p:spPr>
        <p:txBody>
          <a:bodyPr wrap="square" lIns="0" tIns="0" rIns="0" bIns="0" rtlCol="0" anchor="t"/>
          <a:lstStyle/>
          <a:p>
            <a:pPr marL="0" indent="0">
              <a:buNone/>
            </a:pPr>
            <a:r>
              <a:rPr lang="en-US" sz="1200" dirty="0">
                <a:solidFill>
                  <a:srgbClr val="5B6670"/>
                </a:solidFill>
                <a:latin typeface="Courier New" pitchFamily="34" charset="0"/>
                <a:ea typeface="Courier New" pitchFamily="34" charset="-122"/>
                <a:cs typeface="Courier New" pitchFamily="34" charset="-120"/>
              </a:rPr>
              <a:t>venta 0042</a:t>
            </a:r>
            <a:endParaRPr lang="en-US" sz="1200" dirty="0"/>
          </a:p>
        </p:txBody>
      </p:sp>
      <p:sp>
        <p:nvSpPr>
          <p:cNvPr id="7" name="Shape 5"/>
          <p:cNvSpPr/>
          <p:nvPr/>
        </p:nvSpPr>
        <p:spPr>
          <a:xfrm>
            <a:off x="822960" y="2377440"/>
            <a:ext cx="292608" cy="292608"/>
          </a:xfrm>
          <a:prstGeom prst="rect">
            <a:avLst/>
          </a:prstGeom>
          <a:solidFill>
            <a:srgbClr val="FFFFFF"/>
          </a:solidFill>
          <a:ln w="15875">
            <a:solidFill>
              <a:srgbClr val="5B6670"/>
            </a:solidFill>
            <a:prstDash val="solid"/>
          </a:ln>
        </p:spPr>
      </p:sp>
      <p:sp>
        <p:nvSpPr>
          <p:cNvPr id="8" name="Text 6"/>
          <p:cNvSpPr txBox="1"/>
          <p:nvPr/>
        </p:nvSpPr>
        <p:spPr>
          <a:xfrm>
            <a:off x="1280160" y="2395728"/>
            <a:ext cx="2468880" cy="274320"/>
          </a:xfrm>
          <a:prstGeom prst="rect">
            <a:avLst/>
          </a:prstGeom>
          <a:noFill/>
          <a:ln/>
        </p:spPr>
        <p:txBody>
          <a:bodyPr wrap="square" lIns="0" tIns="0" rIns="0" bIns="0" rtlCol="0" anchor="t"/>
          <a:lstStyle/>
          <a:p>
            <a:pPr marL="0" indent="0">
              <a:buNone/>
            </a:pPr>
            <a:r>
              <a:rPr lang="en-US" sz="1400" dirty="0">
                <a:solidFill>
                  <a:srgbClr val="1F2933"/>
                </a:solidFill>
                <a:latin typeface="Calibri" pitchFamily="34" charset="0"/>
                <a:ea typeface="Calibri" pitchFamily="34" charset="-122"/>
                <a:cs typeface="Calibri" pitchFamily="34" charset="-120"/>
              </a:rPr>
              <a:t>stock listo</a:t>
            </a:r>
            <a:endParaRPr lang="en-US" sz="1400" dirty="0"/>
          </a:p>
        </p:txBody>
      </p:sp>
      <p:sp>
        <p:nvSpPr>
          <p:cNvPr id="9" name="Shape 7"/>
          <p:cNvSpPr/>
          <p:nvPr/>
        </p:nvSpPr>
        <p:spPr>
          <a:xfrm>
            <a:off x="822960" y="2880360"/>
            <a:ext cx="292608" cy="292608"/>
          </a:xfrm>
          <a:prstGeom prst="rect">
            <a:avLst/>
          </a:prstGeom>
          <a:solidFill>
            <a:srgbClr val="FFFFFF"/>
          </a:solidFill>
          <a:ln w="15875">
            <a:solidFill>
              <a:srgbClr val="5B6670"/>
            </a:solidFill>
            <a:prstDash val="solid"/>
          </a:ln>
        </p:spPr>
      </p:sp>
      <p:sp>
        <p:nvSpPr>
          <p:cNvPr id="10" name="Text 8"/>
          <p:cNvSpPr txBox="1"/>
          <p:nvPr/>
        </p:nvSpPr>
        <p:spPr>
          <a:xfrm>
            <a:off x="1280160" y="2898648"/>
            <a:ext cx="2468880" cy="274320"/>
          </a:xfrm>
          <a:prstGeom prst="rect">
            <a:avLst/>
          </a:prstGeom>
          <a:noFill/>
          <a:ln/>
        </p:spPr>
        <p:txBody>
          <a:bodyPr wrap="square" lIns="0" tIns="0" rIns="0" bIns="0" rtlCol="0" anchor="t"/>
          <a:lstStyle/>
          <a:p>
            <a:pPr marL="0" indent="0">
              <a:buNone/>
            </a:pPr>
            <a:r>
              <a:rPr lang="en-US" sz="1400" dirty="0">
                <a:solidFill>
                  <a:srgbClr val="1F2933"/>
                </a:solidFill>
                <a:latin typeface="Calibri" pitchFamily="34" charset="0"/>
                <a:ea typeface="Calibri" pitchFamily="34" charset="-122"/>
                <a:cs typeface="Calibri" pitchFamily="34" charset="-120"/>
              </a:rPr>
              <a:t>comprobante emitido</a:t>
            </a:r>
            <a:endParaRPr lang="en-US" sz="1400" dirty="0"/>
          </a:p>
        </p:txBody>
      </p:sp>
      <p:sp>
        <p:nvSpPr>
          <p:cNvPr id="11" name="Text 9"/>
          <p:cNvSpPr txBox="1"/>
          <p:nvPr/>
        </p:nvSpPr>
        <p:spPr>
          <a:xfrm>
            <a:off x="777240" y="3474720"/>
            <a:ext cx="2926080" cy="365760"/>
          </a:xfrm>
          <a:prstGeom prst="rect">
            <a:avLst/>
          </a:prstGeom>
          <a:noFill/>
          <a:ln/>
        </p:spPr>
        <p:txBody>
          <a:bodyPr wrap="square" lIns="0" tIns="0" rIns="0" bIns="0" rtlCol="0" anchor="t"/>
          <a:lstStyle/>
          <a:p>
            <a:pPr marL="0" indent="0">
              <a:buNone/>
            </a:pPr>
            <a:r>
              <a:rPr lang="en-US" sz="1700" b="1" dirty="0">
                <a:solidFill>
                  <a:srgbClr val="9A6A0C"/>
                </a:solidFill>
                <a:latin typeface="Courier New" pitchFamily="34" charset="0"/>
                <a:ea typeface="Courier New" pitchFamily="34" charset="-122"/>
                <a:cs typeface="Courier New" pitchFamily="34" charset="-120"/>
              </a:rPr>
              <a:t>EN_CURSO</a:t>
            </a:r>
            <a:endParaRPr lang="en-US" sz="1700" dirty="0"/>
          </a:p>
        </p:txBody>
      </p:sp>
      <p:sp>
        <p:nvSpPr>
          <p:cNvPr id="12" name="Shape 10"/>
          <p:cNvSpPr/>
          <p:nvPr/>
        </p:nvSpPr>
        <p:spPr>
          <a:xfrm>
            <a:off x="3977640" y="2880360"/>
            <a:ext cx="320040" cy="0"/>
          </a:xfrm>
          <a:prstGeom prst="line">
            <a:avLst/>
          </a:prstGeom>
          <a:noFill/>
          <a:ln w="22225">
            <a:solidFill>
              <a:srgbClr val="5B6670"/>
            </a:solidFill>
            <a:prstDash val="solid"/>
            <a:tailEnd type="triangle"/>
          </a:ln>
        </p:spPr>
      </p:sp>
      <p:sp>
        <p:nvSpPr>
          <p:cNvPr id="13" name="Text 11"/>
          <p:cNvSpPr txBox="1"/>
          <p:nvPr/>
        </p:nvSpPr>
        <p:spPr>
          <a:xfrm>
            <a:off x="4343400" y="1463040"/>
            <a:ext cx="3383280" cy="274320"/>
          </a:xfrm>
          <a:prstGeom prst="rect">
            <a:avLst/>
          </a:prstGeom>
          <a:noFill/>
          <a:ln/>
        </p:spPr>
        <p:txBody>
          <a:bodyPr wrap="square" lIns="0" tIns="0" rIns="0" bIns="0" rtlCol="0" anchor="t"/>
          <a:lstStyle/>
          <a:p>
            <a:pPr marL="0" indent="0">
              <a:buNone/>
            </a:pPr>
            <a:r>
              <a:rPr lang="en-US" sz="1200" b="1" kern="0" spc="100" dirty="0">
                <a:solidFill>
                  <a:srgbClr val="5B6670"/>
                </a:solidFill>
                <a:latin typeface="Calibri" pitchFamily="34" charset="0"/>
                <a:ea typeface="Calibri" pitchFamily="34" charset="-122"/>
                <a:cs typeface="Calibri" pitchFamily="34" charset="-120"/>
              </a:rPr>
              <a:t>INVENTARIO AVISA</a:t>
            </a:r>
            <a:endParaRPr lang="en-US" sz="1200" dirty="0"/>
          </a:p>
        </p:txBody>
      </p:sp>
      <p:sp>
        <p:nvSpPr>
          <p:cNvPr id="14" name="Shape 12"/>
          <p:cNvSpPr/>
          <p:nvPr/>
        </p:nvSpPr>
        <p:spPr>
          <a:xfrm>
            <a:off x="4343400" y="1783080"/>
            <a:ext cx="3383280" cy="2240280"/>
          </a:xfrm>
          <a:prstGeom prst="roundRect">
            <a:avLst>
              <a:gd name="adj" fmla="val 3265"/>
            </a:avLst>
          </a:prstGeom>
          <a:solidFill>
            <a:srgbClr val="FBF1D9"/>
          </a:solidFill>
          <a:ln w="15875">
            <a:solidFill>
              <a:srgbClr val="9A6A0C"/>
            </a:solidFill>
            <a:prstDash val="solid"/>
          </a:ln>
        </p:spPr>
      </p:sp>
      <p:sp>
        <p:nvSpPr>
          <p:cNvPr id="15" name="Text 13"/>
          <p:cNvSpPr txBox="1"/>
          <p:nvPr/>
        </p:nvSpPr>
        <p:spPr>
          <a:xfrm>
            <a:off x="4572000" y="1920240"/>
            <a:ext cx="2926080" cy="274320"/>
          </a:xfrm>
          <a:prstGeom prst="rect">
            <a:avLst/>
          </a:prstGeom>
          <a:noFill/>
          <a:ln/>
        </p:spPr>
        <p:txBody>
          <a:bodyPr wrap="square" lIns="0" tIns="0" rIns="0" bIns="0" rtlCol="0" anchor="t"/>
          <a:lstStyle/>
          <a:p>
            <a:pPr marL="0" indent="0">
              <a:buNone/>
            </a:pPr>
            <a:r>
              <a:rPr lang="en-US" sz="1200" dirty="0">
                <a:solidFill>
                  <a:srgbClr val="5B6670"/>
                </a:solidFill>
                <a:latin typeface="Courier New" pitchFamily="34" charset="0"/>
                <a:ea typeface="Courier New" pitchFamily="34" charset="-122"/>
                <a:cs typeface="Courier New" pitchFamily="34" charset="-120"/>
              </a:rPr>
              <a:t>venta 0042</a:t>
            </a:r>
            <a:endParaRPr lang="en-US" sz="1200" dirty="0"/>
          </a:p>
        </p:txBody>
      </p:sp>
      <p:sp>
        <p:nvSpPr>
          <p:cNvPr id="16" name="Shape 14"/>
          <p:cNvSpPr/>
          <p:nvPr/>
        </p:nvSpPr>
        <p:spPr>
          <a:xfrm>
            <a:off x="4617720" y="2377440"/>
            <a:ext cx="292608" cy="292608"/>
          </a:xfrm>
          <a:prstGeom prst="rect">
            <a:avLst/>
          </a:prstGeom>
          <a:solidFill>
            <a:srgbClr val="FFFFFF"/>
          </a:solidFill>
          <a:ln w="15875">
            <a:solidFill>
              <a:srgbClr val="5B6670"/>
            </a:solidFill>
            <a:prstDash val="solid"/>
          </a:ln>
        </p:spPr>
      </p:sp>
      <p:sp>
        <p:nvSpPr>
          <p:cNvPr id="17" name="Text 15"/>
          <p:cNvSpPr txBox="1"/>
          <p:nvPr/>
        </p:nvSpPr>
        <p:spPr>
          <a:xfrm>
            <a:off x="4617720" y="2377440"/>
            <a:ext cx="292608" cy="292608"/>
          </a:xfrm>
          <a:prstGeom prst="rect">
            <a:avLst/>
          </a:prstGeom>
          <a:noFill/>
          <a:ln/>
        </p:spPr>
        <p:txBody>
          <a:bodyPr wrap="square" lIns="0" tIns="0" rIns="0" bIns="0" rtlCol="0" anchor="ctr"/>
          <a:lstStyle/>
          <a:p>
            <a:pPr marL="0" indent="0" algn="ctr">
              <a:buNone/>
            </a:pPr>
            <a:r>
              <a:rPr lang="en-US" sz="1500" b="1" dirty="0">
                <a:solidFill>
                  <a:srgbClr val="0F6E57"/>
                </a:solidFill>
                <a:latin typeface="Calibri" pitchFamily="34" charset="0"/>
                <a:ea typeface="Calibri" pitchFamily="34" charset="-122"/>
                <a:cs typeface="Calibri" pitchFamily="34" charset="-120"/>
              </a:rPr>
              <a:t>X</a:t>
            </a:r>
            <a:endParaRPr lang="en-US" sz="1500" dirty="0"/>
          </a:p>
        </p:txBody>
      </p:sp>
      <p:sp>
        <p:nvSpPr>
          <p:cNvPr id="18" name="Text 16"/>
          <p:cNvSpPr txBox="1"/>
          <p:nvPr/>
        </p:nvSpPr>
        <p:spPr>
          <a:xfrm>
            <a:off x="5074920" y="2395728"/>
            <a:ext cx="2468880" cy="274320"/>
          </a:xfrm>
          <a:prstGeom prst="rect">
            <a:avLst/>
          </a:prstGeom>
          <a:noFill/>
          <a:ln/>
        </p:spPr>
        <p:txBody>
          <a:bodyPr wrap="square" lIns="0" tIns="0" rIns="0" bIns="0" rtlCol="0" anchor="t"/>
          <a:lstStyle/>
          <a:p>
            <a:pPr marL="0" indent="0">
              <a:buNone/>
            </a:pPr>
            <a:r>
              <a:rPr lang="en-US" sz="1400" dirty="0">
                <a:solidFill>
                  <a:srgbClr val="1F2933"/>
                </a:solidFill>
                <a:latin typeface="Calibri" pitchFamily="34" charset="0"/>
                <a:ea typeface="Calibri" pitchFamily="34" charset="-122"/>
                <a:cs typeface="Calibri" pitchFamily="34" charset="-120"/>
              </a:rPr>
              <a:t>stock listo</a:t>
            </a:r>
            <a:endParaRPr lang="en-US" sz="1400" dirty="0"/>
          </a:p>
        </p:txBody>
      </p:sp>
      <p:sp>
        <p:nvSpPr>
          <p:cNvPr id="19" name="Shape 17"/>
          <p:cNvSpPr/>
          <p:nvPr/>
        </p:nvSpPr>
        <p:spPr>
          <a:xfrm>
            <a:off x="4617720" y="2880360"/>
            <a:ext cx="292608" cy="292608"/>
          </a:xfrm>
          <a:prstGeom prst="rect">
            <a:avLst/>
          </a:prstGeom>
          <a:solidFill>
            <a:srgbClr val="FFFFFF"/>
          </a:solidFill>
          <a:ln w="15875">
            <a:solidFill>
              <a:srgbClr val="5B6670"/>
            </a:solidFill>
            <a:prstDash val="solid"/>
          </a:ln>
        </p:spPr>
      </p:sp>
      <p:sp>
        <p:nvSpPr>
          <p:cNvPr id="20" name="Text 18"/>
          <p:cNvSpPr txBox="1"/>
          <p:nvPr/>
        </p:nvSpPr>
        <p:spPr>
          <a:xfrm>
            <a:off x="5074920" y="2898648"/>
            <a:ext cx="2468880" cy="274320"/>
          </a:xfrm>
          <a:prstGeom prst="rect">
            <a:avLst/>
          </a:prstGeom>
          <a:noFill/>
          <a:ln/>
        </p:spPr>
        <p:txBody>
          <a:bodyPr wrap="square" lIns="0" tIns="0" rIns="0" bIns="0" rtlCol="0" anchor="t"/>
          <a:lstStyle/>
          <a:p>
            <a:pPr marL="0" indent="0">
              <a:buNone/>
            </a:pPr>
            <a:r>
              <a:rPr lang="en-US" sz="1400" dirty="0">
                <a:solidFill>
                  <a:srgbClr val="1F2933"/>
                </a:solidFill>
                <a:latin typeface="Calibri" pitchFamily="34" charset="0"/>
                <a:ea typeface="Calibri" pitchFamily="34" charset="-122"/>
                <a:cs typeface="Calibri" pitchFamily="34" charset="-120"/>
              </a:rPr>
              <a:t>comprobante emitido</a:t>
            </a:r>
            <a:endParaRPr lang="en-US" sz="1400" dirty="0"/>
          </a:p>
        </p:txBody>
      </p:sp>
      <p:sp>
        <p:nvSpPr>
          <p:cNvPr id="21" name="Text 19"/>
          <p:cNvSpPr txBox="1"/>
          <p:nvPr/>
        </p:nvSpPr>
        <p:spPr>
          <a:xfrm>
            <a:off x="4572000" y="3474720"/>
            <a:ext cx="2926080" cy="365760"/>
          </a:xfrm>
          <a:prstGeom prst="rect">
            <a:avLst/>
          </a:prstGeom>
          <a:noFill/>
          <a:ln/>
        </p:spPr>
        <p:txBody>
          <a:bodyPr wrap="square" lIns="0" tIns="0" rIns="0" bIns="0" rtlCol="0" anchor="t"/>
          <a:lstStyle/>
          <a:p>
            <a:pPr marL="0" indent="0">
              <a:buNone/>
            </a:pPr>
            <a:r>
              <a:rPr lang="en-US" sz="1700" b="1" dirty="0">
                <a:solidFill>
                  <a:srgbClr val="9A6A0C"/>
                </a:solidFill>
                <a:latin typeface="Courier New" pitchFamily="34" charset="0"/>
                <a:ea typeface="Courier New" pitchFamily="34" charset="-122"/>
                <a:cs typeface="Courier New" pitchFamily="34" charset="-120"/>
              </a:rPr>
              <a:t>EN_CURSO</a:t>
            </a:r>
            <a:endParaRPr lang="en-US" sz="1700" dirty="0"/>
          </a:p>
        </p:txBody>
      </p:sp>
      <p:sp>
        <p:nvSpPr>
          <p:cNvPr id="22" name="Shape 20"/>
          <p:cNvSpPr/>
          <p:nvPr/>
        </p:nvSpPr>
        <p:spPr>
          <a:xfrm>
            <a:off x="7772400" y="2880360"/>
            <a:ext cx="320040" cy="0"/>
          </a:xfrm>
          <a:prstGeom prst="line">
            <a:avLst/>
          </a:prstGeom>
          <a:noFill/>
          <a:ln w="22225">
            <a:solidFill>
              <a:srgbClr val="5B6670"/>
            </a:solidFill>
            <a:prstDash val="solid"/>
            <a:tailEnd type="triangle"/>
          </a:ln>
        </p:spPr>
      </p:sp>
      <p:sp>
        <p:nvSpPr>
          <p:cNvPr id="23" name="Text 21"/>
          <p:cNvSpPr txBox="1"/>
          <p:nvPr/>
        </p:nvSpPr>
        <p:spPr>
          <a:xfrm>
            <a:off x="8138160" y="1463040"/>
            <a:ext cx="3383280" cy="274320"/>
          </a:xfrm>
          <a:prstGeom prst="rect">
            <a:avLst/>
          </a:prstGeom>
          <a:noFill/>
          <a:ln/>
        </p:spPr>
        <p:txBody>
          <a:bodyPr wrap="square" lIns="0" tIns="0" rIns="0" bIns="0" rtlCol="0" anchor="t"/>
          <a:lstStyle/>
          <a:p>
            <a:pPr marL="0" indent="0">
              <a:buNone/>
            </a:pPr>
            <a:r>
              <a:rPr lang="en-US" sz="1200" b="1" kern="0" spc="100" dirty="0">
                <a:solidFill>
                  <a:srgbClr val="5B6670"/>
                </a:solidFill>
                <a:latin typeface="Calibri" pitchFamily="34" charset="0"/>
                <a:ea typeface="Calibri" pitchFamily="34" charset="-122"/>
                <a:cs typeface="Calibri" pitchFamily="34" charset="-120"/>
              </a:rPr>
              <a:t>FACTURACIÓN AVISA</a:t>
            </a:r>
            <a:endParaRPr lang="en-US" sz="1200" dirty="0"/>
          </a:p>
        </p:txBody>
      </p:sp>
      <p:sp>
        <p:nvSpPr>
          <p:cNvPr id="24" name="Shape 22"/>
          <p:cNvSpPr/>
          <p:nvPr/>
        </p:nvSpPr>
        <p:spPr>
          <a:xfrm>
            <a:off x="8138160" y="1783080"/>
            <a:ext cx="3383280" cy="2240280"/>
          </a:xfrm>
          <a:prstGeom prst="roundRect">
            <a:avLst>
              <a:gd name="adj" fmla="val 3265"/>
            </a:avLst>
          </a:prstGeom>
          <a:solidFill>
            <a:srgbClr val="E3F1EC"/>
          </a:solidFill>
          <a:ln w="15875">
            <a:solidFill>
              <a:srgbClr val="0F6E57"/>
            </a:solidFill>
            <a:prstDash val="solid"/>
          </a:ln>
        </p:spPr>
      </p:sp>
      <p:sp>
        <p:nvSpPr>
          <p:cNvPr id="25" name="Text 23"/>
          <p:cNvSpPr txBox="1"/>
          <p:nvPr/>
        </p:nvSpPr>
        <p:spPr>
          <a:xfrm>
            <a:off x="8366760" y="1920240"/>
            <a:ext cx="2926080" cy="274320"/>
          </a:xfrm>
          <a:prstGeom prst="rect">
            <a:avLst/>
          </a:prstGeom>
          <a:noFill/>
          <a:ln/>
        </p:spPr>
        <p:txBody>
          <a:bodyPr wrap="square" lIns="0" tIns="0" rIns="0" bIns="0" rtlCol="0" anchor="t"/>
          <a:lstStyle/>
          <a:p>
            <a:pPr marL="0" indent="0">
              <a:buNone/>
            </a:pPr>
            <a:r>
              <a:rPr lang="en-US" sz="1200" dirty="0">
                <a:solidFill>
                  <a:srgbClr val="5B6670"/>
                </a:solidFill>
                <a:latin typeface="Courier New" pitchFamily="34" charset="0"/>
                <a:ea typeface="Courier New" pitchFamily="34" charset="-122"/>
                <a:cs typeface="Courier New" pitchFamily="34" charset="-120"/>
              </a:rPr>
              <a:t>venta 0042</a:t>
            </a:r>
            <a:endParaRPr lang="en-US" sz="1200" dirty="0"/>
          </a:p>
        </p:txBody>
      </p:sp>
      <p:sp>
        <p:nvSpPr>
          <p:cNvPr id="26" name="Shape 24"/>
          <p:cNvSpPr/>
          <p:nvPr/>
        </p:nvSpPr>
        <p:spPr>
          <a:xfrm>
            <a:off x="8412480" y="2377440"/>
            <a:ext cx="292608" cy="292608"/>
          </a:xfrm>
          <a:prstGeom prst="rect">
            <a:avLst/>
          </a:prstGeom>
          <a:solidFill>
            <a:srgbClr val="FFFFFF"/>
          </a:solidFill>
          <a:ln w="15875">
            <a:solidFill>
              <a:srgbClr val="5B6670"/>
            </a:solidFill>
            <a:prstDash val="solid"/>
          </a:ln>
        </p:spPr>
      </p:sp>
      <p:sp>
        <p:nvSpPr>
          <p:cNvPr id="27" name="Text 25"/>
          <p:cNvSpPr txBox="1"/>
          <p:nvPr/>
        </p:nvSpPr>
        <p:spPr>
          <a:xfrm>
            <a:off x="8412480" y="2377440"/>
            <a:ext cx="292608" cy="292608"/>
          </a:xfrm>
          <a:prstGeom prst="rect">
            <a:avLst/>
          </a:prstGeom>
          <a:noFill/>
          <a:ln/>
        </p:spPr>
        <p:txBody>
          <a:bodyPr wrap="square" lIns="0" tIns="0" rIns="0" bIns="0" rtlCol="0" anchor="ctr"/>
          <a:lstStyle/>
          <a:p>
            <a:pPr marL="0" indent="0" algn="ctr">
              <a:buNone/>
            </a:pPr>
            <a:r>
              <a:rPr lang="en-US" sz="1500" b="1" dirty="0">
                <a:solidFill>
                  <a:srgbClr val="0F6E57"/>
                </a:solidFill>
                <a:latin typeface="Calibri" pitchFamily="34" charset="0"/>
                <a:ea typeface="Calibri" pitchFamily="34" charset="-122"/>
                <a:cs typeface="Calibri" pitchFamily="34" charset="-120"/>
              </a:rPr>
              <a:t>X</a:t>
            </a:r>
            <a:endParaRPr lang="en-US" sz="1500" dirty="0"/>
          </a:p>
        </p:txBody>
      </p:sp>
      <p:sp>
        <p:nvSpPr>
          <p:cNvPr id="28" name="Text 26"/>
          <p:cNvSpPr txBox="1"/>
          <p:nvPr/>
        </p:nvSpPr>
        <p:spPr>
          <a:xfrm>
            <a:off x="8869680" y="2395728"/>
            <a:ext cx="2468880" cy="274320"/>
          </a:xfrm>
          <a:prstGeom prst="rect">
            <a:avLst/>
          </a:prstGeom>
          <a:noFill/>
          <a:ln/>
        </p:spPr>
        <p:txBody>
          <a:bodyPr wrap="square" lIns="0" tIns="0" rIns="0" bIns="0" rtlCol="0" anchor="t"/>
          <a:lstStyle/>
          <a:p>
            <a:pPr marL="0" indent="0">
              <a:buNone/>
            </a:pPr>
            <a:r>
              <a:rPr lang="en-US" sz="1400" dirty="0">
                <a:solidFill>
                  <a:srgbClr val="1F2933"/>
                </a:solidFill>
                <a:latin typeface="Calibri" pitchFamily="34" charset="0"/>
                <a:ea typeface="Calibri" pitchFamily="34" charset="-122"/>
                <a:cs typeface="Calibri" pitchFamily="34" charset="-120"/>
              </a:rPr>
              <a:t>stock listo</a:t>
            </a:r>
            <a:endParaRPr lang="en-US" sz="1400" dirty="0"/>
          </a:p>
        </p:txBody>
      </p:sp>
      <p:sp>
        <p:nvSpPr>
          <p:cNvPr id="29" name="Shape 27"/>
          <p:cNvSpPr/>
          <p:nvPr/>
        </p:nvSpPr>
        <p:spPr>
          <a:xfrm>
            <a:off x="8412480" y="2880360"/>
            <a:ext cx="292608" cy="292608"/>
          </a:xfrm>
          <a:prstGeom prst="rect">
            <a:avLst/>
          </a:prstGeom>
          <a:solidFill>
            <a:srgbClr val="FFFFFF"/>
          </a:solidFill>
          <a:ln w="15875">
            <a:solidFill>
              <a:srgbClr val="5B6670"/>
            </a:solidFill>
            <a:prstDash val="solid"/>
          </a:ln>
        </p:spPr>
      </p:sp>
      <p:sp>
        <p:nvSpPr>
          <p:cNvPr id="30" name="Text 28"/>
          <p:cNvSpPr txBox="1"/>
          <p:nvPr/>
        </p:nvSpPr>
        <p:spPr>
          <a:xfrm>
            <a:off x="8412480" y="2880360"/>
            <a:ext cx="292608" cy="292608"/>
          </a:xfrm>
          <a:prstGeom prst="rect">
            <a:avLst/>
          </a:prstGeom>
          <a:noFill/>
          <a:ln/>
        </p:spPr>
        <p:txBody>
          <a:bodyPr wrap="square" lIns="0" tIns="0" rIns="0" bIns="0" rtlCol="0" anchor="ctr"/>
          <a:lstStyle/>
          <a:p>
            <a:pPr marL="0" indent="0" algn="ctr">
              <a:buNone/>
            </a:pPr>
            <a:r>
              <a:rPr lang="en-US" sz="1500" b="1" dirty="0">
                <a:solidFill>
                  <a:srgbClr val="0F6E57"/>
                </a:solidFill>
                <a:latin typeface="Calibri" pitchFamily="34" charset="0"/>
                <a:ea typeface="Calibri" pitchFamily="34" charset="-122"/>
                <a:cs typeface="Calibri" pitchFamily="34" charset="-120"/>
              </a:rPr>
              <a:t>X</a:t>
            </a:r>
            <a:endParaRPr lang="en-US" sz="1500" dirty="0"/>
          </a:p>
        </p:txBody>
      </p:sp>
      <p:sp>
        <p:nvSpPr>
          <p:cNvPr id="31" name="Text 29"/>
          <p:cNvSpPr txBox="1"/>
          <p:nvPr/>
        </p:nvSpPr>
        <p:spPr>
          <a:xfrm>
            <a:off x="8869680" y="2898648"/>
            <a:ext cx="2468880" cy="274320"/>
          </a:xfrm>
          <a:prstGeom prst="rect">
            <a:avLst/>
          </a:prstGeom>
          <a:noFill/>
          <a:ln/>
        </p:spPr>
        <p:txBody>
          <a:bodyPr wrap="square" lIns="0" tIns="0" rIns="0" bIns="0" rtlCol="0" anchor="t"/>
          <a:lstStyle/>
          <a:p>
            <a:pPr marL="0" indent="0">
              <a:buNone/>
            </a:pPr>
            <a:r>
              <a:rPr lang="en-US" sz="1400" dirty="0">
                <a:solidFill>
                  <a:srgbClr val="1F2933"/>
                </a:solidFill>
                <a:latin typeface="Calibri" pitchFamily="34" charset="0"/>
                <a:ea typeface="Calibri" pitchFamily="34" charset="-122"/>
                <a:cs typeface="Calibri" pitchFamily="34" charset="-120"/>
              </a:rPr>
              <a:t>comprobante emitido</a:t>
            </a:r>
            <a:endParaRPr lang="en-US" sz="1400" dirty="0"/>
          </a:p>
        </p:txBody>
      </p:sp>
      <p:sp>
        <p:nvSpPr>
          <p:cNvPr id="32" name="Text 30"/>
          <p:cNvSpPr txBox="1"/>
          <p:nvPr/>
        </p:nvSpPr>
        <p:spPr>
          <a:xfrm>
            <a:off x="8366760" y="3474720"/>
            <a:ext cx="2926080" cy="365760"/>
          </a:xfrm>
          <a:prstGeom prst="rect">
            <a:avLst/>
          </a:prstGeom>
          <a:noFill/>
          <a:ln/>
        </p:spPr>
        <p:txBody>
          <a:bodyPr wrap="square" lIns="0" tIns="0" rIns="0" bIns="0" rtlCol="0" anchor="t"/>
          <a:lstStyle/>
          <a:p>
            <a:pPr marL="0" indent="0">
              <a:buNone/>
            </a:pPr>
            <a:r>
              <a:rPr lang="en-US" sz="1700" b="1" dirty="0">
                <a:solidFill>
                  <a:srgbClr val="0F6E57"/>
                </a:solidFill>
                <a:latin typeface="Courier New" pitchFamily="34" charset="0"/>
                <a:ea typeface="Courier New" pitchFamily="34" charset="-122"/>
                <a:cs typeface="Courier New" pitchFamily="34" charset="-120"/>
              </a:rPr>
              <a:t>COMPLETADA</a:t>
            </a:r>
            <a:endParaRPr lang="en-US" sz="1700" dirty="0"/>
          </a:p>
        </p:txBody>
      </p:sp>
      <p:sp>
        <p:nvSpPr>
          <p:cNvPr id="33" name="Shape 31"/>
          <p:cNvSpPr/>
          <p:nvPr/>
        </p:nvSpPr>
        <p:spPr>
          <a:xfrm>
            <a:off x="548640" y="4251960"/>
            <a:ext cx="5486400" cy="1051560"/>
          </a:xfrm>
          <a:prstGeom prst="roundRect">
            <a:avLst>
              <a:gd name="adj" fmla="val 6957"/>
            </a:avLst>
          </a:prstGeom>
          <a:solidFill>
            <a:srgbClr val="EEF1F3"/>
          </a:solidFill>
          <a:ln/>
        </p:spPr>
      </p:sp>
      <p:sp>
        <p:nvSpPr>
          <p:cNvPr id="34" name="Text 32"/>
          <p:cNvSpPr txBox="1"/>
          <p:nvPr/>
        </p:nvSpPr>
        <p:spPr>
          <a:xfrm>
            <a:off x="777240" y="4370832"/>
            <a:ext cx="5029200" cy="868680"/>
          </a:xfrm>
          <a:prstGeom prst="rect">
            <a:avLst/>
          </a:prstGeom>
          <a:noFill/>
          <a:ln/>
        </p:spPr>
        <p:txBody>
          <a:bodyPr wrap="square" lIns="0" tIns="0" rIns="0" bIns="0" rtlCol="0" anchor="t"/>
          <a:lstStyle/>
          <a:p>
            <a:pPr marL="0" indent="0">
              <a:buNone/>
            </a:pPr>
            <a:r>
              <a:rPr lang="en-US" sz="1350" b="1" dirty="0">
                <a:solidFill>
                  <a:srgbClr val="1F2933"/>
                </a:solidFill>
                <a:latin typeface="Calibri" pitchFamily="34" charset="0"/>
                <a:ea typeface="Calibri" pitchFamily="34" charset="-122"/>
                <a:cs typeface="Calibri" pitchFamily="34" charset="-120"/>
              </a:rPr>
              <a:t>Nadie da órdenes. </a:t>
            </a:r>
            <a:r>
              <a:rPr lang="en-US" sz="1350" dirty="0">
                <a:solidFill>
                  <a:srgbClr val="5B6670"/>
                </a:solidFill>
                <a:latin typeface="Calibri" pitchFamily="34" charset="0"/>
                <a:ea typeface="Calibri" pitchFamily="34" charset="-122"/>
                <a:cs typeface="Calibri" pitchFamily="34" charset="-120"/>
              </a:rPr>
              <a:t>Inventario y facturación escuchan el aviso y trabajan solos. Ventas solo lleva la ficha y marca las casillas cuando le avisan.</a:t>
            </a:r>
            <a:endParaRPr lang="en-US" sz="1350" dirty="0"/>
          </a:p>
        </p:txBody>
      </p:sp>
      <p:sp>
        <p:nvSpPr>
          <p:cNvPr id="35" name="Shape 33"/>
          <p:cNvSpPr/>
          <p:nvPr/>
        </p:nvSpPr>
        <p:spPr>
          <a:xfrm>
            <a:off x="6263640" y="4251960"/>
            <a:ext cx="5349240" cy="1051560"/>
          </a:xfrm>
          <a:prstGeom prst="roundRect">
            <a:avLst>
              <a:gd name="adj" fmla="val 6957"/>
            </a:avLst>
          </a:prstGeom>
          <a:solidFill>
            <a:srgbClr val="FBE7DD"/>
          </a:solidFill>
          <a:ln/>
        </p:spPr>
      </p:sp>
      <p:sp>
        <p:nvSpPr>
          <p:cNvPr id="36" name="Text 34"/>
          <p:cNvSpPr txBox="1"/>
          <p:nvPr/>
        </p:nvSpPr>
        <p:spPr>
          <a:xfrm>
            <a:off x="6492240" y="4370832"/>
            <a:ext cx="4892040" cy="868680"/>
          </a:xfrm>
          <a:prstGeom prst="rect">
            <a:avLst/>
          </a:prstGeom>
          <a:noFill/>
          <a:ln/>
        </p:spPr>
        <p:txBody>
          <a:bodyPr wrap="square" lIns="0" tIns="0" rIns="0" bIns="0" rtlCol="0" anchor="t"/>
          <a:lstStyle/>
          <a:p>
            <a:pPr marL="0" indent="0">
              <a:buNone/>
            </a:pPr>
            <a:r>
              <a:rPr lang="en-US" sz="1350" b="1" dirty="0">
                <a:solidFill>
                  <a:srgbClr val="B83A0E"/>
                </a:solidFill>
                <a:latin typeface="Calibri" pitchFamily="34" charset="0"/>
                <a:ea typeface="Calibri" pitchFamily="34" charset="-122"/>
                <a:cs typeface="Calibri" pitchFamily="34" charset="-120"/>
              </a:rPr>
              <a:t>Si se anula: </a:t>
            </a:r>
            <a:r>
              <a:rPr lang="en-US" sz="1350" dirty="0">
                <a:solidFill>
                  <a:srgbClr val="1F2933"/>
                </a:solidFill>
                <a:latin typeface="Calibri" pitchFamily="34" charset="0"/>
                <a:ea typeface="Calibri" pitchFamily="34" charset="-122"/>
                <a:cs typeface="Calibri" pitchFamily="34" charset="-120"/>
              </a:rPr>
              <a:t>la ficha pasa a COMPENSANDO y cada servicio deshace lo suyo. COMPENSADA existe, pero nadie la marca todavía.</a:t>
            </a:r>
            <a:endParaRPr lang="en-US" sz="1350" dirty="0"/>
          </a:p>
        </p:txBody>
      </p:sp>
      <p:sp>
        <p:nvSpPr>
          <p:cNvPr id="37" name="Shape 35"/>
          <p:cNvSpPr/>
          <p:nvPr/>
        </p:nvSpPr>
        <p:spPr>
          <a:xfrm>
            <a:off x="548640" y="5486400"/>
            <a:ext cx="11064240" cy="868680"/>
          </a:xfrm>
          <a:prstGeom prst="roundRect">
            <a:avLst>
              <a:gd name="adj" fmla="val 8421"/>
            </a:avLst>
          </a:prstGeom>
          <a:solidFill>
            <a:srgbClr val="FBF1D9"/>
          </a:solidFill>
          <a:ln/>
        </p:spPr>
      </p:sp>
      <p:sp>
        <p:nvSpPr>
          <p:cNvPr id="38" name="Text 36"/>
          <p:cNvSpPr txBox="1"/>
          <p:nvPr/>
        </p:nvSpPr>
        <p:spPr>
          <a:xfrm>
            <a:off x="731520" y="5596128"/>
            <a:ext cx="10698480" cy="685800"/>
          </a:xfrm>
          <a:prstGeom prst="rect">
            <a:avLst/>
          </a:prstGeom>
          <a:noFill/>
          <a:ln/>
        </p:spPr>
        <p:txBody>
          <a:bodyPr wrap="square" lIns="0" tIns="0" rIns="0" bIns="0" rtlCol="0" anchor="ctr"/>
          <a:lstStyle/>
          <a:p>
            <a:pPr marL="0" indent="0">
              <a:buNone/>
            </a:pPr>
            <a:r>
              <a:rPr lang="en-US" sz="1400" b="1" dirty="0">
                <a:solidFill>
                  <a:srgbClr val="9A6A0C"/>
                </a:solidFill>
                <a:latin typeface="Calibri" pitchFamily="34" charset="0"/>
                <a:ea typeface="Calibri" pitchFamily="34" charset="-122"/>
                <a:cs typeface="Calibri" pitchFamily="34" charset="-120"/>
              </a:rPr>
              <a:t>Para entenderlo: </a:t>
            </a:r>
            <a:r>
              <a:rPr lang="en-US" sz="1400" dirty="0">
                <a:solidFill>
                  <a:srgbClr val="1F2933"/>
                </a:solidFill>
                <a:latin typeface="Calibri" pitchFamily="34" charset="0"/>
                <a:ea typeface="Calibri" pitchFamily="34" charset="-122"/>
                <a:cs typeface="Calibri" pitchFamily="34" charset="-120"/>
              </a:rPr>
              <a:t>es la ficha de un trámite con firmas de varias áreas. Cada área firma cuando termina, en cualquier orden. Con todas las firmas, el trámite está cerrado.</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972800" cy="274320"/>
          </a:xfrm>
          <a:prstGeom prst="rect">
            <a:avLst/>
          </a:prstGeom>
          <a:noFill/>
          <a:ln/>
        </p:spPr>
        <p:txBody>
          <a:bodyPr wrap="square" lIns="0" tIns="0" rIns="0" bIns="0" rtlCol="0" anchor="t"/>
          <a:lstStyle/>
          <a:p>
            <a:pPr marL="0" indent="0">
              <a:buNone/>
            </a:pPr>
            <a:r>
              <a:rPr lang="en-US" sz="1100" b="1" kern="0" spc="200" dirty="0">
                <a:solidFill>
                  <a:srgbClr val="0F6E57"/>
                </a:solidFill>
                <a:latin typeface="Calibri" pitchFamily="34" charset="0"/>
                <a:ea typeface="Calibri" pitchFamily="34" charset="-122"/>
                <a:cs typeface="Calibri" pitchFamily="34" charset="-120"/>
              </a:rPr>
              <a:t>BLOQUE 2, JAVIER</a:t>
            </a:r>
            <a:endParaRPr lang="en-US" sz="1100" dirty="0"/>
          </a:p>
        </p:txBody>
      </p:sp>
      <p:sp>
        <p:nvSpPr>
          <p:cNvPr id="3" name="Text 1"/>
          <p:cNvSpPr txBox="1"/>
          <p:nvPr/>
        </p:nvSpPr>
        <p:spPr>
          <a:xfrm>
            <a:off x="548640" y="594360"/>
            <a:ext cx="11064240" cy="685800"/>
          </a:xfrm>
          <a:prstGeom prst="rect">
            <a:avLst/>
          </a:prstGeom>
          <a:noFill/>
          <a:ln/>
        </p:spPr>
        <p:txBody>
          <a:bodyPr wrap="square" lIns="0" tIns="0" rIns="0" bIns="0" rtlCol="0" anchor="t"/>
          <a:lstStyle/>
          <a:p>
            <a:pPr marL="0" indent="0">
              <a:buNone/>
            </a:pPr>
            <a:r>
              <a:rPr lang="en-US" sz="3000" b="1" dirty="0">
                <a:solidFill>
                  <a:srgbClr val="1F2933"/>
                </a:solidFill>
                <a:latin typeface="Cambria" pitchFamily="34" charset="0"/>
                <a:ea typeface="Cambria" pitchFamily="34" charset="-122"/>
                <a:cs typeface="Cambria" pitchFamily="34" charset="-120"/>
              </a:rPr>
              <a:t>Si algo se cae, ¿la venta sigue?</a:t>
            </a:r>
            <a:endParaRPr lang="en-US" sz="3000" dirty="0"/>
          </a:p>
        </p:txBody>
      </p:sp>
      <p:sp>
        <p:nvSpPr>
          <p:cNvPr id="4" name="Shape 2"/>
          <p:cNvSpPr/>
          <p:nvPr/>
        </p:nvSpPr>
        <p:spPr>
          <a:xfrm>
            <a:off x="548640" y="1371600"/>
            <a:ext cx="11064240" cy="548640"/>
          </a:xfrm>
          <a:prstGeom prst="roundRect">
            <a:avLst>
              <a:gd name="adj" fmla="val 13333"/>
            </a:avLst>
          </a:prstGeom>
          <a:solidFill>
            <a:srgbClr val="E3F1EC"/>
          </a:solidFill>
          <a:ln/>
        </p:spPr>
      </p:sp>
      <p:sp>
        <p:nvSpPr>
          <p:cNvPr id="5" name="Text 3"/>
          <p:cNvSpPr txBox="1"/>
          <p:nvPr/>
        </p:nvSpPr>
        <p:spPr>
          <a:xfrm>
            <a:off x="777240" y="1371600"/>
            <a:ext cx="10607040" cy="548640"/>
          </a:xfrm>
          <a:prstGeom prst="rect">
            <a:avLst/>
          </a:prstGeom>
          <a:noFill/>
          <a:ln/>
        </p:spPr>
        <p:txBody>
          <a:bodyPr wrap="square" lIns="0" tIns="0" rIns="0" bIns="0" rtlCol="0" anchor="ctr"/>
          <a:lstStyle/>
          <a:p>
            <a:pPr marL="0" indent="0">
              <a:buNone/>
            </a:pPr>
            <a:r>
              <a:rPr lang="en-US" sz="1500" b="1" dirty="0">
                <a:solidFill>
                  <a:srgbClr val="1F2933"/>
                </a:solidFill>
                <a:latin typeface="Calibri" pitchFamily="34" charset="0"/>
                <a:ea typeface="Calibri" pitchFamily="34" charset="-122"/>
                <a:cs typeface="Calibri" pitchFamily="34" charset="-120"/>
              </a:rPr>
              <a:t>Regla: nada fuera de stock y pago puede impedir una venta. Hoy la cumplimos en todo menos en catálogo.</a:t>
            </a:r>
            <a:endParaRPr lang="en-US" sz="1500" dirty="0"/>
          </a:p>
        </p:txBody>
      </p:sp>
      <p:sp>
        <p:nvSpPr>
          <p:cNvPr id="6" name="Text 4"/>
          <p:cNvSpPr txBox="1"/>
          <p:nvPr/>
        </p:nvSpPr>
        <p:spPr>
          <a:xfrm>
            <a:off x="548640" y="2221992"/>
            <a:ext cx="914400" cy="274320"/>
          </a:xfrm>
          <a:prstGeom prst="rect">
            <a:avLst/>
          </a:prstGeom>
          <a:noFill/>
          <a:ln/>
        </p:spPr>
        <p:txBody>
          <a:bodyPr wrap="square" lIns="0" tIns="0" rIns="0" bIns="0" rtlCol="0" anchor="t"/>
          <a:lstStyle/>
          <a:p>
            <a:pPr marL="0" indent="0">
              <a:buNone/>
            </a:pPr>
            <a:r>
              <a:rPr lang="en-US" sz="950" b="1" dirty="0">
                <a:solidFill>
                  <a:srgbClr val="5B6670"/>
                </a:solidFill>
                <a:latin typeface="Calibri" pitchFamily="34" charset="0"/>
                <a:ea typeface="Calibri" pitchFamily="34" charset="-122"/>
                <a:cs typeface="Calibri" pitchFamily="34" charset="-120"/>
              </a:rPr>
              <a:t>AL ESCANEAR</a:t>
            </a:r>
            <a:endParaRPr lang="en-US" sz="950" dirty="0"/>
          </a:p>
        </p:txBody>
      </p:sp>
      <p:sp>
        <p:nvSpPr>
          <p:cNvPr id="7" name="Text 5"/>
          <p:cNvSpPr txBox="1"/>
          <p:nvPr/>
        </p:nvSpPr>
        <p:spPr>
          <a:xfrm>
            <a:off x="1417320" y="2194560"/>
            <a:ext cx="1051560" cy="274320"/>
          </a:xfrm>
          <a:prstGeom prst="rect">
            <a:avLst/>
          </a:prstGeom>
          <a:noFill/>
          <a:ln/>
        </p:spPr>
        <p:txBody>
          <a:bodyPr wrap="square" lIns="0" tIns="0" rIns="0" bIns="0" rtlCol="0" anchor="t"/>
          <a:lstStyle/>
          <a:p>
            <a:pPr marL="0" indent="0">
              <a:buNone/>
            </a:pPr>
            <a:r>
              <a:rPr lang="en-US" sz="1300" b="1" dirty="0">
                <a:solidFill>
                  <a:srgbClr val="1F2933"/>
                </a:solidFill>
                <a:latin typeface="Calibri" pitchFamily="34" charset="0"/>
                <a:ea typeface="Calibri" pitchFamily="34" charset="-122"/>
                <a:cs typeface="Calibri" pitchFamily="34" charset="-120"/>
              </a:rPr>
              <a:t>catálogo</a:t>
            </a:r>
            <a:endParaRPr lang="en-US" sz="1300" dirty="0"/>
          </a:p>
        </p:txBody>
      </p:sp>
      <p:sp>
        <p:nvSpPr>
          <p:cNvPr id="8" name="Shape 6"/>
          <p:cNvSpPr/>
          <p:nvPr/>
        </p:nvSpPr>
        <p:spPr>
          <a:xfrm>
            <a:off x="2514600" y="2240280"/>
            <a:ext cx="548640" cy="201168"/>
          </a:xfrm>
          <a:prstGeom prst="rect">
            <a:avLst/>
          </a:prstGeom>
          <a:solidFill>
            <a:srgbClr val="B83A0E"/>
          </a:solidFill>
          <a:ln/>
        </p:spPr>
      </p:sp>
      <p:sp>
        <p:nvSpPr>
          <p:cNvPr id="9" name="Text 7"/>
          <p:cNvSpPr txBox="1"/>
          <p:nvPr/>
        </p:nvSpPr>
        <p:spPr>
          <a:xfrm>
            <a:off x="3136392" y="2194560"/>
            <a:ext cx="731520" cy="274320"/>
          </a:xfrm>
          <a:prstGeom prst="rect">
            <a:avLst/>
          </a:prstGeom>
          <a:noFill/>
          <a:ln/>
        </p:spPr>
        <p:txBody>
          <a:bodyPr wrap="square" lIns="0" tIns="0" rIns="0" bIns="0" rtlCol="0" anchor="t"/>
          <a:lstStyle/>
          <a:p>
            <a:pPr marL="0" indent="0">
              <a:buNone/>
            </a:pPr>
            <a:r>
              <a:rPr lang="en-US" sz="1150" dirty="0">
                <a:solidFill>
                  <a:srgbClr val="1F2933"/>
                </a:solidFill>
                <a:latin typeface="Courier New" pitchFamily="34" charset="0"/>
                <a:ea typeface="Courier New" pitchFamily="34" charset="-122"/>
                <a:cs typeface="Courier New" pitchFamily="34" charset="-120"/>
              </a:rPr>
              <a:t>200 ms</a:t>
            </a:r>
            <a:endParaRPr lang="en-US" sz="1150" dirty="0"/>
          </a:p>
        </p:txBody>
      </p:sp>
      <p:sp>
        <p:nvSpPr>
          <p:cNvPr id="10" name="Text 8"/>
          <p:cNvSpPr txBox="1"/>
          <p:nvPr/>
        </p:nvSpPr>
        <p:spPr>
          <a:xfrm>
            <a:off x="6035040" y="2194560"/>
            <a:ext cx="2743200" cy="292608"/>
          </a:xfrm>
          <a:prstGeom prst="rect">
            <a:avLst/>
          </a:prstGeom>
          <a:noFill/>
          <a:ln/>
        </p:spPr>
        <p:txBody>
          <a:bodyPr wrap="square" lIns="0" tIns="0" rIns="0" bIns="0" rtlCol="0" anchor="t"/>
          <a:lstStyle/>
          <a:p>
            <a:pPr marL="0" indent="0">
              <a:buNone/>
            </a:pPr>
            <a:r>
              <a:rPr lang="en-US" sz="1150" b="1" dirty="0">
                <a:solidFill>
                  <a:srgbClr val="B83A0E"/>
                </a:solidFill>
                <a:latin typeface="Calibri" pitchFamily="34" charset="0"/>
                <a:ea typeface="Calibri" pitchFamily="34" charset="-122"/>
                <a:cs typeface="Calibri" pitchFamily="34" charset="-120"/>
              </a:rPr>
              <a:t>sin precio: la línea no entra</a:t>
            </a:r>
            <a:endParaRPr lang="en-US" sz="1150" dirty="0"/>
          </a:p>
        </p:txBody>
      </p:sp>
      <p:sp>
        <p:nvSpPr>
          <p:cNvPr id="11" name="Text 9"/>
          <p:cNvSpPr txBox="1"/>
          <p:nvPr/>
        </p:nvSpPr>
        <p:spPr>
          <a:xfrm>
            <a:off x="1417320" y="2651760"/>
            <a:ext cx="1051560" cy="274320"/>
          </a:xfrm>
          <a:prstGeom prst="rect">
            <a:avLst/>
          </a:prstGeom>
          <a:noFill/>
          <a:ln/>
        </p:spPr>
        <p:txBody>
          <a:bodyPr wrap="square" lIns="0" tIns="0" rIns="0" bIns="0" rtlCol="0" anchor="t"/>
          <a:lstStyle/>
          <a:p>
            <a:pPr marL="0" indent="0">
              <a:buNone/>
            </a:pPr>
            <a:r>
              <a:rPr lang="en-US" sz="1300" b="1" dirty="0">
                <a:solidFill>
                  <a:srgbClr val="1F2933"/>
                </a:solidFill>
                <a:latin typeface="Calibri" pitchFamily="34" charset="0"/>
                <a:ea typeface="Calibri" pitchFamily="34" charset="-122"/>
                <a:cs typeface="Calibri" pitchFamily="34" charset="-120"/>
              </a:rPr>
              <a:t>inventario</a:t>
            </a:r>
            <a:endParaRPr lang="en-US" sz="1300" dirty="0"/>
          </a:p>
        </p:txBody>
      </p:sp>
      <p:sp>
        <p:nvSpPr>
          <p:cNvPr id="12" name="Shape 10"/>
          <p:cNvSpPr/>
          <p:nvPr/>
        </p:nvSpPr>
        <p:spPr>
          <a:xfrm>
            <a:off x="2514600" y="2697480"/>
            <a:ext cx="1371600" cy="201168"/>
          </a:xfrm>
          <a:prstGeom prst="rect">
            <a:avLst/>
          </a:prstGeom>
          <a:solidFill>
            <a:srgbClr val="B83A0E"/>
          </a:solidFill>
          <a:ln/>
        </p:spPr>
      </p:sp>
      <p:sp>
        <p:nvSpPr>
          <p:cNvPr id="13" name="Text 11"/>
          <p:cNvSpPr txBox="1"/>
          <p:nvPr/>
        </p:nvSpPr>
        <p:spPr>
          <a:xfrm>
            <a:off x="3959352" y="2651760"/>
            <a:ext cx="731520" cy="274320"/>
          </a:xfrm>
          <a:prstGeom prst="rect">
            <a:avLst/>
          </a:prstGeom>
          <a:noFill/>
          <a:ln/>
        </p:spPr>
        <p:txBody>
          <a:bodyPr wrap="square" lIns="0" tIns="0" rIns="0" bIns="0" rtlCol="0" anchor="t"/>
          <a:lstStyle/>
          <a:p>
            <a:pPr marL="0" indent="0">
              <a:buNone/>
            </a:pPr>
            <a:r>
              <a:rPr lang="en-US" sz="1150" dirty="0">
                <a:solidFill>
                  <a:srgbClr val="1F2933"/>
                </a:solidFill>
                <a:latin typeface="Courier New" pitchFamily="34" charset="0"/>
                <a:ea typeface="Courier New" pitchFamily="34" charset="-122"/>
                <a:cs typeface="Courier New" pitchFamily="34" charset="-120"/>
              </a:rPr>
              <a:t>500 ms</a:t>
            </a:r>
            <a:endParaRPr lang="en-US" sz="1150" dirty="0"/>
          </a:p>
        </p:txBody>
      </p:sp>
      <p:sp>
        <p:nvSpPr>
          <p:cNvPr id="14" name="Text 12"/>
          <p:cNvSpPr txBox="1"/>
          <p:nvPr/>
        </p:nvSpPr>
        <p:spPr>
          <a:xfrm>
            <a:off x="6035040" y="2651760"/>
            <a:ext cx="2743200" cy="292608"/>
          </a:xfrm>
          <a:prstGeom prst="rect">
            <a:avLst/>
          </a:prstGeom>
          <a:noFill/>
          <a:ln/>
        </p:spPr>
        <p:txBody>
          <a:bodyPr wrap="square" lIns="0" tIns="0" rIns="0" bIns="0" rtlCol="0" anchor="t"/>
          <a:lstStyle/>
          <a:p>
            <a:pPr marL="0" indent="0">
              <a:buNone/>
            </a:pPr>
            <a:r>
              <a:rPr lang="en-US" sz="1150" b="1" dirty="0">
                <a:solidFill>
                  <a:srgbClr val="B83A0E"/>
                </a:solidFill>
                <a:latin typeface="Calibri" pitchFamily="34" charset="0"/>
                <a:ea typeface="Calibri" pitchFamily="34" charset="-122"/>
                <a:cs typeface="Calibri" pitchFamily="34" charset="-120"/>
              </a:rPr>
              <a:t>sin stock apartado: la línea no entra</a:t>
            </a:r>
            <a:endParaRPr lang="en-US" sz="1150" dirty="0"/>
          </a:p>
        </p:txBody>
      </p:sp>
      <p:sp>
        <p:nvSpPr>
          <p:cNvPr id="15" name="Text 13"/>
          <p:cNvSpPr txBox="1"/>
          <p:nvPr/>
        </p:nvSpPr>
        <p:spPr>
          <a:xfrm>
            <a:off x="1417320" y="3108960"/>
            <a:ext cx="1051560" cy="274320"/>
          </a:xfrm>
          <a:prstGeom prst="rect">
            <a:avLst/>
          </a:prstGeom>
          <a:noFill/>
          <a:ln/>
        </p:spPr>
        <p:txBody>
          <a:bodyPr wrap="square" lIns="0" tIns="0" rIns="0" bIns="0" rtlCol="0" anchor="t"/>
          <a:lstStyle/>
          <a:p>
            <a:pPr marL="0" indent="0">
              <a:buNone/>
            </a:pPr>
            <a:r>
              <a:rPr lang="en-US" sz="1300" b="1" dirty="0">
                <a:solidFill>
                  <a:srgbClr val="1F2933"/>
                </a:solidFill>
                <a:latin typeface="Calibri" pitchFamily="34" charset="0"/>
                <a:ea typeface="Calibri" pitchFamily="34" charset="-122"/>
                <a:cs typeface="Calibri" pitchFamily="34" charset="-120"/>
              </a:rPr>
              <a:t>promociones</a:t>
            </a:r>
            <a:endParaRPr lang="en-US" sz="1300" dirty="0"/>
          </a:p>
        </p:txBody>
      </p:sp>
      <p:sp>
        <p:nvSpPr>
          <p:cNvPr id="16" name="Shape 14"/>
          <p:cNvSpPr/>
          <p:nvPr/>
        </p:nvSpPr>
        <p:spPr>
          <a:xfrm>
            <a:off x="2514600" y="3154680"/>
            <a:ext cx="822960" cy="201168"/>
          </a:xfrm>
          <a:prstGeom prst="rect">
            <a:avLst/>
          </a:prstGeom>
          <a:solidFill>
            <a:srgbClr val="C08A1E"/>
          </a:solidFill>
          <a:ln/>
        </p:spPr>
      </p:sp>
      <p:sp>
        <p:nvSpPr>
          <p:cNvPr id="17" name="Text 15"/>
          <p:cNvSpPr txBox="1"/>
          <p:nvPr/>
        </p:nvSpPr>
        <p:spPr>
          <a:xfrm>
            <a:off x="3410712" y="3108960"/>
            <a:ext cx="731520" cy="274320"/>
          </a:xfrm>
          <a:prstGeom prst="rect">
            <a:avLst/>
          </a:prstGeom>
          <a:noFill/>
          <a:ln/>
        </p:spPr>
        <p:txBody>
          <a:bodyPr wrap="square" lIns="0" tIns="0" rIns="0" bIns="0" rtlCol="0" anchor="t"/>
          <a:lstStyle/>
          <a:p>
            <a:pPr marL="0" indent="0">
              <a:buNone/>
            </a:pPr>
            <a:r>
              <a:rPr lang="en-US" sz="1150" dirty="0">
                <a:solidFill>
                  <a:srgbClr val="1F2933"/>
                </a:solidFill>
                <a:latin typeface="Courier New" pitchFamily="34" charset="0"/>
                <a:ea typeface="Courier New" pitchFamily="34" charset="-122"/>
                <a:cs typeface="Courier New" pitchFamily="34" charset="-120"/>
              </a:rPr>
              <a:t>300 ms</a:t>
            </a:r>
            <a:endParaRPr lang="en-US" sz="1150" dirty="0"/>
          </a:p>
        </p:txBody>
      </p:sp>
      <p:sp>
        <p:nvSpPr>
          <p:cNvPr id="18" name="Text 16"/>
          <p:cNvSpPr txBox="1"/>
          <p:nvPr/>
        </p:nvSpPr>
        <p:spPr>
          <a:xfrm>
            <a:off x="6035040" y="3108960"/>
            <a:ext cx="2743200" cy="292608"/>
          </a:xfrm>
          <a:prstGeom prst="rect">
            <a:avLst/>
          </a:prstGeom>
          <a:noFill/>
          <a:ln/>
        </p:spPr>
        <p:txBody>
          <a:bodyPr wrap="square" lIns="0" tIns="0" rIns="0" bIns="0" rtlCol="0" anchor="t"/>
          <a:lstStyle/>
          <a:p>
            <a:pPr marL="0" indent="0">
              <a:buNone/>
            </a:pPr>
            <a:r>
              <a:rPr lang="en-US" sz="1150" dirty="0">
                <a:solidFill>
                  <a:srgbClr val="5B6670"/>
                </a:solidFill>
                <a:latin typeface="Calibri" pitchFamily="34" charset="0"/>
                <a:ea typeface="Calibri" pitchFamily="34" charset="-122"/>
                <a:cs typeface="Calibri" pitchFamily="34" charset="-120"/>
              </a:rPr>
              <a:t>venta sin descuento</a:t>
            </a:r>
            <a:endParaRPr lang="en-US" sz="1150" dirty="0"/>
          </a:p>
        </p:txBody>
      </p:sp>
      <p:sp>
        <p:nvSpPr>
          <p:cNvPr id="19" name="Text 17"/>
          <p:cNvSpPr txBox="1"/>
          <p:nvPr/>
        </p:nvSpPr>
        <p:spPr>
          <a:xfrm>
            <a:off x="548640" y="3593592"/>
            <a:ext cx="914400" cy="274320"/>
          </a:xfrm>
          <a:prstGeom prst="rect">
            <a:avLst/>
          </a:prstGeom>
          <a:noFill/>
          <a:ln/>
        </p:spPr>
        <p:txBody>
          <a:bodyPr wrap="square" lIns="0" tIns="0" rIns="0" bIns="0" rtlCol="0" anchor="t"/>
          <a:lstStyle/>
          <a:p>
            <a:pPr marL="0" indent="0">
              <a:buNone/>
            </a:pPr>
            <a:r>
              <a:rPr lang="en-US" sz="950" b="1" dirty="0">
                <a:solidFill>
                  <a:srgbClr val="5B6670"/>
                </a:solidFill>
                <a:latin typeface="Calibri" pitchFamily="34" charset="0"/>
                <a:ea typeface="Calibri" pitchFamily="34" charset="-122"/>
                <a:cs typeface="Calibri" pitchFamily="34" charset="-120"/>
              </a:rPr>
              <a:t>AL PAGAR</a:t>
            </a:r>
            <a:endParaRPr lang="en-US" sz="950" dirty="0"/>
          </a:p>
        </p:txBody>
      </p:sp>
      <p:sp>
        <p:nvSpPr>
          <p:cNvPr id="20" name="Text 18"/>
          <p:cNvSpPr txBox="1"/>
          <p:nvPr/>
        </p:nvSpPr>
        <p:spPr>
          <a:xfrm>
            <a:off x="1417320" y="3566160"/>
            <a:ext cx="1051560" cy="274320"/>
          </a:xfrm>
          <a:prstGeom prst="rect">
            <a:avLst/>
          </a:prstGeom>
          <a:noFill/>
          <a:ln/>
        </p:spPr>
        <p:txBody>
          <a:bodyPr wrap="square" lIns="0" tIns="0" rIns="0" bIns="0" rtlCol="0" anchor="t"/>
          <a:lstStyle/>
          <a:p>
            <a:pPr marL="0" indent="0">
              <a:buNone/>
            </a:pPr>
            <a:r>
              <a:rPr lang="en-US" sz="1300" b="1" dirty="0">
                <a:solidFill>
                  <a:srgbClr val="1F2933"/>
                </a:solidFill>
                <a:latin typeface="Calibri" pitchFamily="34" charset="0"/>
                <a:ea typeface="Calibri" pitchFamily="34" charset="-122"/>
                <a:cs typeface="Calibri" pitchFamily="34" charset="-120"/>
              </a:rPr>
              <a:t>clientes</a:t>
            </a:r>
            <a:endParaRPr lang="en-US" sz="1300" dirty="0"/>
          </a:p>
        </p:txBody>
      </p:sp>
      <p:sp>
        <p:nvSpPr>
          <p:cNvPr id="21" name="Shape 19"/>
          <p:cNvSpPr/>
          <p:nvPr/>
        </p:nvSpPr>
        <p:spPr>
          <a:xfrm>
            <a:off x="2514600" y="3611880"/>
            <a:ext cx="822960" cy="201168"/>
          </a:xfrm>
          <a:prstGeom prst="rect">
            <a:avLst/>
          </a:prstGeom>
          <a:solidFill>
            <a:srgbClr val="C08A1E"/>
          </a:solidFill>
          <a:ln/>
        </p:spPr>
      </p:sp>
      <p:sp>
        <p:nvSpPr>
          <p:cNvPr id="22" name="Text 20"/>
          <p:cNvSpPr txBox="1"/>
          <p:nvPr/>
        </p:nvSpPr>
        <p:spPr>
          <a:xfrm>
            <a:off x="3410712" y="3566160"/>
            <a:ext cx="731520" cy="274320"/>
          </a:xfrm>
          <a:prstGeom prst="rect">
            <a:avLst/>
          </a:prstGeom>
          <a:noFill/>
          <a:ln/>
        </p:spPr>
        <p:txBody>
          <a:bodyPr wrap="square" lIns="0" tIns="0" rIns="0" bIns="0" rtlCol="0" anchor="t"/>
          <a:lstStyle/>
          <a:p>
            <a:pPr marL="0" indent="0">
              <a:buNone/>
            </a:pPr>
            <a:r>
              <a:rPr lang="en-US" sz="1150" dirty="0">
                <a:solidFill>
                  <a:srgbClr val="1F2933"/>
                </a:solidFill>
                <a:latin typeface="Courier New" pitchFamily="34" charset="0"/>
                <a:ea typeface="Courier New" pitchFamily="34" charset="-122"/>
                <a:cs typeface="Courier New" pitchFamily="34" charset="-120"/>
              </a:rPr>
              <a:t>300 ms</a:t>
            </a:r>
            <a:endParaRPr lang="en-US" sz="1150" dirty="0"/>
          </a:p>
        </p:txBody>
      </p:sp>
      <p:sp>
        <p:nvSpPr>
          <p:cNvPr id="23" name="Text 21"/>
          <p:cNvSpPr txBox="1"/>
          <p:nvPr/>
        </p:nvSpPr>
        <p:spPr>
          <a:xfrm>
            <a:off x="6035040" y="3566160"/>
            <a:ext cx="2743200" cy="292608"/>
          </a:xfrm>
          <a:prstGeom prst="rect">
            <a:avLst/>
          </a:prstGeom>
          <a:noFill/>
          <a:ln/>
        </p:spPr>
        <p:txBody>
          <a:bodyPr wrap="square" lIns="0" tIns="0" rIns="0" bIns="0" rtlCol="0" anchor="t"/>
          <a:lstStyle/>
          <a:p>
            <a:pPr marL="0" indent="0">
              <a:buNone/>
            </a:pPr>
            <a:r>
              <a:rPr lang="en-US" sz="1150" dirty="0">
                <a:solidFill>
                  <a:srgbClr val="5B6670"/>
                </a:solidFill>
                <a:latin typeface="Calibri" pitchFamily="34" charset="0"/>
                <a:ea typeface="Calibri" pitchFamily="34" charset="-122"/>
                <a:cs typeface="Calibri" pitchFamily="34" charset="-120"/>
              </a:rPr>
              <a:t>venta anónima</a:t>
            </a:r>
            <a:endParaRPr lang="en-US" sz="1150" dirty="0"/>
          </a:p>
        </p:txBody>
      </p:sp>
      <p:sp>
        <p:nvSpPr>
          <p:cNvPr id="24" name="Text 22"/>
          <p:cNvSpPr txBox="1"/>
          <p:nvPr/>
        </p:nvSpPr>
        <p:spPr>
          <a:xfrm>
            <a:off x="1417320" y="4023360"/>
            <a:ext cx="1051560" cy="274320"/>
          </a:xfrm>
          <a:prstGeom prst="rect">
            <a:avLst/>
          </a:prstGeom>
          <a:noFill/>
          <a:ln/>
        </p:spPr>
        <p:txBody>
          <a:bodyPr wrap="square" lIns="0" tIns="0" rIns="0" bIns="0" rtlCol="0" anchor="t"/>
          <a:lstStyle/>
          <a:p>
            <a:pPr marL="0" indent="0">
              <a:buNone/>
            </a:pPr>
            <a:r>
              <a:rPr lang="en-US" sz="1300" b="1" dirty="0">
                <a:solidFill>
                  <a:srgbClr val="1F2933"/>
                </a:solidFill>
                <a:latin typeface="Calibri" pitchFamily="34" charset="0"/>
                <a:ea typeface="Calibri" pitchFamily="34" charset="-122"/>
                <a:cs typeface="Calibri" pitchFamily="34" charset="-120"/>
              </a:rPr>
              <a:t>crédito</a:t>
            </a:r>
            <a:endParaRPr lang="en-US" sz="1300" dirty="0"/>
          </a:p>
        </p:txBody>
      </p:sp>
      <p:sp>
        <p:nvSpPr>
          <p:cNvPr id="25" name="Shape 23"/>
          <p:cNvSpPr/>
          <p:nvPr/>
        </p:nvSpPr>
        <p:spPr>
          <a:xfrm>
            <a:off x="2514600" y="4069080"/>
            <a:ext cx="2194560" cy="201168"/>
          </a:xfrm>
          <a:prstGeom prst="rect">
            <a:avLst/>
          </a:prstGeom>
          <a:solidFill>
            <a:srgbClr val="C08A1E"/>
          </a:solidFill>
          <a:ln/>
        </p:spPr>
      </p:sp>
      <p:sp>
        <p:nvSpPr>
          <p:cNvPr id="26" name="Text 24"/>
          <p:cNvSpPr txBox="1"/>
          <p:nvPr/>
        </p:nvSpPr>
        <p:spPr>
          <a:xfrm>
            <a:off x="4782312" y="4023360"/>
            <a:ext cx="731520" cy="274320"/>
          </a:xfrm>
          <a:prstGeom prst="rect">
            <a:avLst/>
          </a:prstGeom>
          <a:noFill/>
          <a:ln/>
        </p:spPr>
        <p:txBody>
          <a:bodyPr wrap="square" lIns="0" tIns="0" rIns="0" bIns="0" rtlCol="0" anchor="t"/>
          <a:lstStyle/>
          <a:p>
            <a:pPr marL="0" indent="0">
              <a:buNone/>
            </a:pPr>
            <a:r>
              <a:rPr lang="en-US" sz="1150" dirty="0">
                <a:solidFill>
                  <a:srgbClr val="1F2933"/>
                </a:solidFill>
                <a:latin typeface="Courier New" pitchFamily="34" charset="0"/>
                <a:ea typeface="Courier New" pitchFamily="34" charset="-122"/>
                <a:cs typeface="Courier New" pitchFamily="34" charset="-120"/>
              </a:rPr>
              <a:t>800 ms</a:t>
            </a:r>
            <a:endParaRPr lang="en-US" sz="1150" dirty="0"/>
          </a:p>
        </p:txBody>
      </p:sp>
      <p:sp>
        <p:nvSpPr>
          <p:cNvPr id="27" name="Text 25"/>
          <p:cNvSpPr txBox="1"/>
          <p:nvPr/>
        </p:nvSpPr>
        <p:spPr>
          <a:xfrm>
            <a:off x="6035040" y="4023360"/>
            <a:ext cx="2743200" cy="292608"/>
          </a:xfrm>
          <a:prstGeom prst="rect">
            <a:avLst/>
          </a:prstGeom>
          <a:noFill/>
          <a:ln/>
        </p:spPr>
        <p:txBody>
          <a:bodyPr wrap="square" lIns="0" tIns="0" rIns="0" bIns="0" rtlCol="0" anchor="t"/>
          <a:lstStyle/>
          <a:p>
            <a:pPr marL="0" indent="0">
              <a:buNone/>
            </a:pPr>
            <a:r>
              <a:rPr lang="en-US" sz="1150" dirty="0">
                <a:solidFill>
                  <a:srgbClr val="5B6670"/>
                </a:solidFill>
                <a:latin typeface="Calibri" pitchFamily="34" charset="0"/>
                <a:ea typeface="Calibri" pitchFamily="34" charset="-122"/>
                <a:cs typeface="Calibri" pitchFamily="34" charset="-120"/>
              </a:rPr>
              <a:t>otra forma de pago; hoy no se consulta</a:t>
            </a:r>
            <a:endParaRPr lang="en-US" sz="1150" dirty="0"/>
          </a:p>
        </p:txBody>
      </p:sp>
      <p:sp>
        <p:nvSpPr>
          <p:cNvPr id="28" name="Text 26"/>
          <p:cNvSpPr txBox="1"/>
          <p:nvPr/>
        </p:nvSpPr>
        <p:spPr>
          <a:xfrm>
            <a:off x="548640" y="4507992"/>
            <a:ext cx="914400" cy="274320"/>
          </a:xfrm>
          <a:prstGeom prst="rect">
            <a:avLst/>
          </a:prstGeom>
          <a:noFill/>
          <a:ln/>
        </p:spPr>
        <p:txBody>
          <a:bodyPr wrap="square" lIns="0" tIns="0" rIns="0" bIns="0" rtlCol="0" anchor="t"/>
          <a:lstStyle/>
          <a:p>
            <a:pPr marL="0" indent="0">
              <a:buNone/>
            </a:pPr>
            <a:r>
              <a:rPr lang="en-US" sz="950" b="1" dirty="0">
                <a:solidFill>
                  <a:srgbClr val="5B6670"/>
                </a:solidFill>
                <a:latin typeface="Calibri" pitchFamily="34" charset="0"/>
                <a:ea typeface="Calibri" pitchFamily="34" charset="-122"/>
                <a:cs typeface="Calibri" pitchFamily="34" charset="-120"/>
              </a:rPr>
              <a:t>SIEMPRE</a:t>
            </a:r>
            <a:endParaRPr lang="en-US" sz="950" dirty="0"/>
          </a:p>
        </p:txBody>
      </p:sp>
      <p:sp>
        <p:nvSpPr>
          <p:cNvPr id="29" name="Text 27"/>
          <p:cNvSpPr txBox="1"/>
          <p:nvPr/>
        </p:nvSpPr>
        <p:spPr>
          <a:xfrm>
            <a:off x="1417320" y="4480560"/>
            <a:ext cx="1051560" cy="274320"/>
          </a:xfrm>
          <a:prstGeom prst="rect">
            <a:avLst/>
          </a:prstGeom>
          <a:noFill/>
          <a:ln/>
        </p:spPr>
        <p:txBody>
          <a:bodyPr wrap="square" lIns="0" tIns="0" rIns="0" bIns="0" rtlCol="0" anchor="t"/>
          <a:lstStyle/>
          <a:p>
            <a:pPr marL="0" indent="0">
              <a:buNone/>
            </a:pPr>
            <a:r>
              <a:rPr lang="en-US" sz="1300" b="1" dirty="0">
                <a:solidFill>
                  <a:srgbClr val="1F2933"/>
                </a:solidFill>
                <a:latin typeface="Calibri" pitchFamily="34" charset="0"/>
                <a:ea typeface="Calibri" pitchFamily="34" charset="-122"/>
                <a:cs typeface="Calibri" pitchFamily="34" charset="-120"/>
              </a:rPr>
              <a:t>Redis</a:t>
            </a:r>
            <a:endParaRPr lang="en-US" sz="1300" dirty="0"/>
          </a:p>
        </p:txBody>
      </p:sp>
      <p:sp>
        <p:nvSpPr>
          <p:cNvPr id="30" name="Shape 28"/>
          <p:cNvSpPr/>
          <p:nvPr/>
        </p:nvSpPr>
        <p:spPr>
          <a:xfrm>
            <a:off x="2514600" y="4526280"/>
            <a:ext cx="548640" cy="201168"/>
          </a:xfrm>
          <a:prstGeom prst="rect">
            <a:avLst/>
          </a:prstGeom>
          <a:solidFill>
            <a:srgbClr val="C08A1E"/>
          </a:solidFill>
          <a:ln/>
        </p:spPr>
      </p:sp>
      <p:sp>
        <p:nvSpPr>
          <p:cNvPr id="31" name="Text 29"/>
          <p:cNvSpPr txBox="1"/>
          <p:nvPr/>
        </p:nvSpPr>
        <p:spPr>
          <a:xfrm>
            <a:off x="3136392" y="4480560"/>
            <a:ext cx="731520" cy="274320"/>
          </a:xfrm>
          <a:prstGeom prst="rect">
            <a:avLst/>
          </a:prstGeom>
          <a:noFill/>
          <a:ln/>
        </p:spPr>
        <p:txBody>
          <a:bodyPr wrap="square" lIns="0" tIns="0" rIns="0" bIns="0" rtlCol="0" anchor="t"/>
          <a:lstStyle/>
          <a:p>
            <a:pPr marL="0" indent="0">
              <a:buNone/>
            </a:pPr>
            <a:r>
              <a:rPr lang="en-US" sz="1150" dirty="0">
                <a:solidFill>
                  <a:srgbClr val="1F2933"/>
                </a:solidFill>
                <a:latin typeface="Courier New" pitchFamily="34" charset="0"/>
                <a:ea typeface="Courier New" pitchFamily="34" charset="-122"/>
                <a:cs typeface="Courier New" pitchFamily="34" charset="-120"/>
              </a:rPr>
              <a:t>200 ms</a:t>
            </a:r>
            <a:endParaRPr lang="en-US" sz="1150" dirty="0"/>
          </a:p>
        </p:txBody>
      </p:sp>
      <p:sp>
        <p:nvSpPr>
          <p:cNvPr id="32" name="Text 30"/>
          <p:cNvSpPr txBox="1"/>
          <p:nvPr/>
        </p:nvSpPr>
        <p:spPr>
          <a:xfrm>
            <a:off x="6035040" y="4480560"/>
            <a:ext cx="2743200" cy="292608"/>
          </a:xfrm>
          <a:prstGeom prst="rect">
            <a:avLst/>
          </a:prstGeom>
          <a:noFill/>
          <a:ln/>
        </p:spPr>
        <p:txBody>
          <a:bodyPr wrap="square" lIns="0" tIns="0" rIns="0" bIns="0" rtlCol="0" anchor="t"/>
          <a:lstStyle/>
          <a:p>
            <a:pPr marL="0" indent="0">
              <a:buNone/>
            </a:pPr>
            <a:r>
              <a:rPr lang="en-US" sz="1150" dirty="0">
                <a:solidFill>
                  <a:srgbClr val="5B6670"/>
                </a:solidFill>
                <a:latin typeface="Calibri" pitchFamily="34" charset="0"/>
                <a:ea typeface="Calibri" pitchFamily="34" charset="-122"/>
                <a:cs typeface="Calibri" pitchFamily="34" charset="-120"/>
              </a:rPr>
              <a:t>sin límite de peticiones</a:t>
            </a:r>
            <a:endParaRPr lang="en-US" sz="1150" dirty="0"/>
          </a:p>
        </p:txBody>
      </p:sp>
      <p:sp>
        <p:nvSpPr>
          <p:cNvPr id="33" name="Text 31"/>
          <p:cNvSpPr txBox="1"/>
          <p:nvPr/>
        </p:nvSpPr>
        <p:spPr>
          <a:xfrm>
            <a:off x="548640" y="4965192"/>
            <a:ext cx="914400" cy="274320"/>
          </a:xfrm>
          <a:prstGeom prst="rect">
            <a:avLst/>
          </a:prstGeom>
          <a:noFill/>
          <a:ln/>
        </p:spPr>
        <p:txBody>
          <a:bodyPr wrap="square" lIns="0" tIns="0" rIns="0" bIns="0" rtlCol="0" anchor="t"/>
          <a:lstStyle/>
          <a:p>
            <a:pPr marL="0" indent="0">
              <a:buNone/>
            </a:pPr>
            <a:r>
              <a:rPr lang="en-US" sz="950" b="1" dirty="0">
                <a:solidFill>
                  <a:srgbClr val="5B6670"/>
                </a:solidFill>
                <a:latin typeface="Calibri" pitchFamily="34" charset="0"/>
                <a:ea typeface="Calibri" pitchFamily="34" charset="-122"/>
                <a:cs typeface="Calibri" pitchFamily="34" charset="-120"/>
              </a:rPr>
              <a:t>YA COBRADO</a:t>
            </a:r>
            <a:endParaRPr lang="en-US" sz="950" dirty="0"/>
          </a:p>
        </p:txBody>
      </p:sp>
      <p:sp>
        <p:nvSpPr>
          <p:cNvPr id="34" name="Text 32"/>
          <p:cNvSpPr txBox="1"/>
          <p:nvPr/>
        </p:nvSpPr>
        <p:spPr>
          <a:xfrm>
            <a:off x="1417320" y="4937760"/>
            <a:ext cx="1051560" cy="274320"/>
          </a:xfrm>
          <a:prstGeom prst="rect">
            <a:avLst/>
          </a:prstGeom>
          <a:noFill/>
          <a:ln/>
        </p:spPr>
        <p:txBody>
          <a:bodyPr wrap="square" lIns="0" tIns="0" rIns="0" bIns="0" rtlCol="0" anchor="t"/>
          <a:lstStyle/>
          <a:p>
            <a:pPr marL="0" indent="0">
              <a:buNone/>
            </a:pPr>
            <a:r>
              <a:rPr lang="en-US" sz="1300" b="1" dirty="0">
                <a:solidFill>
                  <a:srgbClr val="1F2933"/>
                </a:solidFill>
                <a:latin typeface="Calibri" pitchFamily="34" charset="0"/>
                <a:ea typeface="Calibri" pitchFamily="34" charset="-122"/>
                <a:cs typeface="Calibri" pitchFamily="34" charset="-120"/>
              </a:rPr>
              <a:t>SUNAT</a:t>
            </a:r>
            <a:endParaRPr lang="en-US" sz="1300" dirty="0"/>
          </a:p>
        </p:txBody>
      </p:sp>
      <p:sp>
        <p:nvSpPr>
          <p:cNvPr id="35" name="Shape 33"/>
          <p:cNvSpPr/>
          <p:nvPr/>
        </p:nvSpPr>
        <p:spPr>
          <a:xfrm>
            <a:off x="2514600" y="4983480"/>
            <a:ext cx="2743200" cy="201168"/>
          </a:xfrm>
          <a:prstGeom prst="rect">
            <a:avLst/>
          </a:prstGeom>
          <a:solidFill>
            <a:srgbClr val="8A939B"/>
          </a:solidFill>
          <a:ln/>
        </p:spPr>
      </p:sp>
      <p:sp>
        <p:nvSpPr>
          <p:cNvPr id="36" name="Text 34"/>
          <p:cNvSpPr txBox="1"/>
          <p:nvPr/>
        </p:nvSpPr>
        <p:spPr>
          <a:xfrm>
            <a:off x="5330952" y="4937760"/>
            <a:ext cx="731520" cy="274320"/>
          </a:xfrm>
          <a:prstGeom prst="rect">
            <a:avLst/>
          </a:prstGeom>
          <a:noFill/>
          <a:ln/>
        </p:spPr>
        <p:txBody>
          <a:bodyPr wrap="square" lIns="0" tIns="0" rIns="0" bIns="0" rtlCol="0" anchor="t"/>
          <a:lstStyle/>
          <a:p>
            <a:pPr marL="0" indent="0">
              <a:buNone/>
            </a:pPr>
            <a:r>
              <a:rPr lang="en-US" sz="1150" dirty="0">
                <a:solidFill>
                  <a:srgbClr val="1F2933"/>
                </a:solidFill>
                <a:latin typeface="Courier New" pitchFamily="34" charset="0"/>
                <a:ea typeface="Courier New" pitchFamily="34" charset="-122"/>
                <a:cs typeface="Courier New" pitchFamily="34" charset="-120"/>
              </a:rPr>
              <a:t>15 s</a:t>
            </a:r>
            <a:endParaRPr lang="en-US" sz="1150" dirty="0"/>
          </a:p>
        </p:txBody>
      </p:sp>
      <p:sp>
        <p:nvSpPr>
          <p:cNvPr id="37" name="Text 35"/>
          <p:cNvSpPr txBox="1"/>
          <p:nvPr/>
        </p:nvSpPr>
        <p:spPr>
          <a:xfrm>
            <a:off x="6035040" y="4937760"/>
            <a:ext cx="2743200" cy="292608"/>
          </a:xfrm>
          <a:prstGeom prst="rect">
            <a:avLst/>
          </a:prstGeom>
          <a:noFill/>
          <a:ln/>
        </p:spPr>
        <p:txBody>
          <a:bodyPr wrap="square" lIns="0" tIns="0" rIns="0" bIns="0" rtlCol="0" anchor="t"/>
          <a:lstStyle/>
          <a:p>
            <a:pPr marL="0" indent="0">
              <a:buNone/>
            </a:pPr>
            <a:r>
              <a:rPr lang="en-US" sz="1150" dirty="0">
                <a:solidFill>
                  <a:srgbClr val="5B6670"/>
                </a:solidFill>
                <a:latin typeface="Calibri" pitchFamily="34" charset="0"/>
                <a:ea typeface="Calibri" pitchFamily="34" charset="-122"/>
                <a:cs typeface="Calibri" pitchFamily="34" charset="-120"/>
              </a:rPr>
              <a:t>pendiente, reintenta cada 5 s</a:t>
            </a:r>
            <a:endParaRPr lang="en-US" sz="1150" dirty="0"/>
          </a:p>
        </p:txBody>
      </p:sp>
      <p:sp>
        <p:nvSpPr>
          <p:cNvPr id="38" name="Text 36"/>
          <p:cNvSpPr txBox="1"/>
          <p:nvPr/>
        </p:nvSpPr>
        <p:spPr>
          <a:xfrm>
            <a:off x="548640" y="5440680"/>
            <a:ext cx="6035040" cy="274320"/>
          </a:xfrm>
          <a:prstGeom prst="rect">
            <a:avLst/>
          </a:prstGeom>
          <a:noFill/>
          <a:ln/>
        </p:spPr>
        <p:txBody>
          <a:bodyPr wrap="square" lIns="0" tIns="0" rIns="0" bIns="0" rtlCol="0" anchor="t"/>
          <a:lstStyle/>
          <a:p>
            <a:pPr marL="0" indent="0">
              <a:buNone/>
            </a:pPr>
            <a:r>
              <a:rPr lang="en-US" sz="1100" dirty="0">
                <a:solidFill>
                  <a:srgbClr val="5B6670"/>
                </a:solidFill>
                <a:latin typeface="Calibri" pitchFamily="34" charset="0"/>
                <a:ea typeface="Calibri" pitchFamily="34" charset="-122"/>
                <a:cs typeface="Calibri" pitchFamily="34" charset="-120"/>
              </a:rPr>
              <a:t>Rojo: impide la venta.   Ámbar: sigue con menos.   Gris: pasa después de cobrar.</a:t>
            </a:r>
            <a:endParaRPr lang="en-US" sz="1100" dirty="0"/>
          </a:p>
        </p:txBody>
      </p:sp>
      <p:sp>
        <p:nvSpPr>
          <p:cNvPr id="39" name="Shape 37"/>
          <p:cNvSpPr/>
          <p:nvPr/>
        </p:nvSpPr>
        <p:spPr>
          <a:xfrm>
            <a:off x="8915400" y="2103120"/>
            <a:ext cx="2697480" cy="4251960"/>
          </a:xfrm>
          <a:prstGeom prst="roundRect">
            <a:avLst>
              <a:gd name="adj" fmla="val 2712"/>
            </a:avLst>
          </a:prstGeom>
          <a:solidFill>
            <a:srgbClr val="EEF1F3"/>
          </a:solidFill>
          <a:ln/>
        </p:spPr>
      </p:sp>
      <p:sp>
        <p:nvSpPr>
          <p:cNvPr id="40" name="Text 38"/>
          <p:cNvSpPr txBox="1"/>
          <p:nvPr/>
        </p:nvSpPr>
        <p:spPr>
          <a:xfrm>
            <a:off x="9098280" y="2212848"/>
            <a:ext cx="2377440" cy="320040"/>
          </a:xfrm>
          <a:prstGeom prst="rect">
            <a:avLst/>
          </a:prstGeom>
          <a:noFill/>
          <a:ln/>
        </p:spPr>
        <p:txBody>
          <a:bodyPr wrap="square" lIns="0" tIns="0" rIns="0" bIns="0" rtlCol="0" anchor="t"/>
          <a:lstStyle/>
          <a:p>
            <a:pPr marL="0" indent="0">
              <a:buNone/>
            </a:pPr>
            <a:r>
              <a:rPr lang="en-US" sz="1500" b="1" dirty="0">
                <a:solidFill>
                  <a:srgbClr val="1F2933"/>
                </a:solidFill>
                <a:latin typeface="Calibri" pitchFamily="34" charset="0"/>
                <a:ea typeface="Calibri" pitchFamily="34" charset="-122"/>
                <a:cs typeface="Calibri" pitchFamily="34" charset="-120"/>
              </a:rPr>
              <a:t>Circuit breaker</a:t>
            </a:r>
            <a:endParaRPr lang="en-US" sz="1500" dirty="0"/>
          </a:p>
        </p:txBody>
      </p:sp>
      <p:sp>
        <p:nvSpPr>
          <p:cNvPr id="41" name="Text 39"/>
          <p:cNvSpPr txBox="1"/>
          <p:nvPr/>
        </p:nvSpPr>
        <p:spPr>
          <a:xfrm>
            <a:off x="9098280" y="2532888"/>
            <a:ext cx="2377440" cy="274320"/>
          </a:xfrm>
          <a:prstGeom prst="rect">
            <a:avLst/>
          </a:prstGeom>
          <a:noFill/>
          <a:ln/>
        </p:spPr>
        <p:txBody>
          <a:bodyPr wrap="square" lIns="0" tIns="0" rIns="0" bIns="0" rtlCol="0" anchor="t"/>
          <a:lstStyle/>
          <a:p>
            <a:pPr marL="0" indent="0">
              <a:buNone/>
            </a:pPr>
            <a:r>
              <a:rPr lang="en-US" sz="1150" i="1" dirty="0">
                <a:solidFill>
                  <a:srgbClr val="9A6A0C"/>
                </a:solidFill>
                <a:latin typeface="Calibri" pitchFamily="34" charset="0"/>
                <a:ea typeface="Calibri" pitchFamily="34" charset="-122"/>
                <a:cs typeface="Calibri" pitchFamily="34" charset="-120"/>
              </a:rPr>
              <a:t>como la llave térmica de la casa</a:t>
            </a:r>
            <a:endParaRPr lang="en-US" sz="1150" dirty="0"/>
          </a:p>
        </p:txBody>
      </p:sp>
      <p:sp>
        <p:nvSpPr>
          <p:cNvPr id="42" name="Shape 40"/>
          <p:cNvSpPr/>
          <p:nvPr/>
        </p:nvSpPr>
        <p:spPr>
          <a:xfrm>
            <a:off x="9098280" y="2926080"/>
            <a:ext cx="2331720" cy="868680"/>
          </a:xfrm>
          <a:prstGeom prst="roundRect">
            <a:avLst>
              <a:gd name="adj" fmla="val 8421"/>
            </a:avLst>
          </a:prstGeom>
          <a:solidFill>
            <a:srgbClr val="E3F1EC"/>
          </a:solidFill>
          <a:ln w="15875">
            <a:solidFill>
              <a:srgbClr val="0F6E57"/>
            </a:solidFill>
            <a:prstDash val="solid"/>
          </a:ln>
        </p:spPr>
      </p:sp>
      <p:sp>
        <p:nvSpPr>
          <p:cNvPr id="43" name="Text 41"/>
          <p:cNvSpPr txBox="1"/>
          <p:nvPr/>
        </p:nvSpPr>
        <p:spPr>
          <a:xfrm>
            <a:off x="9189720" y="2990088"/>
            <a:ext cx="2148840" cy="256032"/>
          </a:xfrm>
          <a:prstGeom prst="rect">
            <a:avLst/>
          </a:prstGeom>
          <a:noFill/>
          <a:ln/>
        </p:spPr>
        <p:txBody>
          <a:bodyPr wrap="square" lIns="0" tIns="0" rIns="0" bIns="0" rtlCol="0" anchor="t"/>
          <a:lstStyle/>
          <a:p>
            <a:pPr marL="0" indent="0" algn="ctr">
              <a:buNone/>
            </a:pPr>
            <a:r>
              <a:rPr lang="en-US" sz="1150" b="1" dirty="0">
                <a:solidFill>
                  <a:srgbClr val="1F2933"/>
                </a:solidFill>
                <a:latin typeface="Courier New" pitchFamily="34" charset="0"/>
                <a:ea typeface="Courier New" pitchFamily="34" charset="-122"/>
                <a:cs typeface="Courier New" pitchFamily="34" charset="-120"/>
              </a:rPr>
              <a:t>CERRADO</a:t>
            </a:r>
            <a:endParaRPr lang="en-US" sz="1150" dirty="0"/>
          </a:p>
        </p:txBody>
      </p:sp>
      <p:sp>
        <p:nvSpPr>
          <p:cNvPr id="44" name="Text 42"/>
          <p:cNvSpPr txBox="1"/>
          <p:nvPr/>
        </p:nvSpPr>
        <p:spPr>
          <a:xfrm>
            <a:off x="9189720" y="3255264"/>
            <a:ext cx="2148840" cy="502920"/>
          </a:xfrm>
          <a:prstGeom prst="rect">
            <a:avLst/>
          </a:prstGeom>
          <a:noFill/>
          <a:ln/>
        </p:spPr>
        <p:txBody>
          <a:bodyPr wrap="square" lIns="0" tIns="0" rIns="0" bIns="0" rtlCol="0" anchor="t"/>
          <a:lstStyle/>
          <a:p>
            <a:pPr marL="0" indent="0" algn="ctr">
              <a:buNone/>
            </a:pPr>
            <a:r>
              <a:rPr lang="en-US" sz="1050" dirty="0">
                <a:solidFill>
                  <a:srgbClr val="5B6670"/>
                </a:solidFill>
                <a:latin typeface="Calibri" pitchFamily="34" charset="0"/>
                <a:ea typeface="Calibri" pitchFamily="34" charset="-122"/>
                <a:cs typeface="Calibri" pitchFamily="34" charset="-120"/>
              </a:rPr>
              <a:t>llama normal</a:t>
            </a:r>
            <a:endParaRPr lang="en-US" sz="1050" dirty="0"/>
          </a:p>
        </p:txBody>
      </p:sp>
      <p:sp>
        <p:nvSpPr>
          <p:cNvPr id="45" name="Shape 43"/>
          <p:cNvSpPr/>
          <p:nvPr/>
        </p:nvSpPr>
        <p:spPr>
          <a:xfrm>
            <a:off x="10259568" y="3794760"/>
            <a:ext cx="0" cy="228600"/>
          </a:xfrm>
          <a:prstGeom prst="line">
            <a:avLst/>
          </a:prstGeom>
          <a:noFill/>
          <a:ln w="22225">
            <a:solidFill>
              <a:srgbClr val="5B6670"/>
            </a:solidFill>
            <a:prstDash val="solid"/>
            <a:tailEnd type="triangle"/>
          </a:ln>
        </p:spPr>
      </p:sp>
      <p:sp>
        <p:nvSpPr>
          <p:cNvPr id="46" name="Shape 44"/>
          <p:cNvSpPr/>
          <p:nvPr/>
        </p:nvSpPr>
        <p:spPr>
          <a:xfrm>
            <a:off x="9098280" y="4023360"/>
            <a:ext cx="2331720" cy="868680"/>
          </a:xfrm>
          <a:prstGeom prst="roundRect">
            <a:avLst>
              <a:gd name="adj" fmla="val 8421"/>
            </a:avLst>
          </a:prstGeom>
          <a:solidFill>
            <a:srgbClr val="FBE7DD"/>
          </a:solidFill>
          <a:ln w="15875">
            <a:solidFill>
              <a:srgbClr val="B83A0E"/>
            </a:solidFill>
            <a:prstDash val="solid"/>
          </a:ln>
        </p:spPr>
      </p:sp>
      <p:sp>
        <p:nvSpPr>
          <p:cNvPr id="47" name="Text 45"/>
          <p:cNvSpPr txBox="1"/>
          <p:nvPr/>
        </p:nvSpPr>
        <p:spPr>
          <a:xfrm>
            <a:off x="9189720" y="4087368"/>
            <a:ext cx="2148840" cy="256032"/>
          </a:xfrm>
          <a:prstGeom prst="rect">
            <a:avLst/>
          </a:prstGeom>
          <a:noFill/>
          <a:ln/>
        </p:spPr>
        <p:txBody>
          <a:bodyPr wrap="square" lIns="0" tIns="0" rIns="0" bIns="0" rtlCol="0" anchor="t"/>
          <a:lstStyle/>
          <a:p>
            <a:pPr marL="0" indent="0" algn="ctr">
              <a:buNone/>
            </a:pPr>
            <a:r>
              <a:rPr lang="en-US" sz="1150" b="1" dirty="0">
                <a:solidFill>
                  <a:srgbClr val="1F2933"/>
                </a:solidFill>
                <a:latin typeface="Courier New" pitchFamily="34" charset="0"/>
                <a:ea typeface="Courier New" pitchFamily="34" charset="-122"/>
                <a:cs typeface="Courier New" pitchFamily="34" charset="-120"/>
              </a:rPr>
              <a:t>ABIERTO</a:t>
            </a:r>
            <a:endParaRPr lang="en-US" sz="1150" dirty="0"/>
          </a:p>
        </p:txBody>
      </p:sp>
      <p:sp>
        <p:nvSpPr>
          <p:cNvPr id="48" name="Text 46"/>
          <p:cNvSpPr txBox="1"/>
          <p:nvPr/>
        </p:nvSpPr>
        <p:spPr>
          <a:xfrm>
            <a:off x="9189720" y="4352544"/>
            <a:ext cx="2148840" cy="502920"/>
          </a:xfrm>
          <a:prstGeom prst="rect">
            <a:avLst/>
          </a:prstGeom>
          <a:noFill/>
          <a:ln/>
        </p:spPr>
        <p:txBody>
          <a:bodyPr wrap="square" lIns="0" tIns="0" rIns="0" bIns="0" rtlCol="0" anchor="t"/>
          <a:lstStyle/>
          <a:p>
            <a:pPr marL="0" indent="0" algn="ctr">
              <a:buNone/>
            </a:pPr>
            <a:r>
              <a:rPr lang="en-US" sz="1050" dirty="0">
                <a:solidFill>
                  <a:srgbClr val="5B6670"/>
                </a:solidFill>
                <a:latin typeface="Calibri" pitchFamily="34" charset="0"/>
                <a:ea typeface="Calibri" pitchFamily="34" charset="-122"/>
                <a:cs typeface="Calibri" pitchFamily="34" charset="-120"/>
              </a:rPr>
              <a:t>falló la mitad de 20: plan B directo por 10 s</a:t>
            </a:r>
            <a:endParaRPr lang="en-US" sz="1050" dirty="0"/>
          </a:p>
        </p:txBody>
      </p:sp>
      <p:sp>
        <p:nvSpPr>
          <p:cNvPr id="49" name="Shape 47"/>
          <p:cNvSpPr/>
          <p:nvPr/>
        </p:nvSpPr>
        <p:spPr>
          <a:xfrm>
            <a:off x="10259568" y="4892040"/>
            <a:ext cx="0" cy="228600"/>
          </a:xfrm>
          <a:prstGeom prst="line">
            <a:avLst/>
          </a:prstGeom>
          <a:noFill/>
          <a:ln w="22225">
            <a:solidFill>
              <a:srgbClr val="5B6670"/>
            </a:solidFill>
            <a:prstDash val="solid"/>
            <a:tailEnd type="triangle"/>
          </a:ln>
        </p:spPr>
      </p:sp>
      <p:sp>
        <p:nvSpPr>
          <p:cNvPr id="50" name="Shape 48"/>
          <p:cNvSpPr/>
          <p:nvPr/>
        </p:nvSpPr>
        <p:spPr>
          <a:xfrm>
            <a:off x="9098280" y="5120640"/>
            <a:ext cx="2331720" cy="868680"/>
          </a:xfrm>
          <a:prstGeom prst="roundRect">
            <a:avLst>
              <a:gd name="adj" fmla="val 8421"/>
            </a:avLst>
          </a:prstGeom>
          <a:solidFill>
            <a:srgbClr val="FBF1D9"/>
          </a:solidFill>
          <a:ln w="15875">
            <a:solidFill>
              <a:srgbClr val="9A6A0C"/>
            </a:solidFill>
            <a:prstDash val="solid"/>
          </a:ln>
        </p:spPr>
      </p:sp>
      <p:sp>
        <p:nvSpPr>
          <p:cNvPr id="51" name="Text 49"/>
          <p:cNvSpPr txBox="1"/>
          <p:nvPr/>
        </p:nvSpPr>
        <p:spPr>
          <a:xfrm>
            <a:off x="9189720" y="5184648"/>
            <a:ext cx="2148840" cy="256032"/>
          </a:xfrm>
          <a:prstGeom prst="rect">
            <a:avLst/>
          </a:prstGeom>
          <a:noFill/>
          <a:ln/>
        </p:spPr>
        <p:txBody>
          <a:bodyPr wrap="square" lIns="0" tIns="0" rIns="0" bIns="0" rtlCol="0" anchor="t"/>
          <a:lstStyle/>
          <a:p>
            <a:pPr marL="0" indent="0" algn="ctr">
              <a:buNone/>
            </a:pPr>
            <a:r>
              <a:rPr lang="en-US" sz="1150" b="1" dirty="0">
                <a:solidFill>
                  <a:srgbClr val="1F2933"/>
                </a:solidFill>
                <a:latin typeface="Courier New" pitchFamily="34" charset="0"/>
                <a:ea typeface="Courier New" pitchFamily="34" charset="-122"/>
                <a:cs typeface="Courier New" pitchFamily="34" charset="-120"/>
              </a:rPr>
              <a:t>MEDIO ABIERTO</a:t>
            </a:r>
            <a:endParaRPr lang="en-US" sz="1150" dirty="0"/>
          </a:p>
        </p:txBody>
      </p:sp>
      <p:sp>
        <p:nvSpPr>
          <p:cNvPr id="52" name="Text 50"/>
          <p:cNvSpPr txBox="1"/>
          <p:nvPr/>
        </p:nvSpPr>
        <p:spPr>
          <a:xfrm>
            <a:off x="9189720" y="5449824"/>
            <a:ext cx="2148840" cy="502920"/>
          </a:xfrm>
          <a:prstGeom prst="rect">
            <a:avLst/>
          </a:prstGeom>
          <a:noFill/>
          <a:ln/>
        </p:spPr>
        <p:txBody>
          <a:bodyPr wrap="square" lIns="0" tIns="0" rIns="0" bIns="0" rtlCol="0" anchor="t"/>
          <a:lstStyle/>
          <a:p>
            <a:pPr marL="0" indent="0" algn="ctr">
              <a:buNone/>
            </a:pPr>
            <a:r>
              <a:rPr lang="en-US" sz="1050" dirty="0">
                <a:solidFill>
                  <a:srgbClr val="5B6670"/>
                </a:solidFill>
                <a:latin typeface="Calibri" pitchFamily="34" charset="0"/>
                <a:ea typeface="Calibri" pitchFamily="34" charset="-122"/>
                <a:cs typeface="Calibri" pitchFamily="34" charset="-120"/>
              </a:rPr>
              <a:t>prueba con 3 llamadas</a:t>
            </a:r>
            <a:endParaRPr lang="en-US" sz="1050" dirty="0"/>
          </a:p>
        </p:txBody>
      </p:sp>
      <p:sp>
        <p:nvSpPr>
          <p:cNvPr id="53" name="Shape 51"/>
          <p:cNvSpPr/>
          <p:nvPr/>
        </p:nvSpPr>
        <p:spPr>
          <a:xfrm>
            <a:off x="548640" y="5760720"/>
            <a:ext cx="8138160" cy="640080"/>
          </a:xfrm>
          <a:prstGeom prst="roundRect">
            <a:avLst>
              <a:gd name="adj" fmla="val 11429"/>
            </a:avLst>
          </a:prstGeom>
          <a:solidFill>
            <a:srgbClr val="FBF1D9"/>
          </a:solidFill>
          <a:ln/>
        </p:spPr>
      </p:sp>
      <p:sp>
        <p:nvSpPr>
          <p:cNvPr id="54" name="Text 52"/>
          <p:cNvSpPr txBox="1"/>
          <p:nvPr/>
        </p:nvSpPr>
        <p:spPr>
          <a:xfrm>
            <a:off x="731520" y="5870448"/>
            <a:ext cx="7772400" cy="457200"/>
          </a:xfrm>
          <a:prstGeom prst="rect">
            <a:avLst/>
          </a:prstGeom>
          <a:noFill/>
          <a:ln/>
        </p:spPr>
        <p:txBody>
          <a:bodyPr wrap="square" lIns="0" tIns="0" rIns="0" bIns="0" rtlCol="0" anchor="ctr"/>
          <a:lstStyle/>
          <a:p>
            <a:pPr marL="0" indent="0">
              <a:buNone/>
            </a:pPr>
            <a:r>
              <a:rPr lang="en-US" sz="1400" b="1" dirty="0">
                <a:solidFill>
                  <a:srgbClr val="9A6A0C"/>
                </a:solidFill>
                <a:latin typeface="Calibri" pitchFamily="34" charset="0"/>
                <a:ea typeface="Calibri" pitchFamily="34" charset="-122"/>
                <a:cs typeface="Calibri" pitchFamily="34" charset="-120"/>
              </a:rPr>
              <a:t>Para entenderlo: </a:t>
            </a:r>
            <a:r>
              <a:rPr lang="en-US" sz="1400" dirty="0">
                <a:solidFill>
                  <a:srgbClr val="1F2933"/>
                </a:solidFill>
                <a:latin typeface="Calibri" pitchFamily="34" charset="0"/>
                <a:ea typeface="Calibri" pitchFamily="34" charset="-122"/>
                <a:cs typeface="Calibri" pitchFamily="34" charset="-120"/>
              </a:rPr>
              <a:t>negarse a cobrar porque el descuento no responde no es resiliente: le hace perder la venta a la botica.</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972800" cy="274320"/>
          </a:xfrm>
          <a:prstGeom prst="rect">
            <a:avLst/>
          </a:prstGeom>
          <a:noFill/>
          <a:ln/>
        </p:spPr>
        <p:txBody>
          <a:bodyPr wrap="square" lIns="0" tIns="0" rIns="0" bIns="0" rtlCol="0" anchor="t"/>
          <a:lstStyle/>
          <a:p>
            <a:pPr marL="0" indent="0">
              <a:buNone/>
            </a:pPr>
            <a:r>
              <a:rPr lang="en-US" sz="1100" b="1" kern="0" spc="200" dirty="0">
                <a:solidFill>
                  <a:srgbClr val="0F6E57"/>
                </a:solidFill>
                <a:latin typeface="Calibri" pitchFamily="34" charset="0"/>
                <a:ea typeface="Calibri" pitchFamily="34" charset="-122"/>
                <a:cs typeface="Calibri" pitchFamily="34" charset="-120"/>
              </a:rPr>
              <a:t>BLOQUE 2, JAVIER</a:t>
            </a:r>
            <a:endParaRPr lang="en-US" sz="1100" dirty="0"/>
          </a:p>
        </p:txBody>
      </p:sp>
      <p:sp>
        <p:nvSpPr>
          <p:cNvPr id="3" name="Text 1"/>
          <p:cNvSpPr txBox="1"/>
          <p:nvPr/>
        </p:nvSpPr>
        <p:spPr>
          <a:xfrm>
            <a:off x="548640" y="594360"/>
            <a:ext cx="11064240" cy="685800"/>
          </a:xfrm>
          <a:prstGeom prst="rect">
            <a:avLst/>
          </a:prstGeom>
          <a:noFill/>
          <a:ln/>
        </p:spPr>
        <p:txBody>
          <a:bodyPr wrap="square" lIns="0" tIns="0" rIns="0" bIns="0" rtlCol="0" anchor="t"/>
          <a:lstStyle/>
          <a:p>
            <a:pPr marL="0" indent="0">
              <a:buNone/>
            </a:pPr>
            <a:r>
              <a:rPr lang="en-US" sz="3000" b="1" dirty="0">
                <a:solidFill>
                  <a:srgbClr val="1F2933"/>
                </a:solidFill>
                <a:latin typeface="Cambria" pitchFamily="34" charset="0"/>
                <a:ea typeface="Cambria" pitchFamily="34" charset="-122"/>
                <a:cs typeface="Cambria" pitchFamily="34" charset="-120"/>
              </a:rPr>
              <a:t>Lo probamos rompiendo piezas mientras se vendía</a:t>
            </a:r>
            <a:endParaRPr lang="en-US" sz="3000" dirty="0"/>
          </a:p>
        </p:txBody>
      </p:sp>
      <p:sp>
        <p:nvSpPr>
          <p:cNvPr id="4" name="Shape 2"/>
          <p:cNvSpPr/>
          <p:nvPr/>
        </p:nvSpPr>
        <p:spPr>
          <a:xfrm>
            <a:off x="548640" y="1463040"/>
            <a:ext cx="3474720" cy="1417320"/>
          </a:xfrm>
          <a:prstGeom prst="roundRect">
            <a:avLst>
              <a:gd name="adj" fmla="val 5161"/>
            </a:avLst>
          </a:prstGeom>
          <a:solidFill>
            <a:srgbClr val="E3F1EC"/>
          </a:solidFill>
          <a:ln/>
        </p:spPr>
      </p:sp>
      <p:sp>
        <p:nvSpPr>
          <p:cNvPr id="5" name="Shape 3"/>
          <p:cNvSpPr/>
          <p:nvPr/>
        </p:nvSpPr>
        <p:spPr>
          <a:xfrm>
            <a:off x="731520" y="1645920"/>
            <a:ext cx="411480" cy="411480"/>
          </a:xfrm>
          <a:prstGeom prst="ellipse">
            <a:avLst/>
          </a:prstGeom>
          <a:solidFill>
            <a:srgbClr val="0F6E57"/>
          </a:solidFill>
          <a:ln/>
        </p:spPr>
      </p:sp>
      <p:sp>
        <p:nvSpPr>
          <p:cNvPr id="6" name="Text 4"/>
          <p:cNvSpPr txBox="1"/>
          <p:nvPr/>
        </p:nvSpPr>
        <p:spPr>
          <a:xfrm>
            <a:off x="731520" y="1645920"/>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280160" y="1664208"/>
            <a:ext cx="2606040" cy="365760"/>
          </a:xfrm>
          <a:prstGeom prst="rect">
            <a:avLst/>
          </a:prstGeom>
          <a:noFill/>
          <a:ln/>
        </p:spPr>
        <p:txBody>
          <a:bodyPr wrap="square" lIns="0" tIns="0" rIns="0" bIns="0" rtlCol="0" anchor="t"/>
          <a:lstStyle/>
          <a:p>
            <a:pPr marL="0" indent="0">
              <a:buNone/>
            </a:pPr>
            <a:r>
              <a:rPr lang="en-US" sz="1450" b="1" dirty="0">
                <a:solidFill>
                  <a:srgbClr val="1F2933"/>
                </a:solidFill>
                <a:latin typeface="Calibri" pitchFamily="34" charset="0"/>
                <a:ea typeface="Calibri" pitchFamily="34" charset="-122"/>
                <a:cs typeface="Calibri" pitchFamily="34" charset="-120"/>
              </a:rPr>
              <a:t>Apagamos facturación</a:t>
            </a:r>
            <a:endParaRPr lang="en-US" sz="1450" dirty="0"/>
          </a:p>
        </p:txBody>
      </p:sp>
      <p:sp>
        <p:nvSpPr>
          <p:cNvPr id="8" name="Text 6"/>
          <p:cNvSpPr txBox="1"/>
          <p:nvPr/>
        </p:nvSpPr>
        <p:spPr>
          <a:xfrm>
            <a:off x="777240" y="2148840"/>
            <a:ext cx="3108960" cy="685800"/>
          </a:xfrm>
          <a:prstGeom prst="rect">
            <a:avLst/>
          </a:prstGeom>
          <a:noFill/>
          <a:ln/>
        </p:spPr>
        <p:txBody>
          <a:bodyPr wrap="square" lIns="0" tIns="0" rIns="0" bIns="0" rtlCol="0" anchor="t"/>
          <a:lstStyle/>
          <a:p>
            <a:pPr marL="0" indent="0">
              <a:buNone/>
            </a:pPr>
            <a:r>
              <a:rPr lang="en-US" sz="1250" dirty="0">
                <a:solidFill>
                  <a:srgbClr val="5B6670"/>
                </a:solidFill>
                <a:latin typeface="Calibri" pitchFamily="34" charset="0"/>
                <a:ea typeface="Calibri" pitchFamily="34" charset="-122"/>
                <a:cs typeface="Calibri" pitchFamily="34" charset="-120"/>
              </a:rPr>
              <a:t>Las cajas vendieron igual. Al volver, emitió los comprobantes pendientes.</a:t>
            </a:r>
            <a:endParaRPr lang="en-US" sz="1250" dirty="0"/>
          </a:p>
        </p:txBody>
      </p:sp>
      <p:sp>
        <p:nvSpPr>
          <p:cNvPr id="9" name="Shape 7"/>
          <p:cNvSpPr/>
          <p:nvPr/>
        </p:nvSpPr>
        <p:spPr>
          <a:xfrm>
            <a:off x="4206240" y="1463040"/>
            <a:ext cx="3474720" cy="1417320"/>
          </a:xfrm>
          <a:prstGeom prst="roundRect">
            <a:avLst>
              <a:gd name="adj" fmla="val 5161"/>
            </a:avLst>
          </a:prstGeom>
          <a:solidFill>
            <a:srgbClr val="E3F1EC"/>
          </a:solidFill>
          <a:ln/>
        </p:spPr>
      </p:sp>
      <p:sp>
        <p:nvSpPr>
          <p:cNvPr id="10" name="Shape 8"/>
          <p:cNvSpPr/>
          <p:nvPr/>
        </p:nvSpPr>
        <p:spPr>
          <a:xfrm>
            <a:off x="4389120" y="1645920"/>
            <a:ext cx="411480" cy="411480"/>
          </a:xfrm>
          <a:prstGeom prst="ellipse">
            <a:avLst/>
          </a:prstGeom>
          <a:solidFill>
            <a:srgbClr val="0F6E57"/>
          </a:solidFill>
          <a:ln/>
        </p:spPr>
      </p:sp>
      <p:sp>
        <p:nvSpPr>
          <p:cNvPr id="11" name="Text 9"/>
          <p:cNvSpPr txBox="1"/>
          <p:nvPr/>
        </p:nvSpPr>
        <p:spPr>
          <a:xfrm>
            <a:off x="4389120" y="1645920"/>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4937760" y="1664208"/>
            <a:ext cx="2606040" cy="365760"/>
          </a:xfrm>
          <a:prstGeom prst="rect">
            <a:avLst/>
          </a:prstGeom>
          <a:noFill/>
          <a:ln/>
        </p:spPr>
        <p:txBody>
          <a:bodyPr wrap="square" lIns="0" tIns="0" rIns="0" bIns="0" rtlCol="0" anchor="t"/>
          <a:lstStyle/>
          <a:p>
            <a:pPr marL="0" indent="0">
              <a:buNone/>
            </a:pPr>
            <a:r>
              <a:rPr lang="en-US" sz="1450" b="1" dirty="0">
                <a:solidFill>
                  <a:srgbClr val="1F2933"/>
                </a:solidFill>
                <a:latin typeface="Calibri" pitchFamily="34" charset="0"/>
                <a:ea typeface="Calibri" pitchFamily="34" charset="-122"/>
                <a:cs typeface="Calibri" pitchFamily="34" charset="-120"/>
              </a:rPr>
              <a:t>La base de facturación falló 8 s</a:t>
            </a:r>
            <a:endParaRPr lang="en-US" sz="1450" dirty="0"/>
          </a:p>
        </p:txBody>
      </p:sp>
      <p:sp>
        <p:nvSpPr>
          <p:cNvPr id="13" name="Text 11"/>
          <p:cNvSpPr txBox="1"/>
          <p:nvPr/>
        </p:nvSpPr>
        <p:spPr>
          <a:xfrm>
            <a:off x="4434840" y="2148840"/>
            <a:ext cx="3108960" cy="685800"/>
          </a:xfrm>
          <a:prstGeom prst="rect">
            <a:avLst/>
          </a:prstGeom>
          <a:noFill/>
          <a:ln/>
        </p:spPr>
        <p:txBody>
          <a:bodyPr wrap="square" lIns="0" tIns="0" rIns="0" bIns="0" rtlCol="0" anchor="t"/>
          <a:lstStyle/>
          <a:p>
            <a:pPr marL="0" indent="0">
              <a:buNone/>
            </a:pPr>
            <a:r>
              <a:rPr lang="en-US" sz="1250" dirty="0">
                <a:solidFill>
                  <a:srgbClr val="5B6670"/>
                </a:solidFill>
                <a:latin typeface="Calibri" pitchFamily="34" charset="0"/>
                <a:ea typeface="Calibri" pitchFamily="34" charset="-122"/>
                <a:cs typeface="Calibri" pitchFamily="34" charset="-120"/>
              </a:rPr>
              <a:t>El consumidor esperó, reintentó y emitió. Nada se descartó.</a:t>
            </a:r>
            <a:endParaRPr lang="en-US" sz="1250" dirty="0"/>
          </a:p>
        </p:txBody>
      </p:sp>
      <p:sp>
        <p:nvSpPr>
          <p:cNvPr id="14" name="Shape 12"/>
          <p:cNvSpPr/>
          <p:nvPr/>
        </p:nvSpPr>
        <p:spPr>
          <a:xfrm>
            <a:off x="548640" y="3063240"/>
            <a:ext cx="3474720" cy="1417320"/>
          </a:xfrm>
          <a:prstGeom prst="roundRect">
            <a:avLst>
              <a:gd name="adj" fmla="val 5161"/>
            </a:avLst>
          </a:prstGeom>
          <a:solidFill>
            <a:srgbClr val="E3F1EC"/>
          </a:solidFill>
          <a:ln/>
        </p:spPr>
      </p:sp>
      <p:sp>
        <p:nvSpPr>
          <p:cNvPr id="15" name="Shape 13"/>
          <p:cNvSpPr/>
          <p:nvPr/>
        </p:nvSpPr>
        <p:spPr>
          <a:xfrm>
            <a:off x="731520" y="3246120"/>
            <a:ext cx="411480" cy="411480"/>
          </a:xfrm>
          <a:prstGeom prst="ellipse">
            <a:avLst/>
          </a:prstGeom>
          <a:solidFill>
            <a:srgbClr val="0F6E57"/>
          </a:solidFill>
          <a:ln/>
        </p:spPr>
      </p:sp>
      <p:sp>
        <p:nvSpPr>
          <p:cNvPr id="16" name="Text 14"/>
          <p:cNvSpPr txBox="1"/>
          <p:nvPr/>
        </p:nvSpPr>
        <p:spPr>
          <a:xfrm>
            <a:off x="731520" y="3246120"/>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1280160" y="3264408"/>
            <a:ext cx="2606040" cy="365760"/>
          </a:xfrm>
          <a:prstGeom prst="rect">
            <a:avLst/>
          </a:prstGeom>
          <a:noFill/>
          <a:ln/>
        </p:spPr>
        <p:txBody>
          <a:bodyPr wrap="square" lIns="0" tIns="0" rIns="0" bIns="0" rtlCol="0" anchor="t"/>
          <a:lstStyle/>
          <a:p>
            <a:pPr marL="0" indent="0">
              <a:buNone/>
            </a:pPr>
            <a:r>
              <a:rPr lang="en-US" sz="1450" b="1" dirty="0">
                <a:solidFill>
                  <a:srgbClr val="1F2933"/>
                </a:solidFill>
                <a:latin typeface="Calibri" pitchFamily="34" charset="0"/>
                <a:ea typeface="Calibri" pitchFamily="34" charset="-122"/>
                <a:cs typeface="Calibri" pitchFamily="34" charset="-120"/>
              </a:rPr>
              <a:t>Metimos un mensaje basura</a:t>
            </a:r>
            <a:endParaRPr lang="en-US" sz="1450" dirty="0"/>
          </a:p>
        </p:txBody>
      </p:sp>
      <p:sp>
        <p:nvSpPr>
          <p:cNvPr id="18" name="Text 16"/>
          <p:cNvSpPr txBox="1"/>
          <p:nvPr/>
        </p:nvSpPr>
        <p:spPr>
          <a:xfrm>
            <a:off x="777240" y="3749040"/>
            <a:ext cx="3108960" cy="685800"/>
          </a:xfrm>
          <a:prstGeom prst="rect">
            <a:avLst/>
          </a:prstGeom>
          <a:noFill/>
          <a:ln/>
        </p:spPr>
        <p:txBody>
          <a:bodyPr wrap="square" lIns="0" tIns="0" rIns="0" bIns="0" rtlCol="0" anchor="t"/>
          <a:lstStyle/>
          <a:p>
            <a:pPr marL="0" indent="0">
              <a:buNone/>
            </a:pPr>
            <a:r>
              <a:rPr lang="en-US" sz="1250" dirty="0">
                <a:solidFill>
                  <a:srgbClr val="5B6670"/>
                </a:solidFill>
                <a:latin typeface="Calibri" pitchFamily="34" charset="0"/>
                <a:ea typeface="Calibri" pitchFamily="34" charset="-122"/>
                <a:cs typeface="Calibri" pitchFamily="34" charset="-120"/>
              </a:rPr>
              <a:t>Quedó en la cola muerta. Las demás ventas siguieron.</a:t>
            </a:r>
            <a:endParaRPr lang="en-US" sz="1250" dirty="0"/>
          </a:p>
        </p:txBody>
      </p:sp>
      <p:sp>
        <p:nvSpPr>
          <p:cNvPr id="19" name="Shape 17"/>
          <p:cNvSpPr/>
          <p:nvPr/>
        </p:nvSpPr>
        <p:spPr>
          <a:xfrm>
            <a:off x="4206240" y="3063240"/>
            <a:ext cx="3474720" cy="1417320"/>
          </a:xfrm>
          <a:prstGeom prst="roundRect">
            <a:avLst>
              <a:gd name="adj" fmla="val 5161"/>
            </a:avLst>
          </a:prstGeom>
          <a:solidFill>
            <a:srgbClr val="E3F1EC"/>
          </a:solidFill>
          <a:ln/>
        </p:spPr>
      </p:sp>
      <p:sp>
        <p:nvSpPr>
          <p:cNvPr id="20" name="Shape 18"/>
          <p:cNvSpPr/>
          <p:nvPr/>
        </p:nvSpPr>
        <p:spPr>
          <a:xfrm>
            <a:off x="4389120" y="3246120"/>
            <a:ext cx="411480" cy="411480"/>
          </a:xfrm>
          <a:prstGeom prst="ellipse">
            <a:avLst/>
          </a:prstGeom>
          <a:solidFill>
            <a:srgbClr val="0F6E57"/>
          </a:solidFill>
          <a:ln/>
        </p:spPr>
      </p:sp>
      <p:sp>
        <p:nvSpPr>
          <p:cNvPr id="21" name="Text 19"/>
          <p:cNvSpPr txBox="1"/>
          <p:nvPr/>
        </p:nvSpPr>
        <p:spPr>
          <a:xfrm>
            <a:off x="4389120" y="3246120"/>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4937760" y="3264408"/>
            <a:ext cx="2606040" cy="365760"/>
          </a:xfrm>
          <a:prstGeom prst="rect">
            <a:avLst/>
          </a:prstGeom>
          <a:noFill/>
          <a:ln/>
        </p:spPr>
        <p:txBody>
          <a:bodyPr wrap="square" lIns="0" tIns="0" rIns="0" bIns="0" rtlCol="0" anchor="t"/>
          <a:lstStyle/>
          <a:p>
            <a:pPr marL="0" indent="0">
              <a:buNone/>
            </a:pPr>
            <a:r>
              <a:rPr lang="en-US" sz="1450" b="1" dirty="0">
                <a:solidFill>
                  <a:srgbClr val="1F2933"/>
                </a:solidFill>
                <a:latin typeface="Calibri" pitchFamily="34" charset="0"/>
                <a:ea typeface="Calibri" pitchFamily="34" charset="-122"/>
                <a:cs typeface="Calibri" pitchFamily="34" charset="-120"/>
              </a:rPr>
              <a:t>Apagamos Kafka entero</a:t>
            </a:r>
            <a:endParaRPr lang="en-US" sz="1450" dirty="0"/>
          </a:p>
        </p:txBody>
      </p:sp>
      <p:sp>
        <p:nvSpPr>
          <p:cNvPr id="23" name="Text 21"/>
          <p:cNvSpPr txBox="1"/>
          <p:nvPr/>
        </p:nvSpPr>
        <p:spPr>
          <a:xfrm>
            <a:off x="4434840" y="3749040"/>
            <a:ext cx="3108960" cy="685800"/>
          </a:xfrm>
          <a:prstGeom prst="rect">
            <a:avLst/>
          </a:prstGeom>
          <a:noFill/>
          <a:ln/>
        </p:spPr>
        <p:txBody>
          <a:bodyPr wrap="square" lIns="0" tIns="0" rIns="0" bIns="0" rtlCol="0" anchor="t"/>
          <a:lstStyle/>
          <a:p>
            <a:pPr marL="0" indent="0">
              <a:buNone/>
            </a:pPr>
            <a:r>
              <a:rPr lang="en-US" sz="1250" dirty="0">
                <a:solidFill>
                  <a:srgbClr val="5B6670"/>
                </a:solidFill>
                <a:latin typeface="Calibri" pitchFamily="34" charset="0"/>
                <a:ea typeface="Calibri" pitchFamily="34" charset="-122"/>
                <a:cs typeface="Calibri" pitchFamily="34" charset="-120"/>
              </a:rPr>
              <a:t>La venta se confirmó. El aviso salió de la outbox al volver Kafka.</a:t>
            </a:r>
            <a:endParaRPr lang="en-US" sz="1250" dirty="0"/>
          </a:p>
        </p:txBody>
      </p:sp>
      <p:sp>
        <p:nvSpPr>
          <p:cNvPr id="24" name="Shape 22"/>
          <p:cNvSpPr/>
          <p:nvPr/>
        </p:nvSpPr>
        <p:spPr>
          <a:xfrm>
            <a:off x="8001000" y="1463040"/>
            <a:ext cx="3611880" cy="3017520"/>
          </a:xfrm>
          <a:prstGeom prst="roundRect">
            <a:avLst>
              <a:gd name="adj" fmla="val 2424"/>
            </a:avLst>
          </a:prstGeom>
          <a:solidFill>
            <a:srgbClr val="0F6E57"/>
          </a:solidFill>
          <a:ln/>
        </p:spPr>
      </p:sp>
      <p:sp>
        <p:nvSpPr>
          <p:cNvPr id="25" name="Text 23"/>
          <p:cNvSpPr txBox="1"/>
          <p:nvPr/>
        </p:nvSpPr>
        <p:spPr>
          <a:xfrm>
            <a:off x="8229600" y="1600200"/>
            <a:ext cx="3200400" cy="274320"/>
          </a:xfrm>
          <a:prstGeom prst="rect">
            <a:avLst/>
          </a:prstGeom>
          <a:noFill/>
          <a:ln/>
        </p:spPr>
        <p:txBody>
          <a:bodyPr wrap="square" lIns="0" tIns="0" rIns="0" bIns="0" rtlCol="0" anchor="t"/>
          <a:lstStyle/>
          <a:p>
            <a:pPr marL="0" indent="0">
              <a:buNone/>
            </a:pPr>
            <a:r>
              <a:rPr lang="en-US" sz="1200" b="1" kern="0" spc="100" dirty="0">
                <a:solidFill>
                  <a:srgbClr val="C9E6DB"/>
                </a:solidFill>
                <a:latin typeface="Calibri" pitchFamily="34" charset="0"/>
                <a:ea typeface="Calibri" pitchFamily="34" charset="-122"/>
                <a:cs typeface="Calibri" pitchFamily="34" charset="-120"/>
              </a:rPr>
              <a:t>EL CUADRE FINAL</a:t>
            </a:r>
            <a:endParaRPr lang="en-US" sz="1200" dirty="0"/>
          </a:p>
        </p:txBody>
      </p:sp>
      <p:sp>
        <p:nvSpPr>
          <p:cNvPr id="26" name="Text 24"/>
          <p:cNvSpPr txBox="1"/>
          <p:nvPr/>
        </p:nvSpPr>
        <p:spPr>
          <a:xfrm>
            <a:off x="8229600" y="2011680"/>
            <a:ext cx="1463040" cy="640080"/>
          </a:xfrm>
          <a:prstGeom prst="rect">
            <a:avLst/>
          </a:prstGeom>
          <a:noFill/>
          <a:ln/>
        </p:spPr>
        <p:txBody>
          <a:bodyPr wrap="square" lIns="0" tIns="0" rIns="0" bIns="0" rtlCol="0" anchor="t"/>
          <a:lstStyle/>
          <a:p>
            <a:pPr marL="0" indent="0">
              <a:buNone/>
            </a:pPr>
            <a:r>
              <a:rPr lang="en-US" sz="4000" b="1" dirty="0">
                <a:solidFill>
                  <a:srgbClr val="FFFFFF"/>
                </a:solidFill>
                <a:latin typeface="Cambria" pitchFamily="34" charset="0"/>
                <a:ea typeface="Cambria" pitchFamily="34" charset="-122"/>
                <a:cs typeface="Cambria" pitchFamily="34" charset="-120"/>
              </a:rPr>
              <a:t>6</a:t>
            </a:r>
            <a:endParaRPr lang="en-US" sz="4000" dirty="0"/>
          </a:p>
        </p:txBody>
      </p:sp>
      <p:sp>
        <p:nvSpPr>
          <p:cNvPr id="27" name="Text 25"/>
          <p:cNvSpPr txBox="1"/>
          <p:nvPr/>
        </p:nvSpPr>
        <p:spPr>
          <a:xfrm>
            <a:off x="8229600" y="2651760"/>
            <a:ext cx="1554480" cy="274320"/>
          </a:xfrm>
          <a:prstGeom prst="rect">
            <a:avLst/>
          </a:prstGeom>
          <a:noFill/>
          <a:ln/>
        </p:spPr>
        <p:txBody>
          <a:bodyPr wrap="square" lIns="0" tIns="0" rIns="0" bIns="0" rtlCol="0" anchor="t"/>
          <a:lstStyle/>
          <a:p>
            <a:pPr marL="0" indent="0">
              <a:buNone/>
            </a:pPr>
            <a:r>
              <a:rPr lang="en-US" sz="1250" dirty="0">
                <a:solidFill>
                  <a:srgbClr val="C9E6DB"/>
                </a:solidFill>
                <a:latin typeface="Calibri" pitchFamily="34" charset="0"/>
                <a:ea typeface="Calibri" pitchFamily="34" charset="-122"/>
                <a:cs typeface="Calibri" pitchFamily="34" charset="-120"/>
              </a:rPr>
              <a:t>ventas</a:t>
            </a:r>
            <a:endParaRPr lang="en-US" sz="1250" dirty="0"/>
          </a:p>
        </p:txBody>
      </p:sp>
      <p:sp>
        <p:nvSpPr>
          <p:cNvPr id="28" name="Text 26"/>
          <p:cNvSpPr txBox="1"/>
          <p:nvPr/>
        </p:nvSpPr>
        <p:spPr>
          <a:xfrm>
            <a:off x="9875520" y="2011680"/>
            <a:ext cx="1463040" cy="640080"/>
          </a:xfrm>
          <a:prstGeom prst="rect">
            <a:avLst/>
          </a:prstGeom>
          <a:noFill/>
          <a:ln/>
        </p:spPr>
        <p:txBody>
          <a:bodyPr wrap="square" lIns="0" tIns="0" rIns="0" bIns="0" rtlCol="0" anchor="t"/>
          <a:lstStyle/>
          <a:p>
            <a:pPr marL="0" indent="0">
              <a:buNone/>
            </a:pPr>
            <a:r>
              <a:rPr lang="en-US" sz="4000" b="1" dirty="0">
                <a:solidFill>
                  <a:srgbClr val="FFFFFF"/>
                </a:solidFill>
                <a:latin typeface="Cambria" pitchFamily="34" charset="0"/>
                <a:ea typeface="Cambria" pitchFamily="34" charset="-122"/>
                <a:cs typeface="Cambria" pitchFamily="34" charset="-120"/>
              </a:rPr>
              <a:t>6</a:t>
            </a:r>
            <a:endParaRPr lang="en-US" sz="4000" dirty="0"/>
          </a:p>
        </p:txBody>
      </p:sp>
      <p:sp>
        <p:nvSpPr>
          <p:cNvPr id="29" name="Text 27"/>
          <p:cNvSpPr txBox="1"/>
          <p:nvPr/>
        </p:nvSpPr>
        <p:spPr>
          <a:xfrm>
            <a:off x="9875520" y="2651760"/>
            <a:ext cx="1554480" cy="274320"/>
          </a:xfrm>
          <a:prstGeom prst="rect">
            <a:avLst/>
          </a:prstGeom>
          <a:noFill/>
          <a:ln/>
        </p:spPr>
        <p:txBody>
          <a:bodyPr wrap="square" lIns="0" tIns="0" rIns="0" bIns="0" rtlCol="0" anchor="t"/>
          <a:lstStyle/>
          <a:p>
            <a:pPr marL="0" indent="0">
              <a:buNone/>
            </a:pPr>
            <a:r>
              <a:rPr lang="en-US" sz="1250" dirty="0">
                <a:solidFill>
                  <a:srgbClr val="C9E6DB"/>
                </a:solidFill>
                <a:latin typeface="Calibri" pitchFamily="34" charset="0"/>
                <a:ea typeface="Calibri" pitchFamily="34" charset="-122"/>
                <a:cs typeface="Calibri" pitchFamily="34" charset="-120"/>
              </a:rPr>
              <a:t>comprobantes</a:t>
            </a:r>
            <a:endParaRPr lang="en-US" sz="1250" dirty="0"/>
          </a:p>
        </p:txBody>
      </p:sp>
      <p:sp>
        <p:nvSpPr>
          <p:cNvPr id="30" name="Text 28"/>
          <p:cNvSpPr txBox="1"/>
          <p:nvPr/>
        </p:nvSpPr>
        <p:spPr>
          <a:xfrm>
            <a:off x="8229600" y="3200400"/>
            <a:ext cx="1463040" cy="640080"/>
          </a:xfrm>
          <a:prstGeom prst="rect">
            <a:avLst/>
          </a:prstGeom>
          <a:noFill/>
          <a:ln/>
        </p:spPr>
        <p:txBody>
          <a:bodyPr wrap="square" lIns="0" tIns="0" rIns="0" bIns="0" rtlCol="0" anchor="t"/>
          <a:lstStyle/>
          <a:p>
            <a:pPr marL="0" indent="0">
              <a:buNone/>
            </a:pPr>
            <a:r>
              <a:rPr lang="en-US" sz="4000" b="1" dirty="0">
                <a:solidFill>
                  <a:srgbClr val="FFFFFF"/>
                </a:solidFill>
                <a:latin typeface="Cambria" pitchFamily="34" charset="0"/>
                <a:ea typeface="Cambria" pitchFamily="34" charset="-122"/>
                <a:cs typeface="Cambria" pitchFamily="34" charset="-120"/>
              </a:rPr>
              <a:t>6</a:t>
            </a:r>
            <a:endParaRPr lang="en-US" sz="4000" dirty="0"/>
          </a:p>
        </p:txBody>
      </p:sp>
      <p:sp>
        <p:nvSpPr>
          <p:cNvPr id="31" name="Text 29"/>
          <p:cNvSpPr txBox="1"/>
          <p:nvPr/>
        </p:nvSpPr>
        <p:spPr>
          <a:xfrm>
            <a:off x="8229600" y="3840480"/>
            <a:ext cx="1554480" cy="274320"/>
          </a:xfrm>
          <a:prstGeom prst="rect">
            <a:avLst/>
          </a:prstGeom>
          <a:noFill/>
          <a:ln/>
        </p:spPr>
        <p:txBody>
          <a:bodyPr wrap="square" lIns="0" tIns="0" rIns="0" bIns="0" rtlCol="0" anchor="t"/>
          <a:lstStyle/>
          <a:p>
            <a:pPr marL="0" indent="0">
              <a:buNone/>
            </a:pPr>
            <a:r>
              <a:rPr lang="en-US" sz="1250" dirty="0">
                <a:solidFill>
                  <a:srgbClr val="C9E6DB"/>
                </a:solidFill>
                <a:latin typeface="Calibri" pitchFamily="34" charset="0"/>
                <a:ea typeface="Calibri" pitchFamily="34" charset="-122"/>
                <a:cs typeface="Calibri" pitchFamily="34" charset="-120"/>
              </a:rPr>
              <a:t>en reportes</a:t>
            </a:r>
            <a:endParaRPr lang="en-US" sz="1250" dirty="0"/>
          </a:p>
        </p:txBody>
      </p:sp>
      <p:sp>
        <p:nvSpPr>
          <p:cNvPr id="32" name="Text 30"/>
          <p:cNvSpPr txBox="1"/>
          <p:nvPr/>
        </p:nvSpPr>
        <p:spPr>
          <a:xfrm>
            <a:off x="9875520" y="3200400"/>
            <a:ext cx="1463040" cy="640080"/>
          </a:xfrm>
          <a:prstGeom prst="rect">
            <a:avLst/>
          </a:prstGeom>
          <a:noFill/>
          <a:ln/>
        </p:spPr>
        <p:txBody>
          <a:bodyPr wrap="square" lIns="0" tIns="0" rIns="0" bIns="0" rtlCol="0" anchor="t"/>
          <a:lstStyle/>
          <a:p>
            <a:pPr marL="0" indent="0">
              <a:buNone/>
            </a:pPr>
            <a:r>
              <a:rPr lang="en-US" sz="4000" b="1" dirty="0">
                <a:solidFill>
                  <a:srgbClr val="FFFFFF"/>
                </a:solidFill>
                <a:latin typeface="Cambria" pitchFamily="34" charset="0"/>
                <a:ea typeface="Cambria" pitchFamily="34" charset="-122"/>
                <a:cs typeface="Cambria" pitchFamily="34" charset="-120"/>
              </a:rPr>
              <a:t>6</a:t>
            </a:r>
            <a:endParaRPr lang="en-US" sz="4000" dirty="0"/>
          </a:p>
        </p:txBody>
      </p:sp>
      <p:sp>
        <p:nvSpPr>
          <p:cNvPr id="33" name="Text 31"/>
          <p:cNvSpPr txBox="1"/>
          <p:nvPr/>
        </p:nvSpPr>
        <p:spPr>
          <a:xfrm>
            <a:off x="9875520" y="3840480"/>
            <a:ext cx="1554480" cy="274320"/>
          </a:xfrm>
          <a:prstGeom prst="rect">
            <a:avLst/>
          </a:prstGeom>
          <a:noFill/>
          <a:ln/>
        </p:spPr>
        <p:txBody>
          <a:bodyPr wrap="square" lIns="0" tIns="0" rIns="0" bIns="0" rtlCol="0" anchor="t"/>
          <a:lstStyle/>
          <a:p>
            <a:pPr marL="0" indent="0">
              <a:buNone/>
            </a:pPr>
            <a:r>
              <a:rPr lang="en-US" sz="1250" dirty="0">
                <a:solidFill>
                  <a:srgbClr val="C9E6DB"/>
                </a:solidFill>
                <a:latin typeface="Calibri" pitchFamily="34" charset="0"/>
                <a:ea typeface="Calibri" pitchFamily="34" charset="-122"/>
                <a:cs typeface="Calibri" pitchFamily="34" charset="-120"/>
              </a:rPr>
              <a:t>sagas cerradas</a:t>
            </a:r>
            <a:endParaRPr lang="en-US" sz="1250" dirty="0"/>
          </a:p>
        </p:txBody>
      </p:sp>
      <p:sp>
        <p:nvSpPr>
          <p:cNvPr id="34" name="Shape 32"/>
          <p:cNvSpPr/>
          <p:nvPr/>
        </p:nvSpPr>
        <p:spPr>
          <a:xfrm>
            <a:off x="548640" y="4754880"/>
            <a:ext cx="11064240" cy="1600200"/>
          </a:xfrm>
          <a:prstGeom prst="roundRect">
            <a:avLst>
              <a:gd name="adj" fmla="val 4571"/>
            </a:avLst>
          </a:prstGeom>
          <a:solidFill>
            <a:srgbClr val="EEF1F3"/>
          </a:solidFill>
          <a:ln/>
        </p:spPr>
      </p:sp>
      <p:sp>
        <p:nvSpPr>
          <p:cNvPr id="35" name="Text 33"/>
          <p:cNvSpPr txBox="1"/>
          <p:nvPr/>
        </p:nvSpPr>
        <p:spPr>
          <a:xfrm>
            <a:off x="777240" y="4892040"/>
            <a:ext cx="10607040" cy="1371600"/>
          </a:xfrm>
          <a:prstGeom prst="rect">
            <a:avLst/>
          </a:prstGeom>
          <a:noFill/>
          <a:ln/>
        </p:spPr>
        <p:txBody>
          <a:bodyPr wrap="square" lIns="0" tIns="0" rIns="0" bIns="0" rtlCol="0" anchor="t"/>
          <a:lstStyle/>
          <a:p>
            <a:pPr marL="0" indent="0">
              <a:spcAft>
                <a:spcPts val="600"/>
              </a:spcAft>
              <a:buNone/>
            </a:pPr>
            <a:r>
              <a:rPr lang="en-US" sz="1350" b="1" dirty="0">
                <a:solidFill>
                  <a:srgbClr val="1F2933"/>
                </a:solidFill>
                <a:latin typeface="Calibri" pitchFamily="34" charset="0"/>
                <a:ea typeface="Calibri" pitchFamily="34" charset="-122"/>
                <a:cs typeface="Calibri" pitchFamily="34" charset="-120"/>
              </a:rPr>
              <a:t>Con qué: </a:t>
            </a:r>
            <a:r>
              <a:rPr lang="en-US" sz="1350" dirty="0">
                <a:solidFill>
                  <a:srgbClr val="1F2933"/>
                </a:solidFill>
                <a:latin typeface="Calibri" pitchFamily="34" charset="0"/>
                <a:ea typeface="Calibri" pitchFamily="34" charset="-122"/>
                <a:cs typeface="Calibri" pitchFamily="34" charset="-120"/>
              </a:rPr>
              <a:t>un script de bash, scripts/verificar-resiliencia.sh, contra el sistema levantado en Docker Compose. Rompe con docker compose stop, vende con curl igual que la caja y cuenta con psql en cada base. Tarda unos cuatro minutos.</a:t>
            </a:r>
            <a:endParaRPr lang="en-US" sz="1350" dirty="0"/>
          </a:p>
          <a:p>
            <a:pPr marL="0" indent="0">
              <a:spcAft>
                <a:spcPts val="600"/>
              </a:spcAft>
              <a:buNone/>
            </a:pPr>
            <a:r>
              <a:rPr lang="en-US" sz="1350" b="1" dirty="0">
                <a:solidFill>
                  <a:srgbClr val="B83A0E"/>
                </a:solidFill>
                <a:latin typeface="Calibri" pitchFamily="34" charset="0"/>
                <a:ea typeface="Calibri" pitchFamily="34" charset="-122"/>
                <a:cs typeface="Calibri" pitchFamily="34" charset="-120"/>
              </a:rPr>
              <a:t>Lo que encontró la primera vez: </a:t>
            </a:r>
            <a:r>
              <a:rPr lang="en-US" sz="1350" dirty="0">
                <a:solidFill>
                  <a:srgbClr val="1F2933"/>
                </a:solidFill>
                <a:latin typeface="Calibri" pitchFamily="34" charset="0"/>
                <a:ea typeface="Calibri" pitchFamily="34" charset="-122"/>
                <a:cs typeface="Calibri" pitchFamily="34" charset="-120"/>
              </a:rPr>
              <a:t>Spring Kafka, sin configurar, reintentaba diez veces y descartaba el evento. Eran ventas sin comprobante. Compilar y pasar las pruebas no lo mostraba.</a:t>
            </a:r>
            <a:endParaRPr lang="en-US" sz="13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972800" cy="274320"/>
          </a:xfrm>
          <a:prstGeom prst="rect">
            <a:avLst/>
          </a:prstGeom>
          <a:noFill/>
          <a:ln/>
        </p:spPr>
        <p:txBody>
          <a:bodyPr wrap="square" lIns="0" tIns="0" rIns="0" bIns="0" rtlCol="0" anchor="t"/>
          <a:lstStyle/>
          <a:p>
            <a:pPr marL="0" indent="0">
              <a:buNone/>
            </a:pPr>
            <a:r>
              <a:rPr lang="en-US" sz="1100" b="1" kern="0" spc="200" dirty="0">
                <a:solidFill>
                  <a:srgbClr val="0F6E57"/>
                </a:solidFill>
                <a:latin typeface="Calibri" pitchFamily="34" charset="0"/>
                <a:ea typeface="Calibri" pitchFamily="34" charset="-122"/>
                <a:cs typeface="Calibri" pitchFamily="34" charset="-120"/>
              </a:rPr>
              <a:t>PARA NO PERDERSE</a:t>
            </a:r>
            <a:endParaRPr lang="en-US" sz="1100" dirty="0"/>
          </a:p>
        </p:txBody>
      </p:sp>
      <p:sp>
        <p:nvSpPr>
          <p:cNvPr id="3" name="Text 1"/>
          <p:cNvSpPr txBox="1"/>
          <p:nvPr/>
        </p:nvSpPr>
        <p:spPr>
          <a:xfrm>
            <a:off x="548640" y="594360"/>
            <a:ext cx="11064240" cy="685800"/>
          </a:xfrm>
          <a:prstGeom prst="rect">
            <a:avLst/>
          </a:prstGeom>
          <a:noFill/>
          <a:ln/>
        </p:spPr>
        <p:txBody>
          <a:bodyPr wrap="square" lIns="0" tIns="0" rIns="0" bIns="0" rtlCol="0" anchor="t"/>
          <a:lstStyle/>
          <a:p>
            <a:pPr marL="0" indent="0">
              <a:buNone/>
            </a:pPr>
            <a:r>
              <a:rPr lang="en-US" sz="3000" b="1" dirty="0">
                <a:solidFill>
                  <a:srgbClr val="1F2933"/>
                </a:solidFill>
                <a:latin typeface="Cambria" pitchFamily="34" charset="0"/>
                <a:ea typeface="Cambria" pitchFamily="34" charset="-122"/>
                <a:cs typeface="Cambria" pitchFamily="34" charset="-120"/>
              </a:rPr>
              <a:t>Glosario de bolsillo</a:t>
            </a:r>
            <a:endParaRPr lang="en-US" sz="3000" dirty="0"/>
          </a:p>
        </p:txBody>
      </p:sp>
      <p:sp>
        <p:nvSpPr>
          <p:cNvPr id="4" name="Shape 2"/>
          <p:cNvSpPr/>
          <p:nvPr/>
        </p:nvSpPr>
        <p:spPr>
          <a:xfrm>
            <a:off x="548640" y="1463040"/>
            <a:ext cx="3520440" cy="2240280"/>
          </a:xfrm>
          <a:prstGeom prst="roundRect">
            <a:avLst>
              <a:gd name="adj" fmla="val 3265"/>
            </a:avLst>
          </a:prstGeom>
          <a:solidFill>
            <a:srgbClr val="E3F1EC"/>
          </a:solidFill>
          <a:ln/>
        </p:spPr>
      </p:sp>
      <p:sp>
        <p:nvSpPr>
          <p:cNvPr id="5" name="Text 3"/>
          <p:cNvSpPr txBox="1"/>
          <p:nvPr/>
        </p:nvSpPr>
        <p:spPr>
          <a:xfrm>
            <a:off x="777240" y="1645920"/>
            <a:ext cx="3108960" cy="411480"/>
          </a:xfrm>
          <a:prstGeom prst="rect">
            <a:avLst/>
          </a:prstGeom>
          <a:noFill/>
          <a:ln/>
        </p:spPr>
        <p:txBody>
          <a:bodyPr wrap="square" lIns="0" tIns="0" rIns="0" bIns="0" rtlCol="0" anchor="t"/>
          <a:lstStyle/>
          <a:p>
            <a:pPr marL="0" indent="0">
              <a:buNone/>
            </a:pPr>
            <a:r>
              <a:rPr lang="en-US" sz="2200" b="1" dirty="0">
                <a:solidFill>
                  <a:srgbClr val="0F6E57"/>
                </a:solidFill>
                <a:latin typeface="Cambria" pitchFamily="34" charset="0"/>
                <a:ea typeface="Cambria" pitchFamily="34" charset="-122"/>
                <a:cs typeface="Cambria" pitchFamily="34" charset="-120"/>
              </a:rPr>
              <a:t>Outbox</a:t>
            </a:r>
            <a:endParaRPr lang="en-US" sz="2200" dirty="0"/>
          </a:p>
        </p:txBody>
      </p:sp>
      <p:sp>
        <p:nvSpPr>
          <p:cNvPr id="6" name="Text 4"/>
          <p:cNvSpPr txBox="1"/>
          <p:nvPr/>
        </p:nvSpPr>
        <p:spPr>
          <a:xfrm>
            <a:off x="777240" y="2148840"/>
            <a:ext cx="3108960" cy="320040"/>
          </a:xfrm>
          <a:prstGeom prst="rect">
            <a:avLst/>
          </a:prstGeom>
          <a:noFill/>
          <a:ln/>
        </p:spPr>
        <p:txBody>
          <a:bodyPr wrap="square" lIns="0" tIns="0" rIns="0" bIns="0" rtlCol="0" anchor="t"/>
          <a:lstStyle/>
          <a:p>
            <a:pPr marL="0" indent="0">
              <a:buNone/>
            </a:pPr>
            <a:r>
              <a:rPr lang="en-US" sz="1500" i="1" dirty="0">
                <a:solidFill>
                  <a:srgbClr val="9A6A0C"/>
                </a:solidFill>
                <a:latin typeface="Calibri" pitchFamily="34" charset="0"/>
                <a:ea typeface="Calibri" pitchFamily="34" charset="-122"/>
                <a:cs typeface="Calibri" pitchFamily="34" charset="-120"/>
              </a:rPr>
              <a:t>La bandeja de salida.</a:t>
            </a:r>
            <a:endParaRPr lang="en-US" sz="1500" dirty="0"/>
          </a:p>
        </p:txBody>
      </p:sp>
      <p:sp>
        <p:nvSpPr>
          <p:cNvPr id="7" name="Text 5"/>
          <p:cNvSpPr txBox="1"/>
          <p:nvPr/>
        </p:nvSpPr>
        <p:spPr>
          <a:xfrm>
            <a:off x="777240" y="2560320"/>
            <a:ext cx="3108960" cy="1005840"/>
          </a:xfrm>
          <a:prstGeom prst="rect">
            <a:avLst/>
          </a:prstGeom>
          <a:noFill/>
          <a:ln/>
        </p:spPr>
        <p:txBody>
          <a:bodyPr wrap="square" lIns="0" tIns="0" rIns="0" bIns="0" rtlCol="0" anchor="t"/>
          <a:lstStyle/>
          <a:p>
            <a:pPr marL="0" indent="0">
              <a:buNone/>
            </a:pPr>
            <a:r>
              <a:rPr lang="en-US" sz="1300" dirty="0">
                <a:solidFill>
                  <a:srgbClr val="5B6670"/>
                </a:solidFill>
                <a:latin typeface="Calibri" pitchFamily="34" charset="0"/>
                <a:ea typeface="Calibri" pitchFamily="34" charset="-122"/>
                <a:cs typeface="Calibri" pitchFamily="34" charset="-120"/>
              </a:rPr>
              <a:t>Tabla en pg_ventas donde se anota el aviso en la misma transacción que la venta.</a:t>
            </a:r>
            <a:endParaRPr lang="en-US" sz="1300" dirty="0"/>
          </a:p>
        </p:txBody>
      </p:sp>
      <p:sp>
        <p:nvSpPr>
          <p:cNvPr id="8" name="Shape 6"/>
          <p:cNvSpPr/>
          <p:nvPr/>
        </p:nvSpPr>
        <p:spPr>
          <a:xfrm>
            <a:off x="4297680" y="1463040"/>
            <a:ext cx="3520440" cy="2240280"/>
          </a:xfrm>
          <a:prstGeom prst="roundRect">
            <a:avLst>
              <a:gd name="adj" fmla="val 3265"/>
            </a:avLst>
          </a:prstGeom>
          <a:solidFill>
            <a:srgbClr val="E3F1EC"/>
          </a:solidFill>
          <a:ln/>
        </p:spPr>
      </p:sp>
      <p:sp>
        <p:nvSpPr>
          <p:cNvPr id="9" name="Text 7"/>
          <p:cNvSpPr txBox="1"/>
          <p:nvPr/>
        </p:nvSpPr>
        <p:spPr>
          <a:xfrm>
            <a:off x="4526280" y="1645920"/>
            <a:ext cx="3108960" cy="411480"/>
          </a:xfrm>
          <a:prstGeom prst="rect">
            <a:avLst/>
          </a:prstGeom>
          <a:noFill/>
          <a:ln/>
        </p:spPr>
        <p:txBody>
          <a:bodyPr wrap="square" lIns="0" tIns="0" rIns="0" bIns="0" rtlCol="0" anchor="t"/>
          <a:lstStyle/>
          <a:p>
            <a:pPr marL="0" indent="0">
              <a:buNone/>
            </a:pPr>
            <a:r>
              <a:rPr lang="en-US" sz="2200" b="1" dirty="0">
                <a:solidFill>
                  <a:srgbClr val="0F6E57"/>
                </a:solidFill>
                <a:latin typeface="Cambria" pitchFamily="34" charset="0"/>
                <a:ea typeface="Cambria" pitchFamily="34" charset="-122"/>
                <a:cs typeface="Cambria" pitchFamily="34" charset="-120"/>
              </a:rPr>
              <a:t>Saga</a:t>
            </a:r>
            <a:endParaRPr lang="en-US" sz="2200" dirty="0"/>
          </a:p>
        </p:txBody>
      </p:sp>
      <p:sp>
        <p:nvSpPr>
          <p:cNvPr id="10" name="Text 8"/>
          <p:cNvSpPr txBox="1"/>
          <p:nvPr/>
        </p:nvSpPr>
        <p:spPr>
          <a:xfrm>
            <a:off x="4526280" y="2148840"/>
            <a:ext cx="3108960" cy="320040"/>
          </a:xfrm>
          <a:prstGeom prst="rect">
            <a:avLst/>
          </a:prstGeom>
          <a:noFill/>
          <a:ln/>
        </p:spPr>
        <p:txBody>
          <a:bodyPr wrap="square" lIns="0" tIns="0" rIns="0" bIns="0" rtlCol="0" anchor="t"/>
          <a:lstStyle/>
          <a:p>
            <a:pPr marL="0" indent="0">
              <a:buNone/>
            </a:pPr>
            <a:r>
              <a:rPr lang="en-US" sz="1500" i="1" dirty="0">
                <a:solidFill>
                  <a:srgbClr val="9A6A0C"/>
                </a:solidFill>
                <a:latin typeface="Calibri" pitchFamily="34" charset="0"/>
                <a:ea typeface="Calibri" pitchFamily="34" charset="-122"/>
                <a:cs typeface="Calibri" pitchFamily="34" charset="-120"/>
              </a:rPr>
              <a:t>La ficha con firmas.</a:t>
            </a:r>
            <a:endParaRPr lang="en-US" sz="1500" dirty="0"/>
          </a:p>
        </p:txBody>
      </p:sp>
      <p:sp>
        <p:nvSpPr>
          <p:cNvPr id="11" name="Text 9"/>
          <p:cNvSpPr txBox="1"/>
          <p:nvPr/>
        </p:nvSpPr>
        <p:spPr>
          <a:xfrm>
            <a:off x="4526280" y="2560320"/>
            <a:ext cx="3108960" cy="1005840"/>
          </a:xfrm>
          <a:prstGeom prst="rect">
            <a:avLst/>
          </a:prstGeom>
          <a:noFill/>
          <a:ln/>
        </p:spPr>
        <p:txBody>
          <a:bodyPr wrap="square" lIns="0" tIns="0" rIns="0" bIns="0" rtlCol="0" anchor="t"/>
          <a:lstStyle/>
          <a:p>
            <a:pPr marL="0" indent="0">
              <a:buNone/>
            </a:pPr>
            <a:r>
              <a:rPr lang="en-US" sz="1300" dirty="0">
                <a:solidFill>
                  <a:srgbClr val="5B6670"/>
                </a:solidFill>
                <a:latin typeface="Calibri" pitchFamily="34" charset="0"/>
                <a:ea typeface="Calibri" pitchFamily="34" charset="-122"/>
                <a:cs typeface="Calibri" pitchFamily="34" charset="-120"/>
              </a:rPr>
              <a:t>Una fila por venta con casillas que cada servicio marca al terminar.</a:t>
            </a:r>
            <a:endParaRPr lang="en-US" sz="1300" dirty="0"/>
          </a:p>
        </p:txBody>
      </p:sp>
      <p:sp>
        <p:nvSpPr>
          <p:cNvPr id="12" name="Shape 10"/>
          <p:cNvSpPr/>
          <p:nvPr/>
        </p:nvSpPr>
        <p:spPr>
          <a:xfrm>
            <a:off x="8046720" y="1463040"/>
            <a:ext cx="3520440" cy="2240280"/>
          </a:xfrm>
          <a:prstGeom prst="roundRect">
            <a:avLst>
              <a:gd name="adj" fmla="val 3265"/>
            </a:avLst>
          </a:prstGeom>
          <a:solidFill>
            <a:srgbClr val="E3F1EC"/>
          </a:solidFill>
          <a:ln/>
        </p:spPr>
      </p:sp>
      <p:sp>
        <p:nvSpPr>
          <p:cNvPr id="13" name="Text 11"/>
          <p:cNvSpPr txBox="1"/>
          <p:nvPr/>
        </p:nvSpPr>
        <p:spPr>
          <a:xfrm>
            <a:off x="8275320" y="1645920"/>
            <a:ext cx="3108960" cy="411480"/>
          </a:xfrm>
          <a:prstGeom prst="rect">
            <a:avLst/>
          </a:prstGeom>
          <a:noFill/>
          <a:ln/>
        </p:spPr>
        <p:txBody>
          <a:bodyPr wrap="square" lIns="0" tIns="0" rIns="0" bIns="0" rtlCol="0" anchor="t"/>
          <a:lstStyle/>
          <a:p>
            <a:pPr marL="0" indent="0">
              <a:buNone/>
            </a:pPr>
            <a:r>
              <a:rPr lang="en-US" sz="2200" b="1" dirty="0">
                <a:solidFill>
                  <a:srgbClr val="0F6E57"/>
                </a:solidFill>
                <a:latin typeface="Cambria" pitchFamily="34" charset="0"/>
                <a:ea typeface="Cambria" pitchFamily="34" charset="-122"/>
                <a:cs typeface="Cambria" pitchFamily="34" charset="-120"/>
              </a:rPr>
              <a:t>Idempotencia</a:t>
            </a:r>
            <a:endParaRPr lang="en-US" sz="2200" dirty="0"/>
          </a:p>
        </p:txBody>
      </p:sp>
      <p:sp>
        <p:nvSpPr>
          <p:cNvPr id="14" name="Text 12"/>
          <p:cNvSpPr txBox="1"/>
          <p:nvPr/>
        </p:nvSpPr>
        <p:spPr>
          <a:xfrm>
            <a:off x="8275320" y="2148840"/>
            <a:ext cx="3108960" cy="320040"/>
          </a:xfrm>
          <a:prstGeom prst="rect">
            <a:avLst/>
          </a:prstGeom>
          <a:noFill/>
          <a:ln/>
        </p:spPr>
        <p:txBody>
          <a:bodyPr wrap="square" lIns="0" tIns="0" rIns="0" bIns="0" rtlCol="0" anchor="t"/>
          <a:lstStyle/>
          <a:p>
            <a:pPr marL="0" indent="0">
              <a:buNone/>
            </a:pPr>
            <a:r>
              <a:rPr lang="en-US" sz="1500" i="1" dirty="0">
                <a:solidFill>
                  <a:srgbClr val="9A6A0C"/>
                </a:solidFill>
                <a:latin typeface="Calibri" pitchFamily="34" charset="0"/>
                <a:ea typeface="Calibri" pitchFamily="34" charset="-122"/>
                <a:cs typeface="Calibri" pitchFamily="34" charset="-120"/>
              </a:rPr>
              <a:t>El sello de recibido.</a:t>
            </a:r>
            <a:endParaRPr lang="en-US" sz="1500" dirty="0"/>
          </a:p>
        </p:txBody>
      </p:sp>
      <p:sp>
        <p:nvSpPr>
          <p:cNvPr id="15" name="Text 13"/>
          <p:cNvSpPr txBox="1"/>
          <p:nvPr/>
        </p:nvSpPr>
        <p:spPr>
          <a:xfrm>
            <a:off x="8275320" y="2560320"/>
            <a:ext cx="3108960" cy="1005840"/>
          </a:xfrm>
          <a:prstGeom prst="rect">
            <a:avLst/>
          </a:prstGeom>
          <a:noFill/>
          <a:ln/>
        </p:spPr>
        <p:txBody>
          <a:bodyPr wrap="square" lIns="0" tIns="0" rIns="0" bIns="0" rtlCol="0" anchor="t"/>
          <a:lstStyle/>
          <a:p>
            <a:pPr marL="0" indent="0">
              <a:buNone/>
            </a:pPr>
            <a:r>
              <a:rPr lang="en-US" sz="1300" dirty="0">
                <a:solidFill>
                  <a:srgbClr val="5B6670"/>
                </a:solidFill>
                <a:latin typeface="Calibri" pitchFamily="34" charset="0"/>
                <a:ea typeface="Calibri" pitchFamily="34" charset="-122"/>
                <a:cs typeface="Calibri" pitchFamily="34" charset="-120"/>
              </a:rPr>
              <a:t>Repetir la operación da el mismo resultado. Por evento_id o Idempotency-Key.</a:t>
            </a:r>
            <a:endParaRPr lang="en-US" sz="1300" dirty="0"/>
          </a:p>
        </p:txBody>
      </p:sp>
      <p:sp>
        <p:nvSpPr>
          <p:cNvPr id="16" name="Shape 14"/>
          <p:cNvSpPr/>
          <p:nvPr/>
        </p:nvSpPr>
        <p:spPr>
          <a:xfrm>
            <a:off x="548640" y="3931920"/>
            <a:ext cx="3520440" cy="2240280"/>
          </a:xfrm>
          <a:prstGeom prst="roundRect">
            <a:avLst>
              <a:gd name="adj" fmla="val 3265"/>
            </a:avLst>
          </a:prstGeom>
          <a:solidFill>
            <a:srgbClr val="EEF1F3"/>
          </a:solidFill>
          <a:ln/>
        </p:spPr>
      </p:sp>
      <p:sp>
        <p:nvSpPr>
          <p:cNvPr id="17" name="Text 15"/>
          <p:cNvSpPr txBox="1"/>
          <p:nvPr/>
        </p:nvSpPr>
        <p:spPr>
          <a:xfrm>
            <a:off x="777240" y="4114800"/>
            <a:ext cx="3108960" cy="411480"/>
          </a:xfrm>
          <a:prstGeom prst="rect">
            <a:avLst/>
          </a:prstGeom>
          <a:noFill/>
          <a:ln/>
        </p:spPr>
        <p:txBody>
          <a:bodyPr wrap="square" lIns="0" tIns="0" rIns="0" bIns="0" rtlCol="0" anchor="t"/>
          <a:lstStyle/>
          <a:p>
            <a:pPr marL="0" indent="0">
              <a:buNone/>
            </a:pPr>
            <a:r>
              <a:rPr lang="en-US" sz="2200" b="1" dirty="0">
                <a:solidFill>
                  <a:srgbClr val="0F6E57"/>
                </a:solidFill>
                <a:latin typeface="Cambria" pitchFamily="34" charset="0"/>
                <a:ea typeface="Cambria" pitchFamily="34" charset="-122"/>
                <a:cs typeface="Cambria" pitchFamily="34" charset="-120"/>
              </a:rPr>
              <a:t>Circuit breaker</a:t>
            </a:r>
            <a:endParaRPr lang="en-US" sz="2200" dirty="0"/>
          </a:p>
        </p:txBody>
      </p:sp>
      <p:sp>
        <p:nvSpPr>
          <p:cNvPr id="18" name="Text 16"/>
          <p:cNvSpPr txBox="1"/>
          <p:nvPr/>
        </p:nvSpPr>
        <p:spPr>
          <a:xfrm>
            <a:off x="777240" y="4617720"/>
            <a:ext cx="3108960" cy="320040"/>
          </a:xfrm>
          <a:prstGeom prst="rect">
            <a:avLst/>
          </a:prstGeom>
          <a:noFill/>
          <a:ln/>
        </p:spPr>
        <p:txBody>
          <a:bodyPr wrap="square" lIns="0" tIns="0" rIns="0" bIns="0" rtlCol="0" anchor="t"/>
          <a:lstStyle/>
          <a:p>
            <a:pPr marL="0" indent="0">
              <a:buNone/>
            </a:pPr>
            <a:r>
              <a:rPr lang="en-US" sz="1500" i="1" dirty="0">
                <a:solidFill>
                  <a:srgbClr val="9A6A0C"/>
                </a:solidFill>
                <a:latin typeface="Calibri" pitchFamily="34" charset="0"/>
                <a:ea typeface="Calibri" pitchFamily="34" charset="-122"/>
                <a:cs typeface="Calibri" pitchFamily="34" charset="-120"/>
              </a:rPr>
              <a:t>La llave térmica.</a:t>
            </a:r>
            <a:endParaRPr lang="en-US" sz="1500" dirty="0"/>
          </a:p>
        </p:txBody>
      </p:sp>
      <p:sp>
        <p:nvSpPr>
          <p:cNvPr id="19" name="Text 17"/>
          <p:cNvSpPr txBox="1"/>
          <p:nvPr/>
        </p:nvSpPr>
        <p:spPr>
          <a:xfrm>
            <a:off x="777240" y="5029200"/>
            <a:ext cx="3108960" cy="1005840"/>
          </a:xfrm>
          <a:prstGeom prst="rect">
            <a:avLst/>
          </a:prstGeom>
          <a:noFill/>
          <a:ln/>
        </p:spPr>
        <p:txBody>
          <a:bodyPr wrap="square" lIns="0" tIns="0" rIns="0" bIns="0" rtlCol="0" anchor="t"/>
          <a:lstStyle/>
          <a:p>
            <a:pPr marL="0" indent="0">
              <a:buNone/>
            </a:pPr>
            <a:r>
              <a:rPr lang="en-US" sz="1300" dirty="0">
                <a:solidFill>
                  <a:srgbClr val="5B6670"/>
                </a:solidFill>
                <a:latin typeface="Calibri" pitchFamily="34" charset="0"/>
                <a:ea typeface="Calibri" pitchFamily="34" charset="-122"/>
                <a:cs typeface="Calibri" pitchFamily="34" charset="-120"/>
              </a:rPr>
              <a:t>Si un servicio falla mucho, deja de llamarlo y usa el plan B al instante.</a:t>
            </a:r>
            <a:endParaRPr lang="en-US" sz="1300" dirty="0"/>
          </a:p>
        </p:txBody>
      </p:sp>
      <p:sp>
        <p:nvSpPr>
          <p:cNvPr id="20" name="Shape 18"/>
          <p:cNvSpPr/>
          <p:nvPr/>
        </p:nvSpPr>
        <p:spPr>
          <a:xfrm>
            <a:off x="4297680" y="3931920"/>
            <a:ext cx="3520440" cy="2240280"/>
          </a:xfrm>
          <a:prstGeom prst="roundRect">
            <a:avLst>
              <a:gd name="adj" fmla="val 3265"/>
            </a:avLst>
          </a:prstGeom>
          <a:solidFill>
            <a:srgbClr val="EEF1F3"/>
          </a:solidFill>
          <a:ln/>
        </p:spPr>
      </p:sp>
      <p:sp>
        <p:nvSpPr>
          <p:cNvPr id="21" name="Text 19"/>
          <p:cNvSpPr txBox="1"/>
          <p:nvPr/>
        </p:nvSpPr>
        <p:spPr>
          <a:xfrm>
            <a:off x="4526280" y="4114800"/>
            <a:ext cx="3108960" cy="411480"/>
          </a:xfrm>
          <a:prstGeom prst="rect">
            <a:avLst/>
          </a:prstGeom>
          <a:noFill/>
          <a:ln/>
        </p:spPr>
        <p:txBody>
          <a:bodyPr wrap="square" lIns="0" tIns="0" rIns="0" bIns="0" rtlCol="0" anchor="t"/>
          <a:lstStyle/>
          <a:p>
            <a:pPr marL="0" indent="0">
              <a:buNone/>
            </a:pPr>
            <a:r>
              <a:rPr lang="en-US" sz="2200" b="1" dirty="0">
                <a:solidFill>
                  <a:srgbClr val="0F6E57"/>
                </a:solidFill>
                <a:latin typeface="Cambria" pitchFamily="34" charset="0"/>
                <a:ea typeface="Cambria" pitchFamily="34" charset="-122"/>
                <a:cs typeface="Cambria" pitchFamily="34" charset="-120"/>
              </a:rPr>
              <a:t>FEFO</a:t>
            </a:r>
            <a:endParaRPr lang="en-US" sz="2200" dirty="0"/>
          </a:p>
        </p:txBody>
      </p:sp>
      <p:sp>
        <p:nvSpPr>
          <p:cNvPr id="22" name="Text 20"/>
          <p:cNvSpPr txBox="1"/>
          <p:nvPr/>
        </p:nvSpPr>
        <p:spPr>
          <a:xfrm>
            <a:off x="4526280" y="4617720"/>
            <a:ext cx="3108960" cy="320040"/>
          </a:xfrm>
          <a:prstGeom prst="rect">
            <a:avLst/>
          </a:prstGeom>
          <a:noFill/>
          <a:ln/>
        </p:spPr>
        <p:txBody>
          <a:bodyPr wrap="square" lIns="0" tIns="0" rIns="0" bIns="0" rtlCol="0" anchor="t"/>
          <a:lstStyle/>
          <a:p>
            <a:pPr marL="0" indent="0">
              <a:buNone/>
            </a:pPr>
            <a:r>
              <a:rPr lang="en-US" sz="1500" i="1" dirty="0">
                <a:solidFill>
                  <a:srgbClr val="9A6A0C"/>
                </a:solidFill>
                <a:latin typeface="Calibri" pitchFamily="34" charset="0"/>
                <a:ea typeface="Calibri" pitchFamily="34" charset="-122"/>
                <a:cs typeface="Calibri" pitchFamily="34" charset="-120"/>
              </a:rPr>
              <a:t>Primero vence, primero sale.</a:t>
            </a:r>
            <a:endParaRPr lang="en-US" sz="1500" dirty="0"/>
          </a:p>
        </p:txBody>
      </p:sp>
      <p:sp>
        <p:nvSpPr>
          <p:cNvPr id="23" name="Text 21"/>
          <p:cNvSpPr txBox="1"/>
          <p:nvPr/>
        </p:nvSpPr>
        <p:spPr>
          <a:xfrm>
            <a:off x="4526280" y="5029200"/>
            <a:ext cx="3108960" cy="1005840"/>
          </a:xfrm>
          <a:prstGeom prst="rect">
            <a:avLst/>
          </a:prstGeom>
          <a:noFill/>
          <a:ln/>
        </p:spPr>
        <p:txBody>
          <a:bodyPr wrap="square" lIns="0" tIns="0" rIns="0" bIns="0" rtlCol="0" anchor="t"/>
          <a:lstStyle/>
          <a:p>
            <a:pPr marL="0" indent="0">
              <a:buNone/>
            </a:pPr>
            <a:r>
              <a:rPr lang="en-US" sz="1300" dirty="0">
                <a:solidFill>
                  <a:srgbClr val="5B6670"/>
                </a:solidFill>
                <a:latin typeface="Calibri" pitchFamily="34" charset="0"/>
                <a:ea typeface="Calibri" pitchFamily="34" charset="-122"/>
                <a:cs typeface="Calibri" pitchFamily="34" charset="-120"/>
              </a:rPr>
              <a:t>Se despacha el lote que vence antes. Obligatorio en botica (DIGEMID).</a:t>
            </a:r>
            <a:endParaRPr lang="en-US" sz="1300" dirty="0"/>
          </a:p>
        </p:txBody>
      </p:sp>
      <p:sp>
        <p:nvSpPr>
          <p:cNvPr id="24" name="Shape 22"/>
          <p:cNvSpPr/>
          <p:nvPr/>
        </p:nvSpPr>
        <p:spPr>
          <a:xfrm>
            <a:off x="8046720" y="3931920"/>
            <a:ext cx="3520440" cy="2240280"/>
          </a:xfrm>
          <a:prstGeom prst="roundRect">
            <a:avLst>
              <a:gd name="adj" fmla="val 3265"/>
            </a:avLst>
          </a:prstGeom>
          <a:solidFill>
            <a:srgbClr val="EEF1F3"/>
          </a:solidFill>
          <a:ln/>
        </p:spPr>
      </p:sp>
      <p:sp>
        <p:nvSpPr>
          <p:cNvPr id="25" name="Text 23"/>
          <p:cNvSpPr txBox="1"/>
          <p:nvPr/>
        </p:nvSpPr>
        <p:spPr>
          <a:xfrm>
            <a:off x="8275320" y="4114800"/>
            <a:ext cx="3108960" cy="411480"/>
          </a:xfrm>
          <a:prstGeom prst="rect">
            <a:avLst/>
          </a:prstGeom>
          <a:noFill/>
          <a:ln/>
        </p:spPr>
        <p:txBody>
          <a:bodyPr wrap="square" lIns="0" tIns="0" rIns="0" bIns="0" rtlCol="0" anchor="t"/>
          <a:lstStyle/>
          <a:p>
            <a:pPr marL="0" indent="0">
              <a:buNone/>
            </a:pPr>
            <a:r>
              <a:rPr lang="en-US" sz="2200" b="1" dirty="0">
                <a:solidFill>
                  <a:srgbClr val="0F6E57"/>
                </a:solidFill>
                <a:latin typeface="Cambria" pitchFamily="34" charset="0"/>
                <a:ea typeface="Cambria" pitchFamily="34" charset="-122"/>
                <a:cs typeface="Cambria" pitchFamily="34" charset="-120"/>
              </a:rPr>
              <a:t>Redis</a:t>
            </a:r>
            <a:endParaRPr lang="en-US" sz="2200" dirty="0"/>
          </a:p>
        </p:txBody>
      </p:sp>
      <p:sp>
        <p:nvSpPr>
          <p:cNvPr id="26" name="Text 24"/>
          <p:cNvSpPr txBox="1"/>
          <p:nvPr/>
        </p:nvSpPr>
        <p:spPr>
          <a:xfrm>
            <a:off x="8275320" y="4617720"/>
            <a:ext cx="3108960" cy="320040"/>
          </a:xfrm>
          <a:prstGeom prst="rect">
            <a:avLst/>
          </a:prstGeom>
          <a:noFill/>
          <a:ln/>
        </p:spPr>
        <p:txBody>
          <a:bodyPr wrap="square" lIns="0" tIns="0" rIns="0" bIns="0" rtlCol="0" anchor="t"/>
          <a:lstStyle/>
          <a:p>
            <a:pPr marL="0" indent="0">
              <a:buNone/>
            </a:pPr>
            <a:r>
              <a:rPr lang="en-US" sz="1500" i="1" dirty="0">
                <a:solidFill>
                  <a:srgbClr val="9A6A0C"/>
                </a:solidFill>
                <a:latin typeface="Calibri" pitchFamily="34" charset="0"/>
                <a:ea typeface="Calibri" pitchFamily="34" charset="-122"/>
                <a:cs typeface="Calibri" pitchFamily="34" charset="-120"/>
              </a:rPr>
              <a:t>La libreta compartida.</a:t>
            </a:r>
            <a:endParaRPr lang="en-US" sz="1500" dirty="0"/>
          </a:p>
        </p:txBody>
      </p:sp>
      <p:sp>
        <p:nvSpPr>
          <p:cNvPr id="27" name="Text 25"/>
          <p:cNvSpPr txBox="1"/>
          <p:nvPr/>
        </p:nvSpPr>
        <p:spPr>
          <a:xfrm>
            <a:off x="8275320" y="5029200"/>
            <a:ext cx="3108960" cy="1005840"/>
          </a:xfrm>
          <a:prstGeom prst="rect">
            <a:avLst/>
          </a:prstGeom>
          <a:noFill/>
          <a:ln/>
        </p:spPr>
        <p:txBody>
          <a:bodyPr wrap="square" lIns="0" tIns="0" rIns="0" bIns="0" rtlCol="0" anchor="t"/>
          <a:lstStyle/>
          <a:p>
            <a:pPr marL="0" indent="0">
              <a:buNone/>
            </a:pPr>
            <a:r>
              <a:rPr lang="en-US" sz="1300" dirty="0">
                <a:solidFill>
                  <a:srgbClr val="5B6670"/>
                </a:solidFill>
                <a:latin typeface="Calibri" pitchFamily="34" charset="0"/>
                <a:ea typeface="Calibri" pitchFamily="34" charset="-122"/>
                <a:cs typeface="Calibri" pitchFamily="34" charset="-120"/>
              </a:rPr>
              <a:t>Guarda lo efímero: respuestas para reintentos y contadores del límite de peticiones.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573</TotalTime>
  <Words>7205</Words>
  <Application>Microsoft Office PowerPoint</Application>
  <PresentationFormat>Panorámica</PresentationFormat>
  <Paragraphs>422</Paragraphs>
  <Slides>17</Slides>
  <Notes>17</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17</vt:i4>
      </vt:variant>
    </vt:vector>
  </HeadingPairs>
  <TitlesOfParts>
    <vt:vector size="22" baseType="lpstr">
      <vt:lpstr>Arial</vt:lpstr>
      <vt:lpstr>Calibri</vt:lpstr>
      <vt:lpstr>Cambria</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POS Farmacia en microservicios</dc:title>
  <dc:subject>PptxGenJS Presentation</dc:subject>
  <dc:creator>PptxGenJS</dc:creator>
  <cp:lastModifiedBy>Javier Geronimo</cp:lastModifiedBy>
  <cp:revision>2</cp:revision>
  <dcterms:created xsi:type="dcterms:W3CDTF">2026-10-01T03:22:28Z</dcterms:created>
  <dcterms:modified xsi:type="dcterms:W3CDTF">2026-10-03T00:57:25Z</dcterms:modified>
</cp:coreProperties>
</file>